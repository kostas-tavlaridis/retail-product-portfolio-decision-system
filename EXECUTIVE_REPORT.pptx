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5a90dda14e84172" /><Relationship Type="http://schemas.openxmlformats.org/officeDocument/2006/relationships/extended-properties" Target="/docProps/app.xml" Id="R3ee39b25c7ca478c" /><Relationship Type="http://schemas.openxmlformats.org/officeDocument/2006/relationships/officeDocument" Target="/ppt/presentation.xml" Id="Rb8c481d630f548dd" /></Relationships>
</file>

<file path=ppt/presentation.xml><?xml version="1.0" encoding="utf-8"?>
<p:presentation xmlns:p="http://schemas.openxmlformats.org/presentationml/2006/main">
  <p:sldMasterIdLst>
    <p:sldMasterId xmlns:r="http://schemas.openxmlformats.org/officeDocument/2006/relationships" id="2147483648" r:id="R11fcde5d3655468f"/>
  </p:sldMasterIdLst>
  <p:notesMasterIdLst>
    <p:notesMasterId xmlns:r="http://schemas.openxmlformats.org/officeDocument/2006/relationships" r:id="R147cf5f1ebc84aff"/>
  </p:notesMasterIdLst>
  <p:sldIdLst>
    <p:sldId xmlns:r="http://schemas.openxmlformats.org/officeDocument/2006/relationships" id="256" r:id="R8f4a8092abb74eb5"/>
    <p:sldId xmlns:r="http://schemas.openxmlformats.org/officeDocument/2006/relationships" id="257" r:id="R8451ed0484df4d1b"/>
    <p:sldId xmlns:r="http://schemas.openxmlformats.org/officeDocument/2006/relationships" id="258" r:id="R122bb4ea99de44ff"/>
    <p:sldId xmlns:r="http://schemas.openxmlformats.org/officeDocument/2006/relationships" id="259" r:id="Rfad4514cb8354063"/>
    <p:sldId xmlns:r="http://schemas.openxmlformats.org/officeDocument/2006/relationships" id="260" r:id="Raa4822ba9d4c485c"/>
    <p:sldId xmlns:r="http://schemas.openxmlformats.org/officeDocument/2006/relationships" id="261" r:id="Ra04e5008c2d8496a"/>
    <p:sldId xmlns:r="http://schemas.openxmlformats.org/officeDocument/2006/relationships" id="262" r:id="R3783233d9ff049ee"/>
    <p:sldId xmlns:r="http://schemas.openxmlformats.org/officeDocument/2006/relationships" id="263" r:id="Rbacb7a01429748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8447b85bc144b7c" /><Relationship Type="http://schemas.openxmlformats.org/officeDocument/2006/relationships/slideMaster" Target="/ppt/slideMasters/slideMaster1.xml" Id="R11fcde5d3655468f" /><Relationship Type="http://schemas.openxmlformats.org/officeDocument/2006/relationships/notesMaster" Target="/ppt/notesMasters/notesMaster1.xml" Id="R147cf5f1ebc84aff" /><Relationship Type="http://schemas.openxmlformats.org/officeDocument/2006/relationships/presProps" Target="/ppt/presProps.xml" Id="R730768e3da5042de" /><Relationship Type="http://schemas.openxmlformats.org/officeDocument/2006/relationships/viewProps" Target="/ppt/viewProps.xml" Id="Rf5f70da3d7d94360" /><Relationship Type="http://schemas.openxmlformats.org/officeDocument/2006/relationships/tableStyles" Target="/ppt/tableStyles.xml" Id="R9f0070bd1e1a4c24" /><Relationship Type="http://schemas.openxmlformats.org/officeDocument/2006/relationships/slide" Target="/ppt/slides/slide1.xml" Id="R8f4a8092abb74eb5" /><Relationship Type="http://schemas.openxmlformats.org/officeDocument/2006/relationships/slide" Target="/ppt/slides/slide2.xml" Id="R8451ed0484df4d1b" /><Relationship Type="http://schemas.openxmlformats.org/officeDocument/2006/relationships/slide" Target="/ppt/slides/slide3.xml" Id="R122bb4ea99de44ff" /><Relationship Type="http://schemas.openxmlformats.org/officeDocument/2006/relationships/slide" Target="/ppt/slides/slide4.xml" Id="Rfad4514cb8354063" /><Relationship Type="http://schemas.openxmlformats.org/officeDocument/2006/relationships/slide" Target="/ppt/slides/slide5.xml" Id="Raa4822ba9d4c485c" /><Relationship Type="http://schemas.openxmlformats.org/officeDocument/2006/relationships/slide" Target="/ppt/slides/slide6.xml" Id="Ra04e5008c2d8496a" /><Relationship Type="http://schemas.openxmlformats.org/officeDocument/2006/relationships/slide" Target="/ppt/slides/slide7.xml" Id="R3783233d9ff049ee" /><Relationship Type="http://schemas.openxmlformats.org/officeDocument/2006/relationships/slide" Target="/ppt/slides/slide8.xml" Id="Rbacb7a01429748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96c28c238e48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3ccccdca88449d" /><Relationship Type="http://schemas.openxmlformats.org/officeDocument/2006/relationships/notesMaster" Target="/ppt/notesMasters/notesMaster1.xml" Id="Rc67ef6b349d145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a037de1e5a4500" /><Relationship Type="http://schemas.openxmlformats.org/officeDocument/2006/relationships/notesMaster" Target="/ppt/notesMasters/notesMaster1.xml" Id="R3903f4cefb7c41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88ed4ae5b94f17" /><Relationship Type="http://schemas.openxmlformats.org/officeDocument/2006/relationships/notesMaster" Target="/ppt/notesMasters/notesMaster1.xml" Id="Rb5824909018940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45a15ddae9498f" /><Relationship Type="http://schemas.openxmlformats.org/officeDocument/2006/relationships/notesMaster" Target="/ppt/notesMasters/notesMaster1.xml" Id="R201fde34c57d44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38393948b3401d" /><Relationship Type="http://schemas.openxmlformats.org/officeDocument/2006/relationships/notesMaster" Target="/ppt/notesMasters/notesMaster1.xml" Id="R5bb441ac074541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a9043e9f644d5a" /><Relationship Type="http://schemas.openxmlformats.org/officeDocument/2006/relationships/notesMaster" Target="/ppt/notesMasters/notesMaster1.xml" Id="R0bdea5998ee045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1079b1673d48d7" /><Relationship Type="http://schemas.openxmlformats.org/officeDocument/2006/relationships/notesMaster" Target="/ppt/notesMasters/notesMaster1.xml" Id="R1dc10a5ebf6c4b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46a84fd1924596" /><Relationship Type="http://schemas.openxmlformats.org/officeDocument/2006/relationships/notesMaster" Target="/ppt/notesMasters/notesMaster1.xml" Id="R993f697e0e8741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Δεν προτείνουμε generic cost cutting. Προτείνουμε στοχευμένη κατανομή προσοχής.</a:t>
            </a:r>
            <a:endParaRPr/>
          </a:p>
          <a:p xmlns:a="http://schemas.openxmlformats.org/drawingml/2006/main">
            <a:r>
              <a:t/>
            </a:r>
            <a:endParaRPr/>
          </a:p>
          <a:p xmlns:a="http://schemas.openxmlformats.org/drawingml/2006/main">
            <a:r>
              <a:t>Οι 401 περιπτώσεις είναι 80 προς validation, 158 προς διόρθωση και 163 προς σταθεροποίηση. Παράλληλα προστατεύουμε τον πυρήνα των 150 προϊόντων, χωρίς να τον μετράμε ως επιπλέον ουρά. Οι 606 είναι διαφορετική όψη του portfolio: το governance ζητά αλλαγή action ή επανεξέταση classification.</a:t>
            </a:r>
            <a:endParaRPr/>
          </a:p>
          <a:p xmlns:a="http://schemas.openxmlformats.org/drawingml/2006/main">
            <a:r>
              <a:t/>
            </a:r>
            <a:endParaRPr/>
          </a:p>
          <a:p xmlns:a="http://schemas.openxmlformats.org/drawingml/2006/main">
            <a:r>
              <a:t>Sources: Product_Portfolio_Risk_Performance(7).ipynb, supplied saved outputs (cells 60, 72, 75, 84 and 85, zero-indexed as applicable); CASE_STUDY(2).md, portfolio economics and governance sections; ch09_economic_priority.py for priority assignment rules. Historical case-study snapshot, not a forecast or a production deployment. Net profit is the supplied data field summed across 1,894 products (€286,397.02). It is not an audited company P&amp;L. Realised loss is sum(max(-product total_profit, 0)) = approximately €77,092.02. It is measured at product level, not the sum of all losing orders. Profit share uses portfolio net profit as denominator. Loss share uses product-level realised loss as denominator. Rounded figures may differ slightly from sums calculated on full precision.</a:t>
            </a:r>
            <a:endParaRPr/>
          </a:p>
          <a:p xmlns:a="http://schemas.openxmlformats.org/drawingml/2006/main">
            <a:r>
              <a:t/>
            </a:r>
            <a:endParaRPr/>
          </a:p>
          <a:p xmlns:a="http://schemas.openxmlformats.org/drawingml/2006/main">
            <a:r>
              <a:t>Value engine = 123 High-Impact Profit products + 27 Extreme Impact Tail products. Combined profit €217,443.66, approximately 76% of portfolio net profit. Hard Exposure = 567 Action Mismatch + 39 Structural Ambiguity. The first wave follows the first three priority categories, not a continuous ranking of every product by financial risk.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Το θέμα δεν είναι αν βγάζουμε χρήματα. Είναι πόσο εξαρτάται το αποτέλεσμα από λίγα προϊόντα.</a:t>
            </a:r>
            <a:endParaRPr/>
          </a:p>
          <a:p xmlns:a="http://schemas.openxmlformats.org/drawingml/2006/main">
            <a:r>
              <a:t/>
            </a:r>
            <a:endParaRPr/>
          </a:p>
          <a:p xmlns:a="http://schemas.openxmlformats.org/drawingml/2006/main">
            <a:r>
              <a:t>Τα −€67,8K είναι το καθαρό άθροισμα δύο loss-oriented ρόλων. Τα €77,1K realised loss αθροίζουν μόνο τα προϊόντα με αρνητικό συνολικό κέρδος. Είναι διαφορετικά μεγέθη. Επίσης, ένα προϊόν μπορεί να έχει θετικό συνολικό κέρδος και πολλές ζημιογόνες παραγγελίες.</a:t>
            </a:r>
            <a:endParaRPr/>
          </a:p>
          <a:p xmlns:a="http://schemas.openxmlformats.org/drawingml/2006/main">
            <a:r>
              <a:t/>
            </a:r>
            <a:endParaRPr/>
          </a:p>
          <a:p xmlns:a="http://schemas.openxmlformats.org/drawingml/2006/main">
            <a:r>
              <a:t>Sources: Product_Portfolio_Risk_Performance(7).ipynb, supplied saved outputs (cells 60, 72, 75, 84 and 85, zero-indexed as applicable); CASE_STUDY(2).md, portfolio economics and governance sections; ch09_economic_priority.py for priority assignment rules. Historical case-study snapshot, not a forecast or a production deployment. Net profit is the supplied data field summed across 1,894 products (€286,397.02). It is not an audited company P&amp;L. Realised loss is sum(max(-product total_profit, 0)) = approximately €77,092.02. It is measured at product level, not the sum of all losing orders. Profit share uses portfolio net profit as denominator. Loss share uses product-level realised loss as denominator. Rounded figures may differ slightly from sums calculated on full precision.</a:t>
            </a:r>
            <a:endParaRPr/>
          </a:p>
          <a:p xmlns:a="http://schemas.openxmlformats.org/drawingml/2006/main">
            <a:r>
              <a:t/>
            </a:r>
            <a:endParaRPr/>
          </a:p>
          <a:p xmlns:a="http://schemas.openxmlformats.org/drawingml/2006/main">
            <a:r>
              <a:t>Top decile ranks all products by total profit. Stable Loss Cluster contributes −€27,247.24 and Loss Tail contributes −€40,528.66. The 410 products belong to the two loss-oriented roles, but the role label does not mean every member is individually net-negative. The 26.1% statistic is the product share whose loss frequency exceeds 30%.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Το μοντέλο δεν αποφασίζει μόνο του. Προτείνει action. Το governance το διορθώνει.</a:t>
            </a:r>
          </a:p>
          <a:p xmlns:a="http://schemas.openxmlformats.org/drawingml/2006/main">
            <a:r>
              <a:t/>
            </a:r>
          </a:p>
          <a:p xmlns:a="http://schemas.openxmlformats.org/drawingml/2006/main">
            <a:r>
              <a:t>Ο μέσος όρος κέρδους ανά παραγγελία δείχνει την κατεύθυνση. Η μεταβλητότητα δείχνει συνέπεια, η συχνότητα ζημιάς επαναλαμβανόμενη έκθεση και η συνολική συνεισφορά το οικονομικό βάρος. Τα ακραία προϊόντα παραμένουν ορατά αντί να καθορίζουν τη γεωμετρία όλων των υπόλοιπων.</a:t>
            </a:r>
          </a:p>
          <a:p xmlns:a="http://schemas.openxmlformats.org/drawingml/2006/main">
            <a:r>
              <a:t/>
            </a:r>
          </a:p>
          <a:p xmlns:a="http://schemas.openxmlformats.org/drawingml/2006/main">
            <a:r>
              <a:t>Όταν συνυπάρχουν signals, προηγείται η επανεξέταση classification, μετά η αλλαγή action και μετά η ενίσχυση των controls. Το τελικό αποτέλεσμα παραμένει πρόταση για ανθρώπινη επιχειρησιακή έγκριση.</a:t>
            </a:r>
          </a:p>
          <a:p xmlns:a="http://schemas.openxmlformats.org/drawingml/2006/main">
            <a:r>
              <a:t/>
            </a:r>
          </a:p>
          <a:p xmlns:a="http://schemas.openxmlformats.org/drawingml/2006/main">
            <a:r>
              <a:t>Sources: Product_Portfolio_Risk_Performance(7).ipynb, supplied saved outputs (cells 60, 72, 75, 84 and 85, zero-indexed as applicable); CASE_STUDY(2).md, portfolio economics and governance sections; ch09_economic_priority.py for priority assignment rules. Historical case-study snapshot, not a forecast or a production deployment. Net profit is the supplied data field summed across 1,894 products (€286,397.02). It is not an audited company P&amp;L. Realised loss is sum(max(-product total_profit, 0)) = approximately €77,092.02. It is measured at product level, not the sum of all losing orders. Profit share uses portfolio net profit as denominator. Loss share uses product-level realised loss as denominator. Rounded figures may differ slightly from sums calculated on full precision.</a:t>
            </a:r>
          </a:p>
          <a:p xmlns:a="http://schemas.openxmlformats.org/drawingml/2006/main">
            <a:r>
              <a:t/>
            </a:r>
          </a:p>
          <a:p xmlns:a="http://schemas.openxmlformats.org/drawingml/2006/main">
            <a:r>
              <a:t>Body: 1,822 products and four K-means clusters. Tail: 72 products and three rule-based roles. Volatility uses a stabilised coefficient of variation. Economic contribution is the scaled total profit. Profit stress is a cross-sectional diagnostic against action-specific tolerances, not evidence of deterioration over time. Precedence is classification reassessment, action reroute, action intensification, then no escalation. All 1,894 products resolve to one final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Εδώ συμφωνούν οι κατηγορίες με το συνολικό οικονομικό αποτέλεσμα: επτά ρόλοι, 1.894 προϊόντα, €286,4K. Οι δύο μπλε σειρές δίνουν τον πυρήνα των 150 προϊόντων: 123 + 27. Οι δύο loss-oriented ρόλοι δίνουν 410 προϊόντα και −€67,8K.</a:t>
            </a:r>
          </a:p>
          <a:p xmlns:a="http://schemas.openxmlformats.org/drawingml/2006/main">
            <a:r>
              <a:t/>
            </a:r>
          </a:p>
          <a:p xmlns:a="http://schemas.openxmlformats.org/drawingml/2006/main">
            <a:r>
              <a:t>Οι ρόλοι περιγράφουν οικονομική συμπεριφορά και προτείνουν αρχικό action. Δεν καθορίζουν μόνοι τους την τελική προτεραιότητα. Τα 158 Broken Value προκύπτουν από συνδυασμό χαμηλής επίδοσης μέσα στον ρόλο και ανάγκης αλλαγής action ή classification.</a:t>
            </a:r>
          </a:p>
          <a:p xmlns:a="http://schemas.openxmlformats.org/drawingml/2006/main">
            <a:r>
              <a:t/>
            </a:r>
          </a:p>
          <a:p xmlns:a="http://schemas.openxmlformats.org/drawingml/2006/main">
            <a:r>
              <a:t>Sources: Product_Portfolio_Risk_Performance(7).ipynb, supplied saved outputs (cells 60, 72, 75, 84 and 85, zero-indexed as applicable); CASE_STUDY(2).md, portfolio economics and governance sections; ch09_economic_priority.py for priority assignment rules. Historical case-study snapshot, not a forecast or a production deployment. Net profit is the supplied data field summed across 1,894 products (€286,397.02). It is not an audited company P&amp;L. Realised loss is sum(max(-product total_profit, 0)) = approximately €77,092.02. It is measured at product level, not the sum of all losing orders. Profit share uses portfolio net profit as denominator. Loss share uses product-level realised loss as denominator. Rounded figures may differ slightly from sums calculated on full precision.</a:t>
            </a:r>
          </a:p>
          <a:p xmlns:a="http://schemas.openxmlformats.org/drawingml/2006/main">
            <a:r>
              <a:t/>
            </a:r>
          </a:p>
          <a:p xmlns:a="http://schemas.openxmlformats.org/drawingml/2006/main">
            <a:r>
              <a:t>Source: notebook saved output cell 60. The seven full-precision profits total €286,397.0217 and the displayed rounded values total €286.4K. The first four rows form the 1,822-product body and the last three form the 72-product tail. Broken Value is not defined as a simple subset of the 410 loss-oriented products: its rule tests performance relative to each product’s own role plus Hard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 Exposure δεν σημαίνει κακά προϊόντα. Σημαίνει ότι το προτεινόμενο action ή classification δεν ταιριάζει.</a:t>
            </a:r>
          </a:p>
          <a:p xmlns:a="http://schemas.openxmlformats.org/drawingml/2006/main">
            <a:r>
              <a:t/>
            </a:r>
          </a:p>
          <a:p xmlns:a="http://schemas.openxmlformats.org/drawingml/2006/main">
            <a:r>
              <a:t>Το governance ξεχωρίζει την ενίσχυση των controls από την ανάγκη να αλλάξει η κατεύθυνση. Οι 606 περιπτώσεις κρατούν το 87% της realised loss, αλλά και το 41,8% του καθαρού κέρδους. Αυτός είναι ο λόγος που χρειάζεται στοχευμένη εξέταση και όχι μηχανικό κόψιμο προϊόντων. Η ονομασία Action Mismatch αξιολογεί τη συμβατότητα της αναλυτικής πρότασης με τα signals, όχι την προηγούμενη διοίκηση.</a:t>
            </a:r>
          </a:p>
          <a:p xmlns:a="http://schemas.openxmlformats.org/drawingml/2006/main">
            <a:r>
              <a:t/>
            </a:r>
          </a:p>
          <a:p xmlns:a="http://schemas.openxmlformats.org/drawingml/2006/main">
            <a:r>
              <a:t>Sources: Product_Portfolio_Risk_Performance(7).ipynb, supplied saved outputs (cells 60, 72, 75, 84 and 85, zero-indexed as applicable); CASE_STUDY(2).md, portfolio economics and governance sections; ch09_economic_priority.py for priority assignment rules. Historical case-study snapshot, not a forecast or a production deployment. Net profit is the supplied data field summed across 1,894 products (€286,397.02). It is not an audited company P&amp;L. Realised loss is sum(max(-product total_profit, 0)) = approximately €77,092.02. It is measured at product level, not the sum of all losing orders. Profit share uses portfolio net profit as denominator. Loss share uses product-level realised loss as denominator. Rounded figures may differ slightly from sums calculated on full precision.</a:t>
            </a:r>
          </a:p>
          <a:p xmlns:a="http://schemas.openxmlformats.org/drawingml/2006/main">
            <a:r>
              <a:t/>
            </a:r>
          </a:p>
          <a:p xmlns:a="http://schemas.openxmlformats.org/drawingml/2006/main">
            <a:r>
              <a:t>Stable Core: 1,008 / 53.2% products / 34.7% net profit / 4.4% loss. Control Pressure: 280 / 14.8% / 23.5% / 8.6%. Action Mismatch: 567 / 29.9% / 40.4% / 83.1%. Structural Ambiguity: 39 / 2.1% / 1.4% / 3.9%. Hard Exposure combines the last two states. The executive label Action Mismatch denotes the same Reroute Action state as the source output. Under more permissive governance thresholds, 26.8% of products still require a route change or classification review (baseline 32.0%, stricter 37.2%). This sensitivity is a robustness check, not a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Η προτεραιότητα δεν βγαίνει από πλήθος προϊόντων. Βγαίνει από οικονομική έκθεση και ανάγκη δράσης.</a:t>
            </a:r>
          </a:p>
          <a:p xmlns:a="http://schemas.openxmlformats.org/drawingml/2006/main">
            <a:r>
              <a:t/>
            </a:r>
          </a:p>
          <a:p xmlns:a="http://schemas.openxmlformats.org/drawingml/2006/main">
            <a:r>
              <a:t>Οι 401 είναι το πρώτο κύμα μέσα στις 953 active priorities. Οι υπόλοιπες 552 active περιπτώσεις παραμένουν σε Protect ή Monitor και οι 941 εκτός active layer εξακολουθούν να έχουν governance intervention.</a:t>
            </a:r>
          </a:p>
          <a:p xmlns:a="http://schemas.openxmlformats.org/drawingml/2006/main">
            <a:r>
              <a:t/>
            </a:r>
          </a:p>
          <a:p xmlns:a="http://schemas.openxmlformats.org/drawingml/2006/main">
            <a:r>
              <a:t>Για τα 80 upside candidates, η επίδοση υπερβαίνει το benchmark του ρόλου, υπάρχει governance escalation και περνούν όλα τα reliability checks. Στα 163 Fragile Value υπάρχει αντίστοιχη υπεραπόδοση αλλά τουλάχιστον ένας έλεγχος αποτυγχάνει. Τα 158 Broken Value υποαποδίδουν και χρειάζονται αλλαγή route ή επανεξέταση ρόλου. Δεν πρόκειται για αυτόματη λίστα εξόδου.</a:t>
            </a:r>
          </a:p>
          <a:p xmlns:a="http://schemas.openxmlformats.org/drawingml/2006/main">
            <a:r>
              <a:t/>
            </a:r>
          </a:p>
          <a:p xmlns:a="http://schemas.openxmlformats.org/drawingml/2006/main">
            <a:r>
              <a:t>Sources: Product_Portfolio_Risk_Performance(7).ipynb, supplied saved outputs (cells 60, 72, 75, 84 and 85, zero-indexed as applicable); CASE_STUDY(2).md, portfolio economics and governance sections; ch09_economic_priority.py for priority assignment rules. Historical case-study snapshot, not a forecast or a production deployment. Net profit is the supplied data field summed across 1,894 products (€286,397.02). It is not an audited company P&amp;L. Realised loss is sum(max(-product total_profit, 0)) = approximately €77,092.02. It is measured at product level, not the sum of all losing orders. Profit share uses portfolio net profit as denominator. Loss share uses product-level realised loss as denominator. Rounded figures may differ slightly from sums calculated on full precision.</a:t>
            </a:r>
          </a:p>
          <a:p xmlns:a="http://schemas.openxmlformats.org/drawingml/2006/main">
            <a:r>
              <a:t/>
            </a:r>
          </a:p>
          <a:p xmlns:a="http://schemas.openxmlformats.org/drawingml/2006/main">
            <a:r>
              <a:t>Reliability checks require positive total profit, positive mean order profit, loss frequency at most 30%, stabilised coefficient of variation at most 2.0, and no severe static deterioration flag. Outperformance is at or above the role upper quartile, and underperformance at or below the lower quartile, subject to the source rule precedence. Zero realised loss in Misaligned Upside means zero aggregated product-level net loss, not zero losing orders or zero future risk. The five queues are mutually exclusive. First wave 80 + 163 + 158 = 401. Remaining active 234 + 318 = 552. Total active 953 plus routine 941 = 1,894.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Δεν ανοίγουμε 1,894 cases. Ανοίγουμε 401.</a:t>
            </a:r>
          </a:p>
          <a:p xmlns:a="http://schemas.openxmlformats.org/drawingml/2006/main">
            <a:r>
              <a:t/>
            </a:r>
          </a:p>
          <a:p xmlns:a="http://schemas.openxmlformats.org/drawingml/2006/main">
            <a:r>
              <a:t>Για κάθε περίπτωση χρειαζόμαστε τον οικονομικό λόγο, τον υπεύθυνο και την απόφαση που εγκρίνεται. Η πρώτη εβδομάδα οριστικοποιεί scope, διαθέσιμο χρόνο και baseline. Οι επόμενες δύο εβδομάδες χρησιμοποιούν το εβδομαδιαίο cadence και προχωρούν μόνο σε εγκεκριμένες παρεμβάσεις. Η τέταρτη εβδομάδα συγκρίνει στόχους, τεκμηριωμένες αποφάσεις και όσα οικονομικά αποτελέσματα μπορούν ήδη να παρατηρηθούν.</a:t>
            </a:r>
          </a:p>
          <a:p xmlns:a="http://schemas.openxmlformats.org/drawingml/2006/main">
            <a:r>
              <a:t/>
            </a:r>
          </a:p>
          <a:p xmlns:a="http://schemas.openxmlformats.org/drawingml/2006/main">
            <a:r>
              <a:t>Οι ουρές είναι workstreams και μπορούν να κινηθούν παράλληλα. Δεν θεωρούμε ότι όλα τα cases απαιτούν τον ίδιο χρόνο ή ότι το μοντέλο αποδεικνύει την αιτία της ζημιάς.</a:t>
            </a:r>
          </a:p>
          <a:p xmlns:a="http://schemas.openxmlformats.org/drawingml/2006/main">
            <a:r>
              <a:t/>
            </a:r>
          </a:p>
          <a:p xmlns:a="http://schemas.openxmlformats.org/drawingml/2006/main">
            <a:r>
              <a:t>Sources: Product_Portfolio_Risk_Performance(7).ipynb, supplied saved outputs (cells 60, 72, 75, 84 and 85, zero-indexed as applicable); CASE_STUDY(2).md, portfolio economics and governance sections; ch09_economic_priority.py for priority assignment rules. Historical case-study snapshot, not a forecast or a production deployment. Net profit is the supplied data field summed across 1,894 products (€286,397.02). It is not an audited company P&amp;L. Realised loss is sum(max(-product total_profit, 0)) = approximately €77,092.02. It is measured at product level, not the sum of all losing orders. Profit share uses portfolio net profit as denominator. Loss share uses product-level realised loss as denominator. Rounded figures may differ slightly from sums calculated on full precision.</a:t>
            </a:r>
          </a:p>
          <a:p xmlns:a="http://schemas.openxmlformats.org/drawingml/2006/main">
            <a:r>
              <a:t/>
            </a:r>
          </a:p>
          <a:p xmlns:a="http://schemas.openxmlformats.org/drawingml/2006/main">
            <a:r>
              <a:t>This operating cadence, assignment of responsibilities and four-week schedule are management proposals. Pricing, discounts and cost drivers are evidence to examine, not established causes from the segmentation. Finance validates economic measures and loss definitions. Commercial validates demand, customers and implementability. Category or product owners execute approved actions, and an authorised approver signs off spending, commercial changes or exits as applicable.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Ζητάμε έγκριση για pilot, όχι για μόνιμη αλλαγή. Μετά το four-week, κρίνουμε με δεδομένα.</a:t>
            </a:r>
          </a:p>
          <a:p xmlns:a="http://schemas.openxmlformats.org/drawingml/2006/main">
            <a:r>
              <a:t/>
            </a:r>
          </a:p>
          <a:p xmlns:a="http://schemas.openxmlformats.org/drawingml/2006/main">
            <a:r>
              <a:t>Οι στόχοι 80% και 30% είναι προτεινόμενα gates προς έγκριση, όχι αποτελέσματα του μοντέλου ή επιβεβαιωμένη παραγωγική δυναμικότητα. Αντιστοιχούν σε τουλάχιστον 321 τεκμηριωμένες αποφάσεις και 48 περιπτώσεις Broken Value με πραγματική επίλυση ή ολοκληρωμένη έξοδο. Η απλή αλλαγή label δεν μετρά ως επίλυση.</a:t>
            </a:r>
          </a:p>
          <a:p xmlns:a="http://schemas.openxmlformats.org/drawingml/2006/main">
            <a:r>
              <a:t/>
            </a:r>
          </a:p>
          <a:p xmlns:a="http://schemas.openxmlformats.org/drawingml/2006/main">
            <a:r>
              <a:t>Προτείνεται κάλυψη από υπάρχοντες πόρους, αλλά ο χρόνος έχει κόστος. Πριν την έναρξη χρειάζεται δέσμευση διαθέσιμων ωρών και κοστολόγηση effort. Αν οι πόροι δεν επαρκούν, ο CFO εγκρίνει σταδιακό scope ή προσαρμοσμένους στόχους.</a:t>
            </a:r>
          </a:p>
          <a:p xmlns:a="http://schemas.openxmlformats.org/drawingml/2006/main">
            <a:r>
              <a:t/>
            </a:r>
          </a:p>
          <a:p xmlns:a="http://schemas.openxmlformats.org/drawingml/2006/main">
            <a:r>
              <a:t>Στην τέταρτη εβδομάδα παρουσιάζουμε τις αποφάσεις και τα διαθέσιμα οικονομικά στοιχεία. Το πλήρες οικονομικό όφελος μπορεί να απαιτεί μεγαλύτερο διάστημα. Δεν ισχυριζόμαστε ότι τέσσερις εβδομάδες αποδεικνύουν αιτιώδη βελτίωση κέρδους.</a:t>
            </a:r>
          </a:p>
          <a:p xmlns:a="http://schemas.openxmlformats.org/drawingml/2006/main">
            <a:r>
              <a:t/>
            </a:r>
          </a:p>
          <a:p xmlns:a="http://schemas.openxmlformats.org/drawingml/2006/main">
            <a:r>
              <a:t>Sources: Product_Portfolio_Risk_Performance(7).ipynb, supplied saved outputs (cells 60, 72, 75, 84 and 85, zero-indexed as applicable); CASE_STUDY(2).md, portfolio economics and governance sections; ch09_economic_priority.py for priority assignment rules. Historical case-study snapshot, not a forecast or a production deployment. Net profit is the supplied data field summed across 1,894 products (€286,397.02). It is not an audited company P&amp;L. Realised loss is sum(max(-product total_profit, 0)) = approximately €77,092.02. It is measured at product level, not the sum of all losing orders. Profit share uses portfolio net profit as denominator. Loss share uses product-level realised loss as denominator. Rounded figures may differ slightly from sums calculated on full precision.</a:t>
            </a:r>
          </a:p>
          <a:p xmlns:a="http://schemas.openxmlformats.org/drawingml/2006/main">
            <a:r>
              <a:t/>
            </a:r>
          </a:p>
          <a:p xmlns:a="http://schemas.openxmlformats.org/drawingml/2006/main">
            <a:r>
              <a:t>Pilot duration, resource plan, owner roles and thresholds are proposals supplied in the revision brief, not historical facts or a validated capacity plan. ceil(0.80 × 401) = 321. ceil(0.30 × 158) = 48. Before launch, define the baseline dates, comparable observation period, cost allocation and exposure denominators. A resolved case requires documented evidence that the agreed intervention removed or controlled the diagnosed issue. Record executed exits separately from approved exit plans. Queue movement alone does not prove improvement. The week-4 review should decide whether to continue, revise or stop the operating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b1eb0e50a34e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9339fe516843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6fa95b0c7443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89188df4564b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80f5a8a7754c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e9d92a8fad4f1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b84b6393eb742d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963cefce0ce405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1685b85e7dd49d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e113bcef7a9481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f474d7755a04a7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d534815f0f8492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55522B-6812-89EF-15A7-F8BD754D7EA3}"/>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2F44A5EF-10B9-2DD2-EE4D-BE9598FA8630}"/>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5" name="Footer Placeholder 4">
            <a:extLst xmlns:a="http://schemas.openxmlformats.org/drawingml/2006/main">
              <a:ext uri="{FF2B5EF4-FFF2-40B4-BE49-F238E27FC236}">
                <a16:creationId xmlns:a16="http://schemas.microsoft.com/office/drawing/2014/main" id="{4D31E779-8BBC-6A9C-E0A3-83E20B42BD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5B28734-455A-9AC2-91AF-79C504C576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2.xml><?xml version="1.0" encoding="utf-8"?>
<p:sldLayout xmlns:p="http://schemas.openxmlformats.org/presentationml/2006/main" preserve="1" userDrawn="1">
  <p:cSld name="Pappas ΒΙ Executive Report Layout">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Rectangle: Rounded Corners 5">
            <a:extLst xmlns:a="http://schemas.openxmlformats.org/drawingml/2006/main">
              <a:ext uri="{FF2B5EF4-FFF2-40B4-BE49-F238E27FC236}">
                <a16:creationId xmlns:a16="http://schemas.microsoft.com/office/drawing/2014/main" id="{2F2E7E04-82B2-3B1F-386F-C00606A74602}"/>
              </a:ext>
            </a:extLst>
          </p:cNvPr>
          <p:cNvSpPr>
            <a:spLocks xmlns:a="http://schemas.openxmlformats.org/drawingml/2006/main" noGrp="1"/>
          </p:cNvSpPr>
          <p:nvPr/>
        </p:nvSpPr>
        <p:spPr>
          <a:xfrm xmlns:a="http://schemas.openxmlformats.org/drawingml/2006/main">
            <a:off x="234000" y="162000"/>
            <a:ext cx="11718000" cy="6498000"/>
          </a:xfrm>
          <a:prstGeom xmlns:a="http://schemas.openxmlformats.org/drawingml/2006/main" prst="roundRect">
            <a:avLst>
              <a:gd name="adj" fmla="val 11080"/>
            </a:avLst>
          </a:prstGeom>
          <a:solidFill xmlns:a="http://schemas.openxmlformats.org/drawingml/2006/main">
            <a:srgbClr val="FFFFFF"/>
          </a:solidFill>
          <a:ln xmlns:a="http://schemas.openxmlformats.org/drawingml/2006/main" w="15875">
            <a:solidFill>
              <a:srgbClr val="D6DEE8"/>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Rectangle 1">
            <a:extLst xmlns:a="http://schemas.openxmlformats.org/drawingml/2006/main">
              <a:ext uri="{FF2B5EF4-FFF2-40B4-BE49-F238E27FC236}">
                <a16:creationId xmlns:a16="http://schemas.microsoft.com/office/drawing/2014/main" id="{635AC77E-0B6A-2295-A036-92331F1B8259}"/>
              </a:ext>
            </a:extLst>
          </p:cNvPr>
          <p:cNvSpPr>
            <a:spLocks xmlns:a="http://schemas.openxmlformats.org/drawingml/2006/main" noGrp="1"/>
          </p:cNvSpPr>
          <p:nvPr/>
        </p:nvSpPr>
        <p:spPr>
          <a:xfrm xmlns:a="http://schemas.openxmlformats.org/drawingml/2006/main">
            <a:off x="180000" y="252000"/>
            <a:ext cx="57600" cy="6336000"/>
          </a:xfrm>
          <a:prstGeom xmlns:a="http://schemas.openxmlformats.org/drawingml/2006/main" prst="rect">
            <a:avLst/>
          </a:prstGeom>
          <a:solidFill xmlns:a="http://schemas.openxmlformats.org/drawingml/2006/main">
            <a:srgbClr val="0B4A6F"/>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851B6AA-B9DC-3111-BEDE-61FD2B66969B}"/>
              </a:ext>
            </a:extLst>
          </p:cNvPr>
          <p:cNvSpPr>
            <a:spLocks xmlns:a="http://schemas.openxmlformats.org/drawingml/2006/main" noGrp="1"/>
          </p:cNvSpPr>
          <p:nvPr/>
        </p:nvSpPr>
        <p:spPr>
          <a:xfrm xmlns:a="http://schemas.openxmlformats.org/drawingml/2006/main">
            <a:off x="540000" y="280800"/>
            <a:ext cx="2996576"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0B4A6F"/>
                </a:solidFill>
                <a:latin typeface="Arial"/>
                <a:ea typeface="Arial"/>
                <a:cs typeface="Arial"/>
              </a:rPr>
              <a:t>PORTFOLIO DECISION SYSTEM</a:t>
            </a:r>
            <a:endParaRPr sz="1200" b="1">
              <a:solidFill>
                <a:srgbClr val="0B4A6F"/>
              </a:solidFill>
              <a:latin typeface="Arial"/>
              <a:ea typeface="Arial"/>
              <a:cs typeface="Arial"/>
            </a:endParaRPr>
          </a:p>
        </p:txBody>
      </p:sp>
      <p:sp>
        <p:nvSpPr>
          <p:cNvPr id="4" name="TextBox 3">
            <a:extLst xmlns:a="http://schemas.openxmlformats.org/drawingml/2006/main">
              <a:ext uri="{FF2B5EF4-FFF2-40B4-BE49-F238E27FC236}">
                <a16:creationId xmlns:a16="http://schemas.microsoft.com/office/drawing/2014/main" id="{E23E2B75-B9B3-1E8C-2EE9-FD95A98D2376}"/>
              </a:ext>
            </a:extLst>
          </p:cNvPr>
          <p:cNvSpPr>
            <a:spLocks xmlns:a="http://schemas.openxmlformats.org/drawingml/2006/main" noGrp="1"/>
          </p:cNvSpPr>
          <p:nvPr/>
        </p:nvSpPr>
        <p:spPr>
          <a:xfrm xmlns:a="http://schemas.openxmlformats.org/drawingml/2006/main">
            <a:off x="540000" y="468000"/>
            <a:ext cx="3400942" cy="5539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000" b="1">
                <a:solidFill>
                  <a:schemeClr val="tx1"/>
                </a:solidFill>
                <a:latin typeface="Arial"/>
                <a:ea typeface="Arial"/>
                <a:cs typeface="Arial"/>
              </a:rPr>
              <a:t>Executive Report</a:t>
            </a:r>
            <a:endParaRPr sz="3000" b="1">
              <a:solidFill>
                <a:schemeClr val="tx1"/>
              </a:solidFill>
              <a:latin typeface="Arial"/>
              <a:ea typeface="Arial"/>
              <a:cs typeface="Arial"/>
            </a:endParaRPr>
          </a:p>
        </p:txBody>
      </p:sp>
      <p:sp>
        <p:nvSpPr>
          <p:cNvPr id="5" name="TextBox 4">
            <a:extLst xmlns:a="http://schemas.openxmlformats.org/drawingml/2006/main">
              <a:ext uri="{FF2B5EF4-FFF2-40B4-BE49-F238E27FC236}">
                <a16:creationId xmlns:a16="http://schemas.microsoft.com/office/drawing/2014/main" id="{20C2717F-681B-C94B-C78D-6A2BA445A8DD}"/>
              </a:ext>
            </a:extLst>
          </p:cNvPr>
          <p:cNvSpPr>
            <a:spLocks xmlns:a="http://schemas.openxmlformats.org/drawingml/2006/main" noGrp="1"/>
          </p:cNvSpPr>
          <p:nvPr/>
        </p:nvSpPr>
        <p:spPr>
          <a:xfrm xmlns:a="http://schemas.openxmlformats.org/drawingml/2006/main">
            <a:off x="540000" y="972000"/>
            <a:ext cx="3656434"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0">
                <a:solidFill>
                  <a:srgbClr val="5B6778"/>
                </a:solidFill>
                <a:latin typeface="Arial"/>
                <a:ea typeface="Arial"/>
                <a:cs typeface="Arial"/>
              </a:rPr>
              <a:t>Portfolio Economics &amp; Actions</a:t>
            </a:r>
            <a:endParaRPr sz="1600" b="0">
              <a:solidFill>
                <a:srgbClr val="5B6778"/>
              </a:solidFill>
              <a:latin typeface="Arial"/>
              <a:ea typeface="Arial"/>
              <a:cs typeface="Arial"/>
            </a:endParaRPr>
          </a:p>
        </p:txBody>
      </p:sp>
      <p:sp>
        <p:nvSpPr>
          <p:cNvPr id="7" name="TextBox 6">
            <a:extLst xmlns:a="http://schemas.openxmlformats.org/drawingml/2006/main">
              <a:ext uri="{FF2B5EF4-FFF2-40B4-BE49-F238E27FC236}">
                <a16:creationId xmlns:a16="http://schemas.microsoft.com/office/drawing/2014/main" id="{A6949E8A-B548-5967-C107-8E07106CED63}"/>
              </a:ext>
            </a:extLst>
          </p:cNvPr>
          <p:cNvSpPr>
            <a:spLocks xmlns:a="http://schemas.openxmlformats.org/drawingml/2006/main" noGrp="1"/>
          </p:cNvSpPr>
          <p:nvPr/>
        </p:nvSpPr>
        <p:spPr>
          <a:xfrm xmlns:a="http://schemas.openxmlformats.org/drawingml/2006/main">
            <a:off x="10080000" y="252000"/>
            <a:ext cx="1548000"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200" b="0">
                <a:solidFill>
                  <a:srgbClr val="9CA3AF"/>
                </a:solidFill>
                <a:latin typeface="Arial"/>
                <a:ea typeface="Arial"/>
                <a:cs typeface="Arial"/>
              </a:rPr>
              <a:t>Prepared by</a:t>
            </a:r>
            <a:endParaRPr sz="1200" b="0">
              <a:solidFill>
                <a:srgbClr val="9CA3AF"/>
              </a:solidFill>
              <a:latin typeface="Arial"/>
              <a:ea typeface="Arial"/>
              <a:cs typeface="Arial"/>
            </a:endParaRPr>
          </a:p>
        </p:txBody>
      </p:sp>
      <p:sp>
        <p:nvSpPr>
          <p:cNvPr id="8" name="TextBox 7">
            <a:extLst xmlns:a="http://schemas.openxmlformats.org/drawingml/2006/main">
              <a:ext uri="{FF2B5EF4-FFF2-40B4-BE49-F238E27FC236}">
                <a16:creationId xmlns:a16="http://schemas.microsoft.com/office/drawing/2014/main" id="{0FFA892B-4E94-B186-7924-84F99542A3EF}"/>
              </a:ext>
            </a:extLst>
          </p:cNvPr>
          <p:cNvSpPr>
            <a:spLocks xmlns:a="http://schemas.openxmlformats.org/drawingml/2006/main" noGrp="1"/>
          </p:cNvSpPr>
          <p:nvPr/>
        </p:nvSpPr>
        <p:spPr>
          <a:xfrm xmlns:a="http://schemas.openxmlformats.org/drawingml/2006/main">
            <a:off x="8352000" y="504000"/>
            <a:ext cx="3278646" cy="2923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300" b="1">
                <a:solidFill>
                  <a:srgbClr val="111827"/>
                </a:solidFill>
                <a:latin typeface="Arial"/>
                <a:ea typeface="Arial"/>
                <a:cs typeface="Arial"/>
              </a:rPr>
              <a:t>Konstantinos Tavlaridis-Gyparakis</a:t>
            </a:r>
            <a:endParaRPr sz="1300" b="1">
              <a:solidFill>
                <a:srgbClr val="111827"/>
              </a:solidFill>
              <a:latin typeface="Arial"/>
              <a:ea typeface="Arial"/>
              <a:cs typeface="Arial"/>
            </a:endParaRPr>
          </a:p>
        </p:txBody>
      </p:sp>
      <p:sp>
        <p:nvSpPr>
          <p:cNvPr id="9" name="TextBox 8">
            <a:extLst xmlns:a="http://schemas.openxmlformats.org/drawingml/2006/main">
              <a:ext uri="{FF2B5EF4-FFF2-40B4-BE49-F238E27FC236}">
                <a16:creationId xmlns:a16="http://schemas.microsoft.com/office/drawing/2014/main" id="{7CA92B16-9501-A8BE-E729-4E0C667E3678}"/>
              </a:ext>
            </a:extLst>
          </p:cNvPr>
          <p:cNvSpPr>
            <a:spLocks xmlns:a="http://schemas.openxmlformats.org/drawingml/2006/main" noGrp="1"/>
          </p:cNvSpPr>
          <p:nvPr/>
        </p:nvSpPr>
        <p:spPr>
          <a:xfrm xmlns:a="http://schemas.openxmlformats.org/drawingml/2006/main">
            <a:off x="8352000" y="756000"/>
            <a:ext cx="3278646"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200" b="0">
                <a:solidFill>
                  <a:srgbClr val="6B7280"/>
                </a:solidFill>
                <a:latin typeface="Arial"/>
                <a:ea typeface="Arial"/>
                <a:cs typeface="Arial"/>
              </a:rPr>
              <a:t>Portfolio Decision Intelligence</a:t>
            </a:r>
            <a:endParaRPr sz="1200" b="0">
              <a:solidFill>
                <a:srgbClr val="6B7280"/>
              </a:solidFill>
              <a:latin typeface="Arial"/>
              <a:ea typeface="Arial"/>
              <a:cs typeface="Arial"/>
            </a:endParaRPr>
          </a:p>
        </p:txBody>
      </p:sp>
      <p:sp>
        <p:nvSpPr>
          <p:cNvPr id="11" name="Straight Connector 10">
            <a:extLst xmlns:a="http://schemas.openxmlformats.org/drawingml/2006/main">
              <a:ext uri="{FF2B5EF4-FFF2-40B4-BE49-F238E27FC236}">
                <a16:creationId xmlns:a16="http://schemas.microsoft.com/office/drawing/2014/main" id="{1511D265-FAEC-4816-A13B-67D1F153625E}"/>
              </a:ext>
            </a:extLst>
          </p:cNvPr>
          <p:cNvSpPr>
            <a:spLocks xmlns:a="http://schemas.openxmlformats.org/drawingml/2006/main" noGrp="1"/>
          </p:cNvSpPr>
          <p:nvPr/>
        </p:nvSpPr>
        <p:spPr>
          <a:xfrm xmlns:a="http://schemas.openxmlformats.org/drawingml/2006/main">
            <a:off x="612000" y="1310554"/>
            <a:ext cx="10944000" cy="0"/>
          </a:xfrm>
          <a:prstGeom xmlns:a="http://schemas.openxmlformats.org/drawingml/2006/main" prst="line">
            <a:avLst/>
          </a:prstGeom>
          <a:ln xmlns:a="http://schemas.openxmlformats.org/drawingml/2006/main" w="19050">
            <a:solidFill>
              <a:srgbClr val="E5E7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97B27E76-6365-3655-C49E-242859CE49FD}"/>
              </a:ext>
            </a:extLst>
          </p:cNvPr>
          <p:cNvSpPr>
            <a:spLocks xmlns:a="http://schemas.openxmlformats.org/drawingml/2006/main" noGrp="1"/>
          </p:cNvSpPr>
          <p:nvPr/>
        </p:nvSpPr>
        <p:spPr>
          <a:xfrm xmlns:a="http://schemas.openxmlformats.org/drawingml/2006/main">
            <a:off x="8650166" y="6336000"/>
            <a:ext cx="2872058"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200">
                <a:solidFill>
                  <a:srgbClr val="9CA3AF"/>
                </a:solidFill>
                <a:latin typeface="Arial"/>
                <a:ea typeface="Arial"/>
                <a:cs typeface="Arial"/>
              </a:rPr>
              <a:t>Product economics · governed actions</a:t>
            </a:r>
          </a:p>
        </p:txBody>
      </p:sp>
      <p:sp>
        <p:nvSpPr>
          <p:cNvPr id="14" name="TextBox 13">
            <a:extLst xmlns:a="http://schemas.openxmlformats.org/drawingml/2006/main">
              <a:ext uri="{FF2B5EF4-FFF2-40B4-BE49-F238E27FC236}">
                <a16:creationId xmlns:a16="http://schemas.microsoft.com/office/drawing/2014/main" id="{24A2B9E4-30DB-DB35-AEB7-173C65BF1128}"/>
              </a:ext>
            </a:extLst>
          </p:cNvPr>
          <p:cNvSpPr>
            <a:spLocks xmlns:a="http://schemas.openxmlformats.org/drawingml/2006/main" noGrp="1"/>
          </p:cNvSpPr>
          <p:nvPr/>
        </p:nvSpPr>
        <p:spPr>
          <a:xfrm xmlns:a="http://schemas.openxmlformats.org/drawingml/2006/main">
            <a:off x="576000" y="6336000"/>
            <a:ext cx="3656434"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0">
                <a:solidFill>
                  <a:srgbClr val="9CA3AF"/>
                </a:solidFill>
                <a:latin typeface="Arial"/>
                <a:ea typeface="Arial"/>
                <a:cs typeface="Arial"/>
              </a:rPr>
              <a:t>Executive decision brief</a:t>
            </a:r>
            <a:r>
              <a:rPr sz="1200" b="0">
                <a:solidFill>
                  <a:srgbClr val="9CA3AF"/>
                </a:solidFill>
                <a:latin typeface="Arial"/>
                <a:ea typeface="Arial"/>
                <a:cs typeface="Arial"/>
              </a:rPr>
              <a:t> — Slide </a:t>
            </a:r>
            <a:fld id="{52F2EC78-F100-4843-8DDA-DF0D3FDE9580}" type="slidenum">
              <a:rPr sz="1200" b="0">
                <a:solidFill>
                  <a:srgbClr val="9CA3AF"/>
                </a:solidFill>
                <a:latin typeface="Arial"/>
                <a:ea typeface="Arial"/>
                <a:cs typeface="Arial"/>
              </a:rPr>
              <a:t>‹#›</a:t>
            </a:fld>
            <a:r>
              <a:rPr sz="1200" b="0">
                <a:solidFill>
                  <a:srgbClr val="9CA3AF"/>
                </a:solidFill>
                <a:latin typeface="Arial"/>
                <a:ea typeface="Arial"/>
                <a:cs typeface="Arial"/>
              </a:rPr>
              <a:t> / 8</a:t>
            </a:r>
            <a:endParaRPr sz="1200" b="0">
              <a:solidFill>
                <a:srgbClr val="9CA3AF"/>
              </a:solidFill>
              <a:latin typeface="Arial"/>
              <a:ea typeface="Arial"/>
              <a:cs typeface="Arial"/>
            </a:endParaRPr>
          </a:p>
        </p:txBody>
      </p:sp>
    </p:spTree>
  </p:cSld>
</p:sldLayout>
</file>

<file path=ppt/slideLayouts/slideLayout3.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78603C-224E-46D7-0804-D62F4517EBC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DB69B28-3A84-856D-B294-4542065D394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558B5E4C-5F1D-651B-09D2-902BE032AB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8109D5F-E0EC-E1A9-BA32-1848401FD6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4.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857A77-AD4B-E446-9E80-F02BA43705B1}"/>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7AEFED5-18DE-D3C0-D47C-5C780AADD189}"/>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5" name="Footer Placeholder 4">
            <a:extLst xmlns:a="http://schemas.openxmlformats.org/drawingml/2006/main">
              <a:ext uri="{FF2B5EF4-FFF2-40B4-BE49-F238E27FC236}">
                <a16:creationId xmlns:a16="http://schemas.microsoft.com/office/drawing/2014/main" id="{5B2259DD-36ED-E477-E189-65D71D8373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7001DCF-DA36-744D-3C96-28C35E50F3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5.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3D2EDE8-B92F-74C0-E3E3-9D47E19495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EA36BAD-49CA-2662-6CA2-05679B7226B3}"/>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2BCCAC1-78CC-DCA0-AB09-3C923CF5C560}"/>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Footer Placeholder 5">
            <a:extLst xmlns:a="http://schemas.openxmlformats.org/drawingml/2006/main">
              <a:ext uri="{FF2B5EF4-FFF2-40B4-BE49-F238E27FC236}">
                <a16:creationId xmlns:a16="http://schemas.microsoft.com/office/drawing/2014/main" id="{94DC2163-3B4B-C97F-66A1-E4CB82324D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7FBEDD9-33C9-C8BC-CBA9-3F86A199B1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6.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DA6864C-122F-194E-AFD0-343F1DEB540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A1C0B00-153D-D49B-283C-7EB8736AB5A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9B0FC6-1464-B99F-DD74-33A0F0A7EF9A}"/>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2E31565-1E97-D5EA-B7F5-5CE8FAF18E8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6895933-4288-A047-BB0C-D924FB44EDC9}"/>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Footer Placeholder 7">
            <a:extLst xmlns:a="http://schemas.openxmlformats.org/drawingml/2006/main">
              <a:ext uri="{FF2B5EF4-FFF2-40B4-BE49-F238E27FC236}">
                <a16:creationId xmlns:a16="http://schemas.microsoft.com/office/drawing/2014/main" id="{87556632-B0AE-B5E9-D7DE-2D8FB8AFC4B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6400A19-F0BC-7398-3A78-A9E5E5FFE8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7.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AE8FA3F-5C4F-866F-84B7-11652DC02B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4" name="Footer Placeholder 3">
            <a:extLst xmlns:a="http://schemas.openxmlformats.org/drawingml/2006/main">
              <a:ext uri="{FF2B5EF4-FFF2-40B4-BE49-F238E27FC236}">
                <a16:creationId xmlns:a16="http://schemas.microsoft.com/office/drawing/2014/main" id="{7E169F17-6248-C520-58DD-9AF9ACE5547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134D02E-D0DB-6587-2E87-6FD089B9CA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8.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27555829-E9F0-AE4D-095F-5C63024725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98C75F6-2573-9947-6D3A-600DBFC846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9.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F7FF9F-1FFC-C22B-DE63-4252ED26EAF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FC759B8-E694-8E2D-50CE-09851D8C211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9BC83D6-71E8-C83A-B164-AA4D2999AC6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6" name="Footer Placeholder 5">
            <a:extLst xmlns:a="http://schemas.openxmlformats.org/drawingml/2006/main">
              <a:ext uri="{FF2B5EF4-FFF2-40B4-BE49-F238E27FC236}">
                <a16:creationId xmlns:a16="http://schemas.microsoft.com/office/drawing/2014/main" id="{DBB6DB27-C028-242C-5016-DC7D81A8EC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D39AAD4-E6C3-00BE-5F03-D11F3A30F5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10.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5A2DD1-BDD7-432E-48AD-AEA4ED93C33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EAD1EAAB-B0BA-CDF2-9478-81232C4DE730}"/>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1031060-6942-A0BA-9C24-32B6F6EE321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6" name="Footer Placeholder 5">
            <a:extLst xmlns:a="http://schemas.openxmlformats.org/drawingml/2006/main">
              <a:ext uri="{FF2B5EF4-FFF2-40B4-BE49-F238E27FC236}">
                <a16:creationId xmlns:a16="http://schemas.microsoft.com/office/drawing/2014/main" id="{954E176F-3E94-0590-510B-501AEE2AAD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EF4D55C-FF70-FBFC-92C2-3F1C32D75B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11.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7B182C-6BA5-F1EE-1318-72C5DA2036A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92F526D-92E6-D050-8A13-6E0EDA5AE34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D2571B50-F005-8378-A353-F9DC4926544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4F624EF-0923-95DD-E21F-E4D72E1229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Layouts/slideLayout12.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97715FF-14B0-327B-426B-F57F37FEC0F3}"/>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5195A3A-B5A0-3963-DAC5-8505E5C8AC67}"/>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A1F1DE62-96AB-C08A-A6FC-7D6ACB1A76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9C83C24-25C6-F473-7ED6-4BA3A05EED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CD2D65-A169-4A35-96C4-B80EADFBDDA5}"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50d7a359c34f60" /><Relationship Type="http://schemas.openxmlformats.org/officeDocument/2006/relationships/slideLayout" Target="/ppt/slideLayouts/slideLayout1.xml" Id="R6c03d27495404e6b" /><Relationship Type="http://schemas.openxmlformats.org/officeDocument/2006/relationships/slideLayout" Target="/ppt/slideLayouts/slideLayout2.xml" Id="Rc19e869bac81444b" /><Relationship Type="http://schemas.openxmlformats.org/officeDocument/2006/relationships/slideLayout" Target="/ppt/slideLayouts/slideLayout3.xml" Id="Rf4093abd68b04800" /><Relationship Type="http://schemas.openxmlformats.org/officeDocument/2006/relationships/slideLayout" Target="/ppt/slideLayouts/slideLayout4.xml" Id="R34e18c161a2d4a63" /><Relationship Type="http://schemas.openxmlformats.org/officeDocument/2006/relationships/slideLayout" Target="/ppt/slideLayouts/slideLayout5.xml" Id="R45fab56a1b5f443e" /><Relationship Type="http://schemas.openxmlformats.org/officeDocument/2006/relationships/slideLayout" Target="/ppt/slideLayouts/slideLayout6.xml" Id="R8f76474c8ba8459b" /><Relationship Type="http://schemas.openxmlformats.org/officeDocument/2006/relationships/slideLayout" Target="/ppt/slideLayouts/slideLayout7.xml" Id="Rb7dd4da0d51149fa" /><Relationship Type="http://schemas.openxmlformats.org/officeDocument/2006/relationships/slideLayout" Target="/ppt/slideLayouts/slideLayout8.xml" Id="Rac274e3a95714734" /><Relationship Type="http://schemas.openxmlformats.org/officeDocument/2006/relationships/slideLayout" Target="/ppt/slideLayouts/slideLayout9.xml" Id="Rc00f4cb54d414be1" /><Relationship Type="http://schemas.openxmlformats.org/officeDocument/2006/relationships/slideLayout" Target="/ppt/slideLayouts/slideLayout10.xml" Id="R1979a395c4b5483f" /><Relationship Type="http://schemas.openxmlformats.org/officeDocument/2006/relationships/slideLayout" Target="/ppt/slideLayouts/slideLayout11.xml" Id="R611b037a85c346f9" /><Relationship Type="http://schemas.openxmlformats.org/officeDocument/2006/relationships/slideLayout" Target="/ppt/slideLayouts/slideLayout12.xml" Id="R889da9b9aa404d2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03d27495404e6b"/>
    <p:sldLayoutId xmlns:r="http://schemas.openxmlformats.org/officeDocument/2006/relationships" id="2147483650" r:id="Rc19e869bac81444b"/>
    <p:sldLayoutId xmlns:r="http://schemas.openxmlformats.org/officeDocument/2006/relationships" id="2147483651" r:id="Rf4093abd68b04800"/>
    <p:sldLayoutId xmlns:r="http://schemas.openxmlformats.org/officeDocument/2006/relationships" id="2147483652" r:id="R34e18c161a2d4a63"/>
    <p:sldLayoutId xmlns:r="http://schemas.openxmlformats.org/officeDocument/2006/relationships" id="2147483653" r:id="R45fab56a1b5f443e"/>
    <p:sldLayoutId xmlns:r="http://schemas.openxmlformats.org/officeDocument/2006/relationships" id="2147483654" r:id="R8f76474c8ba8459b"/>
    <p:sldLayoutId xmlns:r="http://schemas.openxmlformats.org/officeDocument/2006/relationships" id="2147483655" r:id="Rb7dd4da0d51149fa"/>
    <p:sldLayoutId xmlns:r="http://schemas.openxmlformats.org/officeDocument/2006/relationships" id="2147483656" r:id="Rac274e3a95714734"/>
    <p:sldLayoutId xmlns:r="http://schemas.openxmlformats.org/officeDocument/2006/relationships" id="2147483657" r:id="Rc00f4cb54d414be1"/>
    <p:sldLayoutId xmlns:r="http://schemas.openxmlformats.org/officeDocument/2006/relationships" id="2147483658" r:id="R1979a395c4b5483f"/>
    <p:sldLayoutId xmlns:r="http://schemas.openxmlformats.org/officeDocument/2006/relationships" id="2147483659" r:id="R611b037a85c346f9"/>
    <p:sldLayoutId xmlns:r="http://schemas.openxmlformats.org/officeDocument/2006/relationships" id="2147483660" r:id="R889da9b9aa404d2c"/>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76908b11784418f" /><Relationship Type="http://schemas.openxmlformats.org/officeDocument/2006/relationships/notesSlide" Target="/ppt/notesSlides/notesSlide1.xml" Id="R60a35cdf0fea44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e681169e88b40e5" /><Relationship Type="http://schemas.openxmlformats.org/officeDocument/2006/relationships/chart" Target="/ppt/slides/charts/chart1.xml" Id="R5eb30392d7954feb" /><Relationship Type="http://schemas.openxmlformats.org/officeDocument/2006/relationships/notesSlide" Target="/ppt/notesSlides/notesSlide2.xml" Id="R1c934fd5c40541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08f0d2855644e9f" /><Relationship Type="http://schemas.openxmlformats.org/officeDocument/2006/relationships/notesSlide" Target="/ppt/notesSlides/notesSlide3.xml" Id="Rca493e04a4ec4b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1d9675e56364d81" /><Relationship Type="http://schemas.openxmlformats.org/officeDocument/2006/relationships/notesSlide" Target="/ppt/notesSlides/notesSlide4.xml" Id="R2fde77bb87e742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0bc180dcc7c466d" /><Relationship Type="http://schemas.openxmlformats.org/officeDocument/2006/relationships/chart" Target="/ppt/slides/charts/chart2.xml" Id="R9ac97d1e57fe4ac5" /><Relationship Type="http://schemas.openxmlformats.org/officeDocument/2006/relationships/notesSlide" Target="/ppt/notesSlides/notesSlide5.xml" Id="R3c58adc613e243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e45de1d279a453d" /><Relationship Type="http://schemas.openxmlformats.org/officeDocument/2006/relationships/chart" Target="/ppt/slides/charts/chart3.xml" Id="R6f5b4835540c4d37" /><Relationship Type="http://schemas.openxmlformats.org/officeDocument/2006/relationships/notesSlide" Target="/ppt/notesSlides/notesSlide6.xml" Id="Rc455dd2f941641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2d2dd4c48c94abd" /><Relationship Type="http://schemas.openxmlformats.org/officeDocument/2006/relationships/notesSlide" Target="/ppt/notesSlides/notesSlide7.xml" Id="Rcfcc95b81da043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13e81981f324160" /><Relationship Type="http://schemas.openxmlformats.org/officeDocument/2006/relationships/notesSlide" Target="/ppt/notesSlides/notesSlide8.xml" Id="R8d776996de0748e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Top 10% of products</c:v>
          </c:tx>
          <c:spPr>
            <a:solidFill xmlns:a="http://schemas.openxmlformats.org/drawingml/2006/main">
              <a:srgbClr val="2563EB"/>
            </a:solidFill>
          </c:spPr>
          <c:cat>
            <c:strRef>
              <c:f>'Chart Data'!$A$2:$A$2</c:f>
              <c:strCache>
                <c:ptCount val="1"/>
                <c:pt idx="0">
                  <c:v>Net profit</c:v>
                </c:pt>
              </c:strCache>
            </c:strRef>
          </c:cat>
          <c:val>
            <c:numRef>
              <c:f>'Chart Data'!$B$2:$B$2</c:f>
              <c:numCache>
                <c:formatCode>0.0%</c:formatCode>
                <c:ptCount val="1"/>
                <c:pt idx="0">
                  <c:v>0.839</c:v>
                </c:pt>
              </c:numCache>
            </c:numRef>
          </c:val>
        </c:ser>
        <c:ser>
          <c:idx val="1"/>
          <c:order val="1"/>
          <c:tx>
            <c:v>Remaining 90%</c:v>
          </c:tx>
          <c:spPr>
            <a:solidFill xmlns:a="http://schemas.openxmlformats.org/drawingml/2006/main">
              <a:srgbClr val="CBD5E1"/>
            </a:solidFill>
          </c:spPr>
          <c:cat>
            <c:strRef>
              <c:f>'Chart Data'!$C$2:$C$2</c:f>
              <c:strCache>
                <c:ptCount val="1"/>
                <c:pt idx="0">
                  <c:v>Net profit</c:v>
                </c:pt>
              </c:strCache>
            </c:strRef>
          </c:cat>
          <c:val>
            <c:numRef>
              <c:f>'Chart Data'!$D$2:$D$2</c:f>
              <c:numCache>
                <c:formatCode>0.0%</c:formatCode>
                <c:ptCount val="1"/>
                <c:pt idx="0">
                  <c:v>0.161</c:v>
                </c:pt>
              </c:numCache>
            </c:numRef>
          </c:val>
        </c:ser>
        <c:dLbls>
          <c:txPr>
            <a:bodyPr xmlns:a="http://schemas.openxmlformats.org/drawingml/2006/main" anchorCtr="1"/>
            <a:lstStyle xmlns:a="http://schemas.openxmlformats.org/drawingml/2006/main"/>
            <a:p xmlns:a="http://schemas.openxmlformats.org/drawingml/2006/main">
              <a:pPr>
                <a:defRPr sz="1425" b="1">
                  <a:solidFill>
                    <a:srgbClr val="111827"/>
                  </a:solidFill>
                  <a:latin typeface="Arial"/>
                  <a:ea typeface="Arial"/>
                  <a:cs typeface="Arial"/>
                </a:defRPr>
              </a:pPr>
            </a:p>
          </c:txPr>
          <c:dLblPos val="ctr"/>
          <c:showLegendKey val="0"/>
          <c:showVal val="1"/>
          <c:showCatName val="0"/>
          <c:showSerName val="0"/>
          <c:showPercent val="0"/>
          <c:showBubbleSize val="0"/>
          <c:showLeaderLines val="0"/>
        </c:dLbls>
        <c:gapWidth val="20"/>
        <c:overlap val="100"/>
        <c:axId val="48650112"/>
        <c:axId val="48672768"/>
      </c:barChart>
      <c:catAx>
        <c:axId val="48650112"/>
        <c:scaling>
          <c:orientation val="minMax"/>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4B5563"/>
                </a:solidFill>
                <a:latin typeface="Arial"/>
                <a:ea typeface="Arial"/>
                <a:cs typeface="Arial"/>
              </a:defRPr>
            </a:pPr>
          </a:p>
        </c:txPr>
        <c:crossAx val="48672768"/>
      </c:catAx>
      <c:valAx>
        <c:axId val="48672768"/>
        <c:scaling>
          <c:orientation val="minMax"/>
          <c:max val="1"/>
          <c:min val="0"/>
        </c:scaling>
        <c:delete val="0"/>
        <c:axPos val="b"/>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4B5563"/>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B5563"/>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Stable Core</c:v>
          </c:tx>
          <c:spPr>
            <a:solidFill xmlns:a="http://schemas.openxmlformats.org/drawingml/2006/main">
              <a:srgbClr val="2563EB"/>
            </a:solidFill>
          </c:spPr>
          <c:dLbls>
            <c:dLbl>
              <c:idx val="0"/>
              <c:txPr>
                <a:bodyPr xmlns:a="http://schemas.openxmlformats.org/drawingml/2006/main" anchorCtr="1"/>
                <a:lstStyle xmlns:a="http://schemas.openxmlformats.org/drawingml/2006/main"/>
                <a:p xmlns:a="http://schemas.openxmlformats.org/drawingml/2006/main">
                  <a:pPr>
                    <a:defRPr sz="90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Realised loss</c:v>
                </c:pt>
                <c:pt idx="1">
                  <c:v>Net profit</c:v>
                </c:pt>
                <c:pt idx="2">
                  <c:v>Products</c:v>
                </c:pt>
              </c:strCache>
            </c:strRef>
          </c:cat>
          <c:val>
            <c:numRef>
              <c:f>'Chart Data'!$B$2:$B$4</c:f>
              <c:numCache>
                <c:formatCode>0.0%</c:formatCode>
                <c:ptCount val="3"/>
                <c:pt idx="0">
                  <c:v>0.044</c:v>
                </c:pt>
                <c:pt idx="1">
                  <c:v>0.347</c:v>
                </c:pt>
                <c:pt idx="2">
                  <c:v>0.532</c:v>
                </c:pt>
              </c:numCache>
            </c:numRef>
          </c:val>
        </c:ser>
        <c:ser>
          <c:idx val="1"/>
          <c:order val="1"/>
          <c:tx>
            <c:v>Control Pressure</c:v>
          </c:tx>
          <c:spPr>
            <a:solidFill xmlns:a="http://schemas.openxmlformats.org/drawingml/2006/main">
              <a:srgbClr val="E59A17"/>
            </a:solidFill>
          </c:spPr>
          <c:dLbls>
            <c:dLbl>
              <c:idx val="0"/>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Data'!$C$2:$C$4</c:f>
              <c:strCache>
                <c:ptCount val="3"/>
                <c:pt idx="0">
                  <c:v>Realised loss</c:v>
                </c:pt>
                <c:pt idx="1">
                  <c:v>Net profit</c:v>
                </c:pt>
                <c:pt idx="2">
                  <c:v>Products</c:v>
                </c:pt>
              </c:strCache>
            </c:strRef>
          </c:cat>
          <c:val>
            <c:numRef>
              <c:f>'Chart Data'!$D$2:$D$4</c:f>
              <c:numCache>
                <c:formatCode>0.0%</c:formatCode>
                <c:ptCount val="3"/>
                <c:pt idx="0">
                  <c:v>0.086</c:v>
                </c:pt>
                <c:pt idx="1">
                  <c:v>0.235</c:v>
                </c:pt>
                <c:pt idx="2">
                  <c:v>0.148</c:v>
                </c:pt>
              </c:numCache>
            </c:numRef>
          </c:val>
        </c:ser>
        <c:ser>
          <c:idx val="2"/>
          <c:order val="2"/>
          <c:tx>
            <c:v>Action Mismatch</c:v>
          </c:tx>
          <c:spPr>
            <a:solidFill xmlns:a="http://schemas.openxmlformats.org/drawingml/2006/main">
              <a:srgbClr val="D94A50"/>
            </a:solidFill>
          </c:spPr>
          <c:dLbls>
            <c:dLbl>
              <c:idx val="0"/>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Data'!$E$2:$E$4</c:f>
              <c:strCache>
                <c:ptCount val="3"/>
                <c:pt idx="0">
                  <c:v>Realised loss</c:v>
                </c:pt>
                <c:pt idx="1">
                  <c:v>Net profit</c:v>
                </c:pt>
                <c:pt idx="2">
                  <c:v>Products</c:v>
                </c:pt>
              </c:strCache>
            </c:strRef>
          </c:cat>
          <c:val>
            <c:numRef>
              <c:f>'Chart Data'!$F$2:$F$4</c:f>
              <c:numCache>
                <c:formatCode>0.0%</c:formatCode>
                <c:ptCount val="3"/>
                <c:pt idx="0">
                  <c:v>0.831</c:v>
                </c:pt>
                <c:pt idx="1">
                  <c:v>0.404</c:v>
                </c:pt>
                <c:pt idx="2">
                  <c:v>0.299</c:v>
                </c:pt>
              </c:numCache>
            </c:numRef>
          </c:val>
        </c:ser>
        <c:ser>
          <c:idx val="3"/>
          <c:order val="3"/>
          <c:tx>
            <c:v>Structural Ambiguity</c:v>
          </c:tx>
          <c:spPr>
            <a:solidFill xmlns:a="http://schemas.openxmlformats.org/drawingml/2006/main">
              <a:srgbClr val="7C3AED"/>
            </a:solidFill>
          </c:spPr>
          <c:dLbls>
            <c:dLbl>
              <c:idx val="0"/>
              <c:txPr>
                <a:bodyPr xmlns:a="http://schemas.openxmlformats.org/drawingml/2006/main" anchorCtr="1"/>
                <a:lstStyle xmlns:a="http://schemas.openxmlformats.org/drawingml/2006/main"/>
                <a:p xmlns:a="http://schemas.openxmlformats.org/drawingml/2006/main">
                  <a:pPr>
                    <a:defRPr sz="90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900" b="1">
                      <a:solidFill>
                        <a:srgbClr val="FFFFFF"/>
                      </a:solidFill>
                      <a:latin typeface="Arial"/>
                      <a:ea typeface="Arial"/>
                      <a:cs typeface="Arial"/>
                    </a:defRPr>
                  </a:pPr>
                </a:p>
              </c:txPr>
              <c:dLblPos val="ctr"/>
              <c:showLegendKey val="0"/>
              <c:showVal val="0"/>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900" b="1">
                      <a:solidFill>
                        <a:srgbClr val="FFFFFF"/>
                      </a:solidFill>
                      <a:latin typeface="Arial"/>
                      <a:ea typeface="Arial"/>
                      <a:cs typeface="Arial"/>
                    </a:defRPr>
                  </a:pPr>
                </a:p>
              </c:txPr>
              <c:dLblPos val="ctr"/>
              <c:showLegendKey val="0"/>
              <c:showVal val="0"/>
              <c:showCatName val="0"/>
              <c:showSerName val="0"/>
              <c:showPercent val="0"/>
              <c:showBubbleSize val="0"/>
            </c:dLbl>
          </c:dLbls>
          <c:cat>
            <c:strRef>
              <c:f>'Chart Data'!$G$2:$G$4</c:f>
              <c:strCache>
                <c:ptCount val="3"/>
                <c:pt idx="0">
                  <c:v>Realised loss</c:v>
                </c:pt>
                <c:pt idx="1">
                  <c:v>Net profit</c:v>
                </c:pt>
                <c:pt idx="2">
                  <c:v>Products</c:v>
                </c:pt>
              </c:strCache>
            </c:strRef>
          </c:cat>
          <c:val>
            <c:numRef>
              <c:f>'Chart Data'!$H$2:$H$4</c:f>
              <c:numCache>
                <c:formatCode>0.0%</c:formatCode>
                <c:ptCount val="3"/>
                <c:pt idx="0">
                  <c:v>0.039</c:v>
                </c:pt>
                <c:pt idx="1">
                  <c:v>0.014</c:v>
                </c:pt>
                <c:pt idx="2">
                  <c:v>0.021</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FFFFFF"/>
                  </a:solidFill>
                  <a:latin typeface="Arial"/>
                  <a:ea typeface="Arial"/>
                  <a:cs typeface="Arial"/>
                </a:defRPr>
              </a:pPr>
            </a:p>
          </c:txPr>
          <c:dLblPos val="ctr"/>
          <c:showLegendKey val="0"/>
          <c:showVal val="0"/>
          <c:showCatName val="0"/>
          <c:showSerName val="0"/>
          <c:showPercent val="0"/>
          <c:showBubbleSize val="0"/>
          <c:showLeaderLines val="0"/>
        </c:dLbls>
        <c:gapWidth val="60"/>
        <c:overlap val="100"/>
        <c:axId val="48650112"/>
        <c:axId val="48672768"/>
      </c:barChart>
      <c:catAx>
        <c:axId val="48650112"/>
        <c:scaling>
          <c:orientation val="minMax"/>
        </c:scaling>
        <c:delete val="0"/>
        <c:axPos val="l"/>
        <c:numFmt formatCode="General"/>
        <c:majorTickMark val="none"/>
        <c:minorTickMark val="none"/>
        <c:tickLblPos val="nextTo"/>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4B5563"/>
                </a:solidFill>
                <a:latin typeface="Arial"/>
                <a:ea typeface="Arial"/>
                <a:cs typeface="Arial"/>
              </a:defRPr>
            </a:pPr>
          </a:p>
        </c:txPr>
        <c:crossAx val="48672768"/>
      </c:catAx>
      <c:valAx>
        <c:axId val="48672768"/>
        <c:scaling>
          <c:orientation val="minMax"/>
          <c:max val="1"/>
          <c:min val="0"/>
        </c:scaling>
        <c:delete val="0"/>
        <c:axPos val="b"/>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4B5563"/>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Routine</c:v>
          </c:tx>
          <c:spPr>
            <a:solidFill xmlns:a="http://schemas.openxmlformats.org/drawingml/2006/main">
              <a:srgbClr val="E2E8F0"/>
            </a:solidFill>
          </c:spPr>
          <c:dLbls>
            <c:dLbl>
              <c:idx val="0"/>
              <c:tx>
                <c:rich>
                  <a:bodyPr xmlns:a="http://schemas.openxmlformats.org/drawingml/2006/main"/>
                  <a:lstStyle xmlns:a="http://schemas.openxmlformats.org/drawingml/2006/main"/>
                  <a:p xmlns:a="http://schemas.openxmlformats.org/drawingml/2006/main">
                    <a:r>
                      <a:rPr sz="1050" b="1">
                        <a:solidFill>
                          <a:srgbClr val="111827"/>
                        </a:solidFill>
                        <a:latin typeface="Arial"/>
                        <a:ea typeface="Arial"/>
                        <a:cs typeface="Arial"/>
                      </a:rPr>
                      <a:t>49.7% Routine</a:t>
                    </a:r>
                  </a:p>
                </c:rich>
              </c:tx>
              <c:txPr>
                <a:bodyPr xmlns:a="http://schemas.openxmlformats.org/drawingml/2006/main" anchorCtr="1"/>
                <a:lstStyle xmlns:a="http://schemas.openxmlformats.org/drawingml/2006/main"/>
                <a:p xmlns:a="http://schemas.openxmlformats.org/drawingml/2006/main">
                  <a:pPr>
                    <a:defRPr sz="1050" b="1">
                      <a:solidFill>
                        <a:srgbClr val="111827"/>
                      </a:solidFill>
                      <a:latin typeface="Arial"/>
                      <a:ea typeface="Arial"/>
                      <a:cs typeface="Arial"/>
                    </a:defRPr>
                  </a:pPr>
                </a:p>
              </c:txPr>
              <c:dLblPos val="ctr"/>
              <c:showLegendKey val="0"/>
              <c:showVal val="1"/>
              <c:showCatName val="0"/>
              <c:showSerName val="0"/>
              <c:showPercent val="0"/>
              <c:showBubbleSize val="0"/>
            </c:dLbl>
          </c:dLbls>
          <c:cat>
            <c:strRef>
              <c:f>'Chart Data'!$A$2:$A$2</c:f>
              <c:strCache>
                <c:ptCount val="1"/>
                <c:pt idx="0">
                  <c:v>Product share</c:v>
                </c:pt>
              </c:strCache>
            </c:strRef>
          </c:cat>
          <c:val>
            <c:numRef>
              <c:f>'Chart Data'!$B$2:$B$2</c:f>
              <c:numCache>
                <c:formatCode>0.0%</c:formatCode>
                <c:ptCount val="1"/>
                <c:pt idx="0">
                  <c:v>0.497</c:v>
                </c:pt>
              </c:numCache>
            </c:numRef>
          </c:val>
        </c:ser>
        <c:ser>
          <c:idx val="1"/>
          <c:order val="1"/>
          <c:tx>
            <c:v>Misaligned Upside</c:v>
          </c:tx>
          <c:spPr>
            <a:solidFill xmlns:a="http://schemas.openxmlformats.org/drawingml/2006/main">
              <a:srgbClr val="1687A7"/>
            </a:solidFill>
          </c:spPr>
          <c:dLbls>
            <c:dLbl>
              <c:idx val="0"/>
              <c:txPr>
                <a:bodyPr xmlns:a="http://schemas.openxmlformats.org/drawingml/2006/main" anchorCtr="1"/>
                <a:lstStyle xmlns:a="http://schemas.openxmlformats.org/drawingml/2006/main"/>
                <a:p xmlns:a="http://schemas.openxmlformats.org/drawingml/2006/main">
                  <a:pPr>
                    <a:defRPr sz="825"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Data'!$C$2:$C$2</c:f>
              <c:strCache>
                <c:ptCount val="1"/>
                <c:pt idx="0">
                  <c:v>Product share</c:v>
                </c:pt>
              </c:strCache>
            </c:strRef>
          </c:cat>
          <c:val>
            <c:numRef>
              <c:f>'Chart Data'!$D$2:$D$2</c:f>
              <c:numCache>
                <c:formatCode>0.0%</c:formatCode>
                <c:ptCount val="1"/>
                <c:pt idx="0">
                  <c:v>0.042</c:v>
                </c:pt>
              </c:numCache>
            </c:numRef>
          </c:val>
        </c:ser>
        <c:ser>
          <c:idx val="2"/>
          <c:order val="2"/>
          <c:tx>
            <c:v>Fragile Value</c:v>
          </c:tx>
          <c:spPr>
            <a:solidFill xmlns:a="http://schemas.openxmlformats.org/drawingml/2006/main">
              <a:srgbClr val="E59A17"/>
            </a:solidFill>
          </c:spPr>
          <c:dLbls>
            <c:dLbl>
              <c:idx val="0"/>
              <c:txPr>
                <a:bodyPr xmlns:a="http://schemas.openxmlformats.org/drawingml/2006/main" anchorCtr="1"/>
                <a:lstStyle xmlns:a="http://schemas.openxmlformats.org/drawingml/2006/main"/>
                <a:p xmlns:a="http://schemas.openxmlformats.org/drawingml/2006/main">
                  <a:pPr>
                    <a:defRPr sz="1050"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Data'!$E$2:$E$2</c:f>
              <c:strCache>
                <c:ptCount val="1"/>
                <c:pt idx="0">
                  <c:v>Product share</c:v>
                </c:pt>
              </c:strCache>
            </c:strRef>
          </c:cat>
          <c:val>
            <c:numRef>
              <c:f>'Chart Data'!$F$2:$F$2</c:f>
              <c:numCache>
                <c:formatCode>0.0%</c:formatCode>
                <c:ptCount val="1"/>
                <c:pt idx="0">
                  <c:v>0.086</c:v>
                </c:pt>
              </c:numCache>
            </c:numRef>
          </c:val>
        </c:ser>
        <c:ser>
          <c:idx val="3"/>
          <c:order val="3"/>
          <c:tx>
            <c:v>Broken Value</c:v>
          </c:tx>
          <c:spPr>
            <a:solidFill xmlns:a="http://schemas.openxmlformats.org/drawingml/2006/main">
              <a:srgbClr val="D94A50"/>
            </a:solidFill>
          </c:spPr>
          <c:dLbls>
            <c:dLbl>
              <c:idx val="0"/>
              <c:txPr>
                <a:bodyPr xmlns:a="http://schemas.openxmlformats.org/drawingml/2006/main" anchorCtr="1"/>
                <a:lstStyle xmlns:a="http://schemas.openxmlformats.org/drawingml/2006/main"/>
                <a:p xmlns:a="http://schemas.openxmlformats.org/drawingml/2006/main">
                  <a:pPr>
                    <a:defRPr sz="1050"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Data'!$G$2:$G$2</c:f>
              <c:strCache>
                <c:ptCount val="1"/>
                <c:pt idx="0">
                  <c:v>Product share</c:v>
                </c:pt>
              </c:strCache>
            </c:strRef>
          </c:cat>
          <c:val>
            <c:numRef>
              <c:f>'Chart Data'!$H$2:$H$2</c:f>
              <c:numCache>
                <c:formatCode>0.0%</c:formatCode>
                <c:ptCount val="1"/>
                <c:pt idx="0">
                  <c:v>0.083</c:v>
                </c:pt>
              </c:numCache>
            </c:numRef>
          </c:val>
        </c:ser>
        <c:ser>
          <c:idx val="4"/>
          <c:order val="4"/>
          <c:tx>
            <c:v>Defendable Value</c:v>
          </c:tx>
          <c:spPr>
            <a:solidFill xmlns:a="http://schemas.openxmlformats.org/drawingml/2006/main">
              <a:srgbClr val="3B9669"/>
            </a:solidFill>
          </c:spPr>
          <c:dLbls>
            <c:dLbl>
              <c:idx val="0"/>
              <c:txPr>
                <a:bodyPr xmlns:a="http://schemas.openxmlformats.org/drawingml/2006/main" anchorCtr="1"/>
                <a:lstStyle xmlns:a="http://schemas.openxmlformats.org/drawingml/2006/main"/>
                <a:p xmlns:a="http://schemas.openxmlformats.org/drawingml/2006/main">
                  <a:pPr>
                    <a:defRPr sz="1050"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Data'!$I$2:$I$2</c:f>
              <c:strCache>
                <c:ptCount val="1"/>
                <c:pt idx="0">
                  <c:v>Product share</c:v>
                </c:pt>
              </c:strCache>
            </c:strRef>
          </c:cat>
          <c:val>
            <c:numRef>
              <c:f>'Chart Data'!$J$2:$J$2</c:f>
              <c:numCache>
                <c:formatCode>0.0%</c:formatCode>
                <c:ptCount val="1"/>
                <c:pt idx="0">
                  <c:v>0.124</c:v>
                </c:pt>
              </c:numCache>
            </c:numRef>
          </c:val>
        </c:ser>
        <c:ser>
          <c:idx val="5"/>
          <c:order val="5"/>
          <c:tx>
            <c:v>Watchlist</c:v>
          </c:tx>
          <c:spPr>
            <a:solidFill xmlns:a="http://schemas.openxmlformats.org/drawingml/2006/main">
              <a:srgbClr val="718096"/>
            </a:solidFill>
          </c:spPr>
          <c:dLbls>
            <c:dLbl>
              <c:idx val="0"/>
              <c:txPr>
                <a:bodyPr xmlns:a="http://schemas.openxmlformats.org/drawingml/2006/main" anchorCtr="1"/>
                <a:lstStyle xmlns:a="http://schemas.openxmlformats.org/drawingml/2006/main"/>
                <a:p xmlns:a="http://schemas.openxmlformats.org/drawingml/2006/main">
                  <a:pPr>
                    <a:defRPr sz="1050"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Data'!$K$2:$K$2</c:f>
              <c:strCache>
                <c:ptCount val="1"/>
                <c:pt idx="0">
                  <c:v>Product share</c:v>
                </c:pt>
              </c:strCache>
            </c:strRef>
          </c:cat>
          <c:val>
            <c:numRef>
              <c:f>'Chart Data'!$L$2:$L$2</c:f>
              <c:numCache>
                <c:formatCode>0.0%</c:formatCode>
                <c:ptCount val="1"/>
                <c:pt idx="0">
                  <c:v>0.168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4B5563"/>
                </a:solidFill>
                <a:latin typeface="Arial"/>
                <a:ea typeface="Arial"/>
                <a:cs typeface="Arial"/>
              </a:defRPr>
            </a:pPr>
          </a:p>
        </c:txPr>
        <c:crossAx val="48672768"/>
      </c:catAx>
      <c:valAx>
        <c:axId val="48672768"/>
        <c:scaling>
          <c:orientation val="minMax"/>
          <c:max val="1"/>
          <c:min val="0"/>
        </c:scaling>
        <c:delete val="0"/>
        <c:axPos val="b"/>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4B5563"/>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8" name="text-1">
            <a:extLst xmlns:a="http://schemas.openxmlformats.org/drawingml/2006/main">
              <a:ext uri="{FF2B5EF4-FFF2-40B4-BE49-F238E27FC236}">
                <a16:creationId xmlns:a16="http://schemas.microsoft.com/office/drawing/2014/main" id="{192C327D-3DB8-461E-BAF7-3BA57F16370D}"/>
              </a:ext>
            </a:extLst>
          </p:cNvPr>
          <p:cNvSpPr>
            <a:spLocks xmlns:a="http://schemas.openxmlformats.org/drawingml/2006/main" noGrp="1"/>
          </p:cNvSpPr>
          <p:nvPr/>
        </p:nvSpPr>
        <p:spPr>
          <a:xfrm xmlns:a="http://schemas.openxmlformats.org/drawingml/2006/main">
            <a:off x="609600" y="14192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30-SECOND EXECUTIVE READ</a:t>
            </a:r>
          </a:p>
        </p:txBody>
      </p:sp>
      <p:sp>
        <p:nvSpPr>
          <p:cNvPr id="2" name="text-2">
            <a:extLst xmlns:a="http://schemas.openxmlformats.org/drawingml/2006/main">
              <a:ext uri="{FF2B5EF4-FFF2-40B4-BE49-F238E27FC236}">
                <a16:creationId xmlns:a16="http://schemas.microsoft.com/office/drawing/2014/main" id="{DBD35F14-DDE6-4881-A317-1AA07F295A8B}"/>
              </a:ext>
            </a:extLst>
          </p:cNvPr>
          <p:cNvSpPr>
            <a:spLocks xmlns:a="http://schemas.openxmlformats.org/drawingml/2006/main" noGrp="1"/>
          </p:cNvSpPr>
          <p:nvPr/>
        </p:nvSpPr>
        <p:spPr>
          <a:xfrm xmlns:a="http://schemas.openxmlformats.org/drawingml/2006/main">
            <a:off x="609600" y="1647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11827"/>
                </a:solidFill>
                <a:latin typeface="Arial"/>
                <a:ea typeface="Arial"/>
                <a:cs typeface="Arial"/>
              </a:defRPr>
            </a:pPr>
            <a:r>
              <a:rPr sz="2550" b="1">
                <a:solidFill>
                  <a:srgbClr val="111827"/>
                </a:solidFill>
                <a:latin typeface="Arial"/>
                <a:ea typeface="Arial"/>
                <a:cs typeface="Arial"/>
              </a:rPr>
              <a:t>Profit Is Concentrated. Attention Can Be Focused.</a:t>
            </a:r>
          </a:p>
        </p:txBody>
      </p:sp>
      <p:sp>
        <p:nvSpPr>
          <p:cNvPr id="3" name="text-3">
            <a:extLst xmlns:a="http://schemas.openxmlformats.org/drawingml/2006/main">
              <a:ext uri="{FF2B5EF4-FFF2-40B4-BE49-F238E27FC236}">
                <a16:creationId xmlns:a16="http://schemas.microsoft.com/office/drawing/2014/main" id="{01600A7D-4960-4414-8B92-4B71F8D4DC8D}"/>
              </a:ext>
            </a:extLst>
          </p:cNvPr>
          <p:cNvSpPr>
            <a:spLocks xmlns:a="http://schemas.openxmlformats.org/drawingml/2006/main" noGrp="1"/>
          </p:cNvSpPr>
          <p:nvPr/>
        </p:nvSpPr>
        <p:spPr>
          <a:xfrm xmlns:a="http://schemas.openxmlformats.org/drawingml/2006/main">
            <a:off x="609600" y="215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€286.4K net profit across 1,894 products. A small value engine supports the result, while losses concentrate elsewhere.</a:t>
            </a:r>
          </a:p>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606 products need an action or classification review. The first management wave covers 401 cases.</a:t>
            </a:r>
          </a:p>
        </p:txBody>
      </p:sp>
      <p:sp>
        <p:nvSpPr>
          <p:cNvPr id="4" name="rule-4">
            <a:extLst xmlns:a="http://schemas.openxmlformats.org/drawingml/2006/main">
              <a:ext uri="{FF2B5EF4-FFF2-40B4-BE49-F238E27FC236}">
                <a16:creationId xmlns:a16="http://schemas.microsoft.com/office/drawing/2014/main" id="{39173DBA-558E-45CA-A17F-DBA21038F212}"/>
              </a:ext>
            </a:extLst>
          </p:cNvPr>
          <p:cNvSpPr>
            <a:spLocks xmlns:a="http://schemas.openxmlformats.org/drawingml/2006/main" noGrp="1"/>
          </p:cNvSpPr>
          <p:nvPr/>
        </p:nvSpPr>
        <p:spPr>
          <a:xfrm xmlns:a="http://schemas.openxmlformats.org/drawingml/2006/main">
            <a:off x="619125" y="2895600"/>
            <a:ext cx="10953750" cy="0"/>
          </a:xfrm>
          <a:prstGeom xmlns:a="http://schemas.openxmlformats.org/drawingml/2006/main" prst="line">
            <a:avLst/>
          </a:prstGeom>
          <a:noFill xmlns:a="http://schemas.openxmlformats.org/drawingml/2006/main"/>
          <a:ln xmlns:a="http://schemas.openxmlformats.org/drawingml/2006/main" w="11430">
            <a:solidFill>
              <a:srgbClr val="DDE3EA"/>
            </a:solidFill>
          </a:ln>
        </p:spPr>
      </p:sp>
      <p:sp>
        <p:nvSpPr>
          <p:cNvPr id="5" name="text-5">
            <a:extLst xmlns:a="http://schemas.openxmlformats.org/drawingml/2006/main">
              <a:ext uri="{FF2B5EF4-FFF2-40B4-BE49-F238E27FC236}">
                <a16:creationId xmlns:a16="http://schemas.microsoft.com/office/drawing/2014/main" id="{6D74E988-91E1-473F-8684-1F43BCD7456D}"/>
              </a:ext>
            </a:extLst>
          </p:cNvPr>
          <p:cNvSpPr>
            <a:spLocks xmlns:a="http://schemas.openxmlformats.org/drawingml/2006/main" noGrp="1"/>
          </p:cNvSpPr>
          <p:nvPr/>
        </p:nvSpPr>
        <p:spPr>
          <a:xfrm xmlns:a="http://schemas.openxmlformats.org/drawingml/2006/main">
            <a:off x="619125" y="303847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THE PORTFOLIO SIGNAL IN FOUR NUMBERS</a:t>
            </a:r>
          </a:p>
        </p:txBody>
      </p:sp>
      <p:sp>
        <p:nvSpPr>
          <p:cNvPr id="6" name="surface-6">
            <a:extLst xmlns:a="http://schemas.openxmlformats.org/drawingml/2006/main">
              <a:ext uri="{FF2B5EF4-FFF2-40B4-BE49-F238E27FC236}">
                <a16:creationId xmlns:a16="http://schemas.microsoft.com/office/drawing/2014/main" id="{FAB6C05F-5652-4066-A72E-8A0F49C8FBE8}"/>
              </a:ext>
            </a:extLst>
          </p:cNvPr>
          <p:cNvSpPr>
            <a:spLocks xmlns:a="http://schemas.openxmlformats.org/drawingml/2006/main" noGrp="1"/>
          </p:cNvSpPr>
          <p:nvPr/>
        </p:nvSpPr>
        <p:spPr>
          <a:xfrm xmlns:a="http://schemas.openxmlformats.org/drawingml/2006/main">
            <a:off x="619125" y="3248025"/>
            <a:ext cx="2543175" cy="1085850"/>
          </a:xfrm>
          <a:prstGeom xmlns:a="http://schemas.openxmlformats.org/drawingml/2006/main" prst="roundRect">
            <a:avLst>
              <a:gd name="adj" fmla="val 11404"/>
            </a:avLst>
          </a:prstGeom>
          <a:solidFill xmlns:a="http://schemas.openxmlformats.org/drawingml/2006/main">
            <a:srgbClr val="EFF6FF"/>
          </a:solidFill>
          <a:ln xmlns:a="http://schemas.openxmlformats.org/drawingml/2006/main" w="14288">
            <a:solidFill>
              <a:srgbClr val="2563EB"/>
            </a:solidFill>
          </a:ln>
        </p:spPr>
      </p:sp>
      <p:sp>
        <p:nvSpPr>
          <p:cNvPr id="7" name="text-7">
            <a:extLst xmlns:a="http://schemas.openxmlformats.org/drawingml/2006/main">
              <a:ext uri="{FF2B5EF4-FFF2-40B4-BE49-F238E27FC236}">
                <a16:creationId xmlns:a16="http://schemas.microsoft.com/office/drawing/2014/main" id="{D2971F70-D186-4D71-9F6C-C35F1131673B}"/>
              </a:ext>
            </a:extLst>
          </p:cNvPr>
          <p:cNvSpPr>
            <a:spLocks xmlns:a="http://schemas.openxmlformats.org/drawingml/2006/main" noGrp="1"/>
          </p:cNvSpPr>
          <p:nvPr/>
        </p:nvSpPr>
        <p:spPr>
          <a:xfrm xmlns:a="http://schemas.openxmlformats.org/drawingml/2006/main">
            <a:off x="733425" y="3409950"/>
            <a:ext cx="2314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8" b="1">
                <a:solidFill>
                  <a:srgbClr val="718096"/>
                </a:solidFill>
                <a:latin typeface="Arial"/>
                <a:ea typeface="Arial"/>
                <a:cs typeface="Arial"/>
              </a:defRPr>
            </a:pPr>
            <a:r>
              <a:rPr sz="1088" b="1">
                <a:solidFill>
                  <a:srgbClr val="718096"/>
                </a:solidFill>
                <a:latin typeface="Arial"/>
                <a:ea typeface="Arial"/>
                <a:cs typeface="Arial"/>
              </a:rPr>
              <a:t>NET PROFIT</a:t>
            </a:r>
          </a:p>
        </p:txBody>
      </p:sp>
      <p:sp>
        <p:nvSpPr>
          <p:cNvPr id="8" name="text-8">
            <a:extLst xmlns:a="http://schemas.openxmlformats.org/drawingml/2006/main">
              <a:ext uri="{FF2B5EF4-FFF2-40B4-BE49-F238E27FC236}">
                <a16:creationId xmlns:a16="http://schemas.microsoft.com/office/drawing/2014/main" id="{FE0D8B58-3B41-4DEE-AF9E-E25A55485B09}"/>
              </a:ext>
            </a:extLst>
          </p:cNvPr>
          <p:cNvSpPr>
            <a:spLocks xmlns:a="http://schemas.openxmlformats.org/drawingml/2006/main" noGrp="1"/>
          </p:cNvSpPr>
          <p:nvPr/>
        </p:nvSpPr>
        <p:spPr>
          <a:xfrm xmlns:a="http://schemas.openxmlformats.org/drawingml/2006/main">
            <a:off x="733425" y="3657600"/>
            <a:ext cx="2314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2563EB"/>
                </a:solidFill>
                <a:latin typeface="Arial"/>
                <a:ea typeface="Arial"/>
                <a:cs typeface="Arial"/>
              </a:defRPr>
            </a:pPr>
            <a:r>
              <a:rPr sz="2400" b="1">
                <a:solidFill>
                  <a:srgbClr val="2563EB"/>
                </a:solidFill>
                <a:latin typeface="Arial"/>
                <a:ea typeface="Arial"/>
                <a:cs typeface="Arial"/>
              </a:rPr>
              <a:t>€286.4K</a:t>
            </a:r>
          </a:p>
        </p:txBody>
      </p:sp>
      <p:sp>
        <p:nvSpPr>
          <p:cNvPr id="9" name="text-9">
            <a:extLst xmlns:a="http://schemas.openxmlformats.org/drawingml/2006/main">
              <a:ext uri="{FF2B5EF4-FFF2-40B4-BE49-F238E27FC236}">
                <a16:creationId xmlns:a16="http://schemas.microsoft.com/office/drawing/2014/main" id="{5F216F30-EF61-4289-A3E8-C20A9729AEBC}"/>
              </a:ext>
            </a:extLst>
          </p:cNvPr>
          <p:cNvSpPr>
            <a:spLocks xmlns:a="http://schemas.openxmlformats.org/drawingml/2006/main" noGrp="1"/>
          </p:cNvSpPr>
          <p:nvPr/>
        </p:nvSpPr>
        <p:spPr>
          <a:xfrm xmlns:a="http://schemas.openxmlformats.org/drawingml/2006/main">
            <a:off x="714375" y="4067175"/>
            <a:ext cx="2352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4B5563"/>
                </a:solidFill>
                <a:latin typeface="Arial"/>
                <a:ea typeface="Arial"/>
                <a:cs typeface="Arial"/>
              </a:defRPr>
            </a:pPr>
            <a:r>
              <a:rPr sz="1125" b="0">
                <a:solidFill>
                  <a:srgbClr val="4B5563"/>
                </a:solidFill>
                <a:latin typeface="Arial"/>
                <a:ea typeface="Arial"/>
                <a:cs typeface="Arial"/>
              </a:rPr>
              <a:t>Across 1,894 products</a:t>
            </a:r>
          </a:p>
        </p:txBody>
      </p:sp>
      <p:sp>
        <p:nvSpPr>
          <p:cNvPr id="10" name="surface-10">
            <a:extLst xmlns:a="http://schemas.openxmlformats.org/drawingml/2006/main">
              <a:ext uri="{FF2B5EF4-FFF2-40B4-BE49-F238E27FC236}">
                <a16:creationId xmlns:a16="http://schemas.microsoft.com/office/drawing/2014/main" id="{7C306EFB-F108-42F8-90F1-FC2E80498214}"/>
              </a:ext>
            </a:extLst>
          </p:cNvPr>
          <p:cNvSpPr>
            <a:spLocks xmlns:a="http://schemas.openxmlformats.org/drawingml/2006/main" noGrp="1"/>
          </p:cNvSpPr>
          <p:nvPr/>
        </p:nvSpPr>
        <p:spPr>
          <a:xfrm xmlns:a="http://schemas.openxmlformats.org/drawingml/2006/main">
            <a:off x="3419475" y="3248025"/>
            <a:ext cx="2543175" cy="1085850"/>
          </a:xfrm>
          <a:prstGeom xmlns:a="http://schemas.openxmlformats.org/drawingml/2006/main" prst="roundRect">
            <a:avLst>
              <a:gd name="adj" fmla="val 11404"/>
            </a:avLst>
          </a:prstGeom>
          <a:solidFill xmlns:a="http://schemas.openxmlformats.org/drawingml/2006/main">
            <a:srgbClr val="FFF8E8"/>
          </a:solidFill>
          <a:ln xmlns:a="http://schemas.openxmlformats.org/drawingml/2006/main" w="14288">
            <a:solidFill>
              <a:srgbClr val="E59A17"/>
            </a:solidFill>
          </a:ln>
        </p:spPr>
      </p:sp>
      <p:sp>
        <p:nvSpPr>
          <p:cNvPr id="11" name="text-11">
            <a:extLst xmlns:a="http://schemas.openxmlformats.org/drawingml/2006/main">
              <a:ext uri="{FF2B5EF4-FFF2-40B4-BE49-F238E27FC236}">
                <a16:creationId xmlns:a16="http://schemas.microsoft.com/office/drawing/2014/main" id="{CB2A73AC-D882-494D-B40A-94D4DD9F6523}"/>
              </a:ext>
            </a:extLst>
          </p:cNvPr>
          <p:cNvSpPr>
            <a:spLocks xmlns:a="http://schemas.openxmlformats.org/drawingml/2006/main" noGrp="1"/>
          </p:cNvSpPr>
          <p:nvPr/>
        </p:nvSpPr>
        <p:spPr>
          <a:xfrm xmlns:a="http://schemas.openxmlformats.org/drawingml/2006/main">
            <a:off x="3533775" y="3409950"/>
            <a:ext cx="2314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8" b="1">
                <a:solidFill>
                  <a:srgbClr val="718096"/>
                </a:solidFill>
                <a:latin typeface="Arial"/>
                <a:ea typeface="Arial"/>
                <a:cs typeface="Arial"/>
              </a:defRPr>
            </a:pPr>
            <a:r>
              <a:rPr sz="1088" b="1">
                <a:solidFill>
                  <a:srgbClr val="718096"/>
                </a:solidFill>
                <a:latin typeface="Arial"/>
                <a:ea typeface="Arial"/>
                <a:cs typeface="Arial"/>
              </a:rPr>
              <a:t>VALUE ENGINE</a:t>
            </a:r>
          </a:p>
        </p:txBody>
      </p:sp>
      <p:sp>
        <p:nvSpPr>
          <p:cNvPr id="12" name="text-12">
            <a:extLst xmlns:a="http://schemas.openxmlformats.org/drawingml/2006/main">
              <a:ext uri="{FF2B5EF4-FFF2-40B4-BE49-F238E27FC236}">
                <a16:creationId xmlns:a16="http://schemas.microsoft.com/office/drawing/2014/main" id="{EB3BC08C-29C4-4954-BA9B-9699B0B90849}"/>
              </a:ext>
            </a:extLst>
          </p:cNvPr>
          <p:cNvSpPr>
            <a:spLocks xmlns:a="http://schemas.openxmlformats.org/drawingml/2006/main" noGrp="1"/>
          </p:cNvSpPr>
          <p:nvPr/>
        </p:nvSpPr>
        <p:spPr>
          <a:xfrm xmlns:a="http://schemas.openxmlformats.org/drawingml/2006/main">
            <a:off x="3533775" y="3657600"/>
            <a:ext cx="2314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E59A17"/>
                </a:solidFill>
                <a:latin typeface="Arial"/>
                <a:ea typeface="Arial"/>
                <a:cs typeface="Arial"/>
              </a:defRPr>
            </a:pPr>
            <a:r>
              <a:rPr sz="2400" b="1">
                <a:solidFill>
                  <a:srgbClr val="E59A17"/>
                </a:solidFill>
                <a:latin typeface="Arial"/>
                <a:ea typeface="Arial"/>
                <a:cs typeface="Arial"/>
              </a:rPr>
              <a:t>150 products</a:t>
            </a:r>
          </a:p>
        </p:txBody>
      </p:sp>
      <p:sp>
        <p:nvSpPr>
          <p:cNvPr id="13" name="text-13">
            <a:extLst xmlns:a="http://schemas.openxmlformats.org/drawingml/2006/main">
              <a:ext uri="{FF2B5EF4-FFF2-40B4-BE49-F238E27FC236}">
                <a16:creationId xmlns:a16="http://schemas.microsoft.com/office/drawing/2014/main" id="{AFCF2004-6411-413B-A5F7-638EC4487277}"/>
              </a:ext>
            </a:extLst>
          </p:cNvPr>
          <p:cNvSpPr>
            <a:spLocks xmlns:a="http://schemas.openxmlformats.org/drawingml/2006/main" noGrp="1"/>
          </p:cNvSpPr>
          <p:nvPr/>
        </p:nvSpPr>
        <p:spPr>
          <a:xfrm xmlns:a="http://schemas.openxmlformats.org/drawingml/2006/main">
            <a:off x="3514725" y="4067175"/>
            <a:ext cx="2352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4B5563"/>
                </a:solidFill>
                <a:latin typeface="Arial"/>
                <a:ea typeface="Arial"/>
                <a:cs typeface="Arial"/>
              </a:defRPr>
            </a:pPr>
            <a:r>
              <a:rPr sz="1125" b="0">
                <a:solidFill>
                  <a:srgbClr val="4B5563"/>
                </a:solidFill>
                <a:latin typeface="Arial"/>
                <a:ea typeface="Arial"/>
                <a:cs typeface="Arial"/>
              </a:rPr>
              <a:t>76% of net profit</a:t>
            </a:r>
          </a:p>
        </p:txBody>
      </p:sp>
      <p:sp>
        <p:nvSpPr>
          <p:cNvPr id="14" name="surface-14">
            <a:extLst xmlns:a="http://schemas.openxmlformats.org/drawingml/2006/main">
              <a:ext uri="{FF2B5EF4-FFF2-40B4-BE49-F238E27FC236}">
                <a16:creationId xmlns:a16="http://schemas.microsoft.com/office/drawing/2014/main" id="{9C536709-FA03-4B7F-B119-3BF7F884A380}"/>
              </a:ext>
            </a:extLst>
          </p:cNvPr>
          <p:cNvSpPr>
            <a:spLocks xmlns:a="http://schemas.openxmlformats.org/drawingml/2006/main" noGrp="1"/>
          </p:cNvSpPr>
          <p:nvPr/>
        </p:nvSpPr>
        <p:spPr>
          <a:xfrm xmlns:a="http://schemas.openxmlformats.org/drawingml/2006/main">
            <a:off x="6219825" y="3248025"/>
            <a:ext cx="2543175" cy="1085850"/>
          </a:xfrm>
          <a:prstGeom xmlns:a="http://schemas.openxmlformats.org/drawingml/2006/main" prst="roundRect">
            <a:avLst>
              <a:gd name="adj" fmla="val 11404"/>
            </a:avLst>
          </a:prstGeom>
          <a:solidFill xmlns:a="http://schemas.openxmlformats.org/drawingml/2006/main">
            <a:srgbClr val="FFF1F2"/>
          </a:solidFill>
          <a:ln xmlns:a="http://schemas.openxmlformats.org/drawingml/2006/main" w="14288">
            <a:solidFill>
              <a:srgbClr val="D94A50"/>
            </a:solidFill>
          </a:ln>
        </p:spPr>
      </p:sp>
      <p:sp>
        <p:nvSpPr>
          <p:cNvPr id="15" name="text-15">
            <a:extLst xmlns:a="http://schemas.openxmlformats.org/drawingml/2006/main">
              <a:ext uri="{FF2B5EF4-FFF2-40B4-BE49-F238E27FC236}">
                <a16:creationId xmlns:a16="http://schemas.microsoft.com/office/drawing/2014/main" id="{2D8862A7-9EF4-4D7F-80D0-A4C254E1EFF0}"/>
              </a:ext>
            </a:extLst>
          </p:cNvPr>
          <p:cNvSpPr>
            <a:spLocks xmlns:a="http://schemas.openxmlformats.org/drawingml/2006/main" noGrp="1"/>
          </p:cNvSpPr>
          <p:nvPr/>
        </p:nvSpPr>
        <p:spPr>
          <a:xfrm xmlns:a="http://schemas.openxmlformats.org/drawingml/2006/main">
            <a:off x="6334125" y="3409950"/>
            <a:ext cx="2314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8" b="1">
                <a:solidFill>
                  <a:srgbClr val="718096"/>
                </a:solidFill>
                <a:latin typeface="Arial"/>
                <a:ea typeface="Arial"/>
                <a:cs typeface="Arial"/>
              </a:defRPr>
            </a:pPr>
            <a:r>
              <a:rPr sz="1088" b="1">
                <a:solidFill>
                  <a:srgbClr val="718096"/>
                </a:solidFill>
                <a:latin typeface="Arial"/>
                <a:ea typeface="Arial"/>
                <a:cs typeface="Arial"/>
              </a:rPr>
              <a:t>BROKEN VALUE</a:t>
            </a:r>
          </a:p>
        </p:txBody>
      </p:sp>
      <p:sp>
        <p:nvSpPr>
          <p:cNvPr id="16" name="text-16">
            <a:extLst xmlns:a="http://schemas.openxmlformats.org/drawingml/2006/main">
              <a:ext uri="{FF2B5EF4-FFF2-40B4-BE49-F238E27FC236}">
                <a16:creationId xmlns:a16="http://schemas.microsoft.com/office/drawing/2014/main" id="{548A2B24-A380-4687-9994-3AB996990047}"/>
              </a:ext>
            </a:extLst>
          </p:cNvPr>
          <p:cNvSpPr>
            <a:spLocks xmlns:a="http://schemas.openxmlformats.org/drawingml/2006/main" noGrp="1"/>
          </p:cNvSpPr>
          <p:nvPr/>
        </p:nvSpPr>
        <p:spPr>
          <a:xfrm xmlns:a="http://schemas.openxmlformats.org/drawingml/2006/main">
            <a:off x="6334125" y="3657600"/>
            <a:ext cx="2314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D94A50"/>
                </a:solidFill>
                <a:latin typeface="Arial"/>
                <a:ea typeface="Arial"/>
                <a:cs typeface="Arial"/>
              </a:defRPr>
            </a:pPr>
            <a:r>
              <a:rPr sz="2400" b="1">
                <a:solidFill>
                  <a:srgbClr val="D94A50"/>
                </a:solidFill>
                <a:latin typeface="Arial"/>
                <a:ea typeface="Arial"/>
                <a:cs typeface="Arial"/>
              </a:rPr>
              <a:t>158 products</a:t>
            </a:r>
          </a:p>
        </p:txBody>
      </p:sp>
      <p:sp>
        <p:nvSpPr>
          <p:cNvPr id="17" name="text-17">
            <a:extLst xmlns:a="http://schemas.openxmlformats.org/drawingml/2006/main">
              <a:ext uri="{FF2B5EF4-FFF2-40B4-BE49-F238E27FC236}">
                <a16:creationId xmlns:a16="http://schemas.microsoft.com/office/drawing/2014/main" id="{B2A78AF3-F440-499F-B3A7-A6AC898D8062}"/>
              </a:ext>
            </a:extLst>
          </p:cNvPr>
          <p:cNvSpPr>
            <a:spLocks xmlns:a="http://schemas.openxmlformats.org/drawingml/2006/main" noGrp="1"/>
          </p:cNvSpPr>
          <p:nvPr/>
        </p:nvSpPr>
        <p:spPr>
          <a:xfrm xmlns:a="http://schemas.openxmlformats.org/drawingml/2006/main">
            <a:off x="6315075" y="4067175"/>
            <a:ext cx="2352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4B5563"/>
                </a:solidFill>
                <a:latin typeface="Arial"/>
                <a:ea typeface="Arial"/>
                <a:cs typeface="Arial"/>
              </a:defRPr>
            </a:pPr>
            <a:r>
              <a:rPr sz="1125" b="0">
                <a:solidFill>
                  <a:srgbClr val="4B5563"/>
                </a:solidFill>
                <a:latin typeface="Arial"/>
                <a:ea typeface="Arial"/>
                <a:cs typeface="Arial"/>
              </a:rPr>
              <a:t>66.2% of realised loss</a:t>
            </a:r>
          </a:p>
        </p:txBody>
      </p:sp>
      <p:sp>
        <p:nvSpPr>
          <p:cNvPr id="18" name="surface-18">
            <a:extLst xmlns:a="http://schemas.openxmlformats.org/drawingml/2006/main">
              <a:ext uri="{FF2B5EF4-FFF2-40B4-BE49-F238E27FC236}">
                <a16:creationId xmlns:a16="http://schemas.microsoft.com/office/drawing/2014/main" id="{3C6715A3-4121-497B-B08E-33ACAE3856CD}"/>
              </a:ext>
            </a:extLst>
          </p:cNvPr>
          <p:cNvSpPr>
            <a:spLocks xmlns:a="http://schemas.openxmlformats.org/drawingml/2006/main" noGrp="1"/>
          </p:cNvSpPr>
          <p:nvPr/>
        </p:nvSpPr>
        <p:spPr>
          <a:xfrm xmlns:a="http://schemas.openxmlformats.org/drawingml/2006/main">
            <a:off x="9020175" y="3248025"/>
            <a:ext cx="2543175" cy="1085850"/>
          </a:xfrm>
          <a:prstGeom xmlns:a="http://schemas.openxmlformats.org/drawingml/2006/main" prst="roundRect">
            <a:avLst>
              <a:gd name="adj" fmla="val 11404"/>
            </a:avLst>
          </a:prstGeom>
          <a:solidFill xmlns:a="http://schemas.openxmlformats.org/drawingml/2006/main">
            <a:srgbClr val="EAF7FB"/>
          </a:solidFill>
          <a:ln xmlns:a="http://schemas.openxmlformats.org/drawingml/2006/main" w="14288">
            <a:solidFill>
              <a:srgbClr val="1687A7"/>
            </a:solidFill>
          </a:ln>
        </p:spPr>
      </p:sp>
      <p:sp>
        <p:nvSpPr>
          <p:cNvPr id="19" name="text-19">
            <a:extLst xmlns:a="http://schemas.openxmlformats.org/drawingml/2006/main">
              <a:ext uri="{FF2B5EF4-FFF2-40B4-BE49-F238E27FC236}">
                <a16:creationId xmlns:a16="http://schemas.microsoft.com/office/drawing/2014/main" id="{123F1EBC-FE1F-45A8-935C-755BEB47A5D6}"/>
              </a:ext>
            </a:extLst>
          </p:cNvPr>
          <p:cNvSpPr>
            <a:spLocks xmlns:a="http://schemas.openxmlformats.org/drawingml/2006/main" noGrp="1"/>
          </p:cNvSpPr>
          <p:nvPr/>
        </p:nvSpPr>
        <p:spPr>
          <a:xfrm xmlns:a="http://schemas.openxmlformats.org/drawingml/2006/main">
            <a:off x="9134475" y="3409950"/>
            <a:ext cx="2314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8" b="1">
                <a:solidFill>
                  <a:srgbClr val="718096"/>
                </a:solidFill>
                <a:latin typeface="Arial"/>
                <a:ea typeface="Arial"/>
                <a:cs typeface="Arial"/>
              </a:defRPr>
            </a:pPr>
            <a:r>
              <a:rPr sz="1088" b="1">
                <a:solidFill>
                  <a:srgbClr val="718096"/>
                </a:solidFill>
                <a:latin typeface="Arial"/>
                <a:ea typeface="Arial"/>
                <a:cs typeface="Arial"/>
              </a:rPr>
              <a:t>HARD EXPOSURE</a:t>
            </a:r>
          </a:p>
        </p:txBody>
      </p:sp>
      <p:sp>
        <p:nvSpPr>
          <p:cNvPr id="20" name="text-20">
            <a:extLst xmlns:a="http://schemas.openxmlformats.org/drawingml/2006/main">
              <a:ext uri="{FF2B5EF4-FFF2-40B4-BE49-F238E27FC236}">
                <a16:creationId xmlns:a16="http://schemas.microsoft.com/office/drawing/2014/main" id="{E7724D32-0C46-46AD-BB7D-114C3B56530A}"/>
              </a:ext>
            </a:extLst>
          </p:cNvPr>
          <p:cNvSpPr>
            <a:spLocks xmlns:a="http://schemas.openxmlformats.org/drawingml/2006/main" noGrp="1"/>
          </p:cNvSpPr>
          <p:nvPr/>
        </p:nvSpPr>
        <p:spPr>
          <a:xfrm xmlns:a="http://schemas.openxmlformats.org/drawingml/2006/main">
            <a:off x="9134475" y="3657600"/>
            <a:ext cx="2314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1687A7"/>
                </a:solidFill>
                <a:latin typeface="Arial"/>
                <a:ea typeface="Arial"/>
                <a:cs typeface="Arial"/>
              </a:defRPr>
            </a:pPr>
            <a:r>
              <a:rPr sz="2400" b="1">
                <a:solidFill>
                  <a:srgbClr val="1687A7"/>
                </a:solidFill>
                <a:latin typeface="Arial"/>
                <a:ea typeface="Arial"/>
                <a:cs typeface="Arial"/>
              </a:rPr>
              <a:t>606 products</a:t>
            </a:r>
          </a:p>
        </p:txBody>
      </p:sp>
      <p:sp>
        <p:nvSpPr>
          <p:cNvPr id="21" name="text-21">
            <a:extLst xmlns:a="http://schemas.openxmlformats.org/drawingml/2006/main">
              <a:ext uri="{FF2B5EF4-FFF2-40B4-BE49-F238E27FC236}">
                <a16:creationId xmlns:a16="http://schemas.microsoft.com/office/drawing/2014/main" id="{731F2A7C-CE7A-4AE2-A0E2-3D5316854EE6}"/>
              </a:ext>
            </a:extLst>
          </p:cNvPr>
          <p:cNvSpPr>
            <a:spLocks xmlns:a="http://schemas.openxmlformats.org/drawingml/2006/main" noGrp="1"/>
          </p:cNvSpPr>
          <p:nvPr/>
        </p:nvSpPr>
        <p:spPr>
          <a:xfrm xmlns:a="http://schemas.openxmlformats.org/drawingml/2006/main">
            <a:off x="9115425" y="4067175"/>
            <a:ext cx="2352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4B5563"/>
                </a:solidFill>
                <a:latin typeface="Arial"/>
                <a:ea typeface="Arial"/>
                <a:cs typeface="Arial"/>
              </a:defRPr>
            </a:pPr>
            <a:r>
              <a:rPr sz="1125" b="0">
                <a:solidFill>
                  <a:srgbClr val="4B5563"/>
                </a:solidFill>
                <a:latin typeface="Arial"/>
                <a:ea typeface="Arial"/>
                <a:cs typeface="Arial"/>
              </a:rPr>
              <a:t>Action or classification review</a:t>
            </a:r>
          </a:p>
        </p:txBody>
      </p:sp>
      <p:sp>
        <p:nvSpPr>
          <p:cNvPr id="22" name="surface-22">
            <a:extLst xmlns:a="http://schemas.openxmlformats.org/drawingml/2006/main">
              <a:ext uri="{FF2B5EF4-FFF2-40B4-BE49-F238E27FC236}">
                <a16:creationId xmlns:a16="http://schemas.microsoft.com/office/drawing/2014/main" id="{044C344D-F75F-42E4-B139-804EB3047CB6}"/>
              </a:ext>
            </a:extLst>
          </p:cNvPr>
          <p:cNvSpPr>
            <a:spLocks xmlns:a="http://schemas.openxmlformats.org/drawingml/2006/main" noGrp="1"/>
          </p:cNvSpPr>
          <p:nvPr/>
        </p:nvSpPr>
        <p:spPr>
          <a:xfrm xmlns:a="http://schemas.openxmlformats.org/drawingml/2006/main">
            <a:off x="619125" y="4610100"/>
            <a:ext cx="10953750" cy="1390650"/>
          </a:xfrm>
          <a:prstGeom xmlns:a="http://schemas.openxmlformats.org/drawingml/2006/main" prst="roundRect">
            <a:avLst>
              <a:gd name="adj" fmla="val 8219"/>
            </a:avLst>
          </a:prstGeom>
          <a:solidFill xmlns:a="http://schemas.openxmlformats.org/drawingml/2006/main">
            <a:srgbClr val="F8FAFC"/>
          </a:solidFill>
          <a:ln xmlns:a="http://schemas.openxmlformats.org/drawingml/2006/main" w="9525">
            <a:solidFill>
              <a:srgbClr val="DDE3EA"/>
            </a:solidFill>
          </a:ln>
        </p:spPr>
      </p:sp>
      <p:sp>
        <p:nvSpPr>
          <p:cNvPr id="23" name="text-23">
            <a:extLst xmlns:a="http://schemas.openxmlformats.org/drawingml/2006/main">
              <a:ext uri="{FF2B5EF4-FFF2-40B4-BE49-F238E27FC236}">
                <a16:creationId xmlns:a16="http://schemas.microsoft.com/office/drawing/2014/main" id="{B4255608-DE0A-4046-ADD0-29EE3F02F453}"/>
              </a:ext>
            </a:extLst>
          </p:cNvPr>
          <p:cNvSpPr>
            <a:spLocks xmlns:a="http://schemas.openxmlformats.org/drawingml/2006/main" noGrp="1"/>
          </p:cNvSpPr>
          <p:nvPr/>
        </p:nvSpPr>
        <p:spPr>
          <a:xfrm xmlns:a="http://schemas.openxmlformats.org/drawingml/2006/main">
            <a:off x="790575" y="475297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IMMEDIATE MANAGEMENT FOCUS</a:t>
            </a:r>
          </a:p>
        </p:txBody>
      </p:sp>
      <p:sp>
        <p:nvSpPr>
          <p:cNvPr id="24" name="text-24">
            <a:extLst xmlns:a="http://schemas.openxmlformats.org/drawingml/2006/main">
              <a:ext uri="{FF2B5EF4-FFF2-40B4-BE49-F238E27FC236}">
                <a16:creationId xmlns:a16="http://schemas.microsoft.com/office/drawing/2014/main" id="{11004512-4801-4361-9B41-315BB95AF994}"/>
              </a:ext>
            </a:extLst>
          </p:cNvPr>
          <p:cNvSpPr>
            <a:spLocks xmlns:a="http://schemas.openxmlformats.org/drawingml/2006/main" noGrp="1"/>
          </p:cNvSpPr>
          <p:nvPr/>
        </p:nvSpPr>
        <p:spPr>
          <a:xfrm xmlns:a="http://schemas.openxmlformats.org/drawingml/2006/main">
            <a:off x="800100" y="5067300"/>
            <a:ext cx="66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687A7"/>
                </a:solidFill>
                <a:latin typeface="Arial"/>
                <a:ea typeface="Arial"/>
                <a:cs typeface="Arial"/>
              </a:defRPr>
            </a:pPr>
            <a:r>
              <a:rPr sz="2175" b="1">
                <a:solidFill>
                  <a:srgbClr val="1687A7"/>
                </a:solidFill>
                <a:latin typeface="Arial"/>
                <a:ea typeface="Arial"/>
                <a:cs typeface="Arial"/>
              </a:rPr>
              <a:t>80</a:t>
            </a:r>
          </a:p>
        </p:txBody>
      </p:sp>
      <p:sp>
        <p:nvSpPr>
          <p:cNvPr id="25" name="text-25">
            <a:extLst xmlns:a="http://schemas.openxmlformats.org/drawingml/2006/main">
              <a:ext uri="{FF2B5EF4-FFF2-40B4-BE49-F238E27FC236}">
                <a16:creationId xmlns:a16="http://schemas.microsoft.com/office/drawing/2014/main" id="{04521EFF-C468-400E-8FC5-7EB6570D6B11}"/>
              </a:ext>
            </a:extLst>
          </p:cNvPr>
          <p:cNvSpPr>
            <a:spLocks xmlns:a="http://schemas.openxmlformats.org/drawingml/2006/main" noGrp="1"/>
          </p:cNvSpPr>
          <p:nvPr/>
        </p:nvSpPr>
        <p:spPr>
          <a:xfrm xmlns:a="http://schemas.openxmlformats.org/drawingml/2006/main">
            <a:off x="1533525" y="5133975"/>
            <a:ext cx="1800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687A7"/>
                </a:solidFill>
                <a:latin typeface="Arial"/>
                <a:ea typeface="Arial"/>
                <a:cs typeface="Arial"/>
              </a:defRPr>
            </a:pPr>
            <a:r>
              <a:rPr sz="1275" b="1">
                <a:solidFill>
                  <a:srgbClr val="1687A7"/>
                </a:solidFill>
                <a:latin typeface="Arial"/>
                <a:ea typeface="Arial"/>
                <a:cs typeface="Arial"/>
              </a:rPr>
              <a:t>VALIDATE</a:t>
            </a:r>
          </a:p>
        </p:txBody>
      </p:sp>
      <p:sp>
        <p:nvSpPr>
          <p:cNvPr id="26" name="text-26">
            <a:extLst xmlns:a="http://schemas.openxmlformats.org/drawingml/2006/main">
              <a:ext uri="{FF2B5EF4-FFF2-40B4-BE49-F238E27FC236}">
                <a16:creationId xmlns:a16="http://schemas.microsoft.com/office/drawing/2014/main" id="{DA5BCF3D-E60E-41C4-BDD2-D7BE890C0CF7}"/>
              </a:ext>
            </a:extLst>
          </p:cNvPr>
          <p:cNvSpPr>
            <a:spLocks xmlns:a="http://schemas.openxmlformats.org/drawingml/2006/main" noGrp="1"/>
          </p:cNvSpPr>
          <p:nvPr/>
        </p:nvSpPr>
        <p:spPr>
          <a:xfrm xmlns:a="http://schemas.openxmlformats.org/drawingml/2006/main">
            <a:off x="800100" y="5438775"/>
            <a:ext cx="2514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38" b="0">
                <a:solidFill>
                  <a:srgbClr val="4B5563"/>
                </a:solidFill>
                <a:latin typeface="Arial"/>
                <a:ea typeface="Arial"/>
                <a:cs typeface="Arial"/>
              </a:defRPr>
            </a:pPr>
            <a:r>
              <a:rPr sz="1238" b="0">
                <a:solidFill>
                  <a:srgbClr val="4B5563"/>
                </a:solidFill>
                <a:latin typeface="Arial"/>
                <a:ea typeface="Arial"/>
                <a:cs typeface="Arial"/>
              </a:rPr>
              <a:t>Upside candidates</a:t>
            </a:r>
          </a:p>
        </p:txBody>
      </p:sp>
      <p:sp>
        <p:nvSpPr>
          <p:cNvPr id="27" name="text-27">
            <a:extLst xmlns:a="http://schemas.openxmlformats.org/drawingml/2006/main">
              <a:ext uri="{FF2B5EF4-FFF2-40B4-BE49-F238E27FC236}">
                <a16:creationId xmlns:a16="http://schemas.microsoft.com/office/drawing/2014/main" id="{192BAB3C-9B5C-4AFF-9484-9A04477062DC}"/>
              </a:ext>
            </a:extLst>
          </p:cNvPr>
          <p:cNvSpPr>
            <a:spLocks xmlns:a="http://schemas.openxmlformats.org/drawingml/2006/main" noGrp="1"/>
          </p:cNvSpPr>
          <p:nvPr/>
        </p:nvSpPr>
        <p:spPr>
          <a:xfrm xmlns:a="http://schemas.openxmlformats.org/drawingml/2006/main">
            <a:off x="3476625" y="5067300"/>
            <a:ext cx="66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94A50"/>
                </a:solidFill>
                <a:latin typeface="Arial"/>
                <a:ea typeface="Arial"/>
                <a:cs typeface="Arial"/>
              </a:defRPr>
            </a:pPr>
            <a:r>
              <a:rPr sz="2175" b="1">
                <a:solidFill>
                  <a:srgbClr val="D94A50"/>
                </a:solidFill>
                <a:latin typeface="Arial"/>
                <a:ea typeface="Arial"/>
                <a:cs typeface="Arial"/>
              </a:rPr>
              <a:t>158</a:t>
            </a:r>
          </a:p>
        </p:txBody>
      </p:sp>
      <p:sp>
        <p:nvSpPr>
          <p:cNvPr id="28" name="text-28">
            <a:extLst xmlns:a="http://schemas.openxmlformats.org/drawingml/2006/main">
              <a:ext uri="{FF2B5EF4-FFF2-40B4-BE49-F238E27FC236}">
                <a16:creationId xmlns:a16="http://schemas.microsoft.com/office/drawing/2014/main" id="{9707F1BD-AD14-4745-A288-442D5E9E8AE0}"/>
              </a:ext>
            </a:extLst>
          </p:cNvPr>
          <p:cNvSpPr>
            <a:spLocks xmlns:a="http://schemas.openxmlformats.org/drawingml/2006/main" noGrp="1"/>
          </p:cNvSpPr>
          <p:nvPr/>
        </p:nvSpPr>
        <p:spPr>
          <a:xfrm xmlns:a="http://schemas.openxmlformats.org/drawingml/2006/main">
            <a:off x="4210050" y="5133975"/>
            <a:ext cx="1800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D94A50"/>
                </a:solidFill>
                <a:latin typeface="Arial"/>
                <a:ea typeface="Arial"/>
                <a:cs typeface="Arial"/>
              </a:defRPr>
            </a:pPr>
            <a:r>
              <a:rPr sz="1275" b="1">
                <a:solidFill>
                  <a:srgbClr val="D94A50"/>
                </a:solidFill>
                <a:latin typeface="Arial"/>
                <a:ea typeface="Arial"/>
                <a:cs typeface="Arial"/>
              </a:rPr>
              <a:t>CORRECT</a:t>
            </a:r>
          </a:p>
        </p:txBody>
      </p:sp>
      <p:sp>
        <p:nvSpPr>
          <p:cNvPr id="29" name="text-29">
            <a:extLst xmlns:a="http://schemas.openxmlformats.org/drawingml/2006/main">
              <a:ext uri="{FF2B5EF4-FFF2-40B4-BE49-F238E27FC236}">
                <a16:creationId xmlns:a16="http://schemas.microsoft.com/office/drawing/2014/main" id="{93CE6F49-6DAD-4038-8BD1-7EAFB4398AF4}"/>
              </a:ext>
            </a:extLst>
          </p:cNvPr>
          <p:cNvSpPr>
            <a:spLocks xmlns:a="http://schemas.openxmlformats.org/drawingml/2006/main" noGrp="1"/>
          </p:cNvSpPr>
          <p:nvPr/>
        </p:nvSpPr>
        <p:spPr>
          <a:xfrm xmlns:a="http://schemas.openxmlformats.org/drawingml/2006/main">
            <a:off x="3476625" y="5438775"/>
            <a:ext cx="2514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38" b="0">
                <a:solidFill>
                  <a:srgbClr val="4B5563"/>
                </a:solidFill>
                <a:latin typeface="Arial"/>
                <a:ea typeface="Arial"/>
                <a:cs typeface="Arial"/>
              </a:defRPr>
            </a:pPr>
            <a:r>
              <a:rPr sz="1238" b="0">
                <a:solidFill>
                  <a:srgbClr val="4B5563"/>
                </a:solidFill>
                <a:latin typeface="Arial"/>
                <a:ea typeface="Arial"/>
                <a:cs typeface="Arial"/>
              </a:rPr>
              <a:t>Broken Value cases</a:t>
            </a:r>
          </a:p>
        </p:txBody>
      </p:sp>
      <p:sp>
        <p:nvSpPr>
          <p:cNvPr id="30" name="text-30">
            <a:extLst xmlns:a="http://schemas.openxmlformats.org/drawingml/2006/main">
              <a:ext uri="{FF2B5EF4-FFF2-40B4-BE49-F238E27FC236}">
                <a16:creationId xmlns:a16="http://schemas.microsoft.com/office/drawing/2014/main" id="{E620E017-C6FD-464D-9DC1-B479C44B19EB}"/>
              </a:ext>
            </a:extLst>
          </p:cNvPr>
          <p:cNvSpPr>
            <a:spLocks xmlns:a="http://schemas.openxmlformats.org/drawingml/2006/main" noGrp="1"/>
          </p:cNvSpPr>
          <p:nvPr/>
        </p:nvSpPr>
        <p:spPr>
          <a:xfrm xmlns:a="http://schemas.openxmlformats.org/drawingml/2006/main">
            <a:off x="6153150" y="5067300"/>
            <a:ext cx="66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65D00"/>
                </a:solidFill>
                <a:latin typeface="Arial"/>
                <a:ea typeface="Arial"/>
                <a:cs typeface="Arial"/>
              </a:defRPr>
            </a:pPr>
            <a:r>
              <a:rPr sz="2175" b="1">
                <a:solidFill>
                  <a:srgbClr val="A65D00"/>
                </a:solidFill>
                <a:latin typeface="Arial"/>
                <a:ea typeface="Arial"/>
                <a:cs typeface="Arial"/>
              </a:rPr>
              <a:t>163</a:t>
            </a:r>
          </a:p>
        </p:txBody>
      </p:sp>
      <p:sp>
        <p:nvSpPr>
          <p:cNvPr id="31" name="text-31">
            <a:extLst xmlns:a="http://schemas.openxmlformats.org/drawingml/2006/main">
              <a:ext uri="{FF2B5EF4-FFF2-40B4-BE49-F238E27FC236}">
                <a16:creationId xmlns:a16="http://schemas.microsoft.com/office/drawing/2014/main" id="{B05E0DCA-E457-428D-AAD9-D23E000B12E3}"/>
              </a:ext>
            </a:extLst>
          </p:cNvPr>
          <p:cNvSpPr>
            <a:spLocks xmlns:a="http://schemas.openxmlformats.org/drawingml/2006/main" noGrp="1"/>
          </p:cNvSpPr>
          <p:nvPr/>
        </p:nvSpPr>
        <p:spPr>
          <a:xfrm xmlns:a="http://schemas.openxmlformats.org/drawingml/2006/main">
            <a:off x="6886575" y="5133975"/>
            <a:ext cx="1800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A65D00"/>
                </a:solidFill>
                <a:latin typeface="Arial"/>
                <a:ea typeface="Arial"/>
                <a:cs typeface="Arial"/>
              </a:defRPr>
            </a:pPr>
            <a:r>
              <a:rPr sz="1275" b="1">
                <a:solidFill>
                  <a:srgbClr val="A65D00"/>
                </a:solidFill>
                <a:latin typeface="Arial"/>
                <a:ea typeface="Arial"/>
                <a:cs typeface="Arial"/>
              </a:rPr>
              <a:t>STABILISE</a:t>
            </a:r>
          </a:p>
        </p:txBody>
      </p:sp>
      <p:sp>
        <p:nvSpPr>
          <p:cNvPr id="32" name="text-32">
            <a:extLst xmlns:a="http://schemas.openxmlformats.org/drawingml/2006/main">
              <a:ext uri="{FF2B5EF4-FFF2-40B4-BE49-F238E27FC236}">
                <a16:creationId xmlns:a16="http://schemas.microsoft.com/office/drawing/2014/main" id="{26F68A3F-F4A0-41E8-B164-08334B20A50E}"/>
              </a:ext>
            </a:extLst>
          </p:cNvPr>
          <p:cNvSpPr>
            <a:spLocks xmlns:a="http://schemas.openxmlformats.org/drawingml/2006/main" noGrp="1"/>
          </p:cNvSpPr>
          <p:nvPr/>
        </p:nvSpPr>
        <p:spPr>
          <a:xfrm xmlns:a="http://schemas.openxmlformats.org/drawingml/2006/main">
            <a:off x="6153150" y="5438775"/>
            <a:ext cx="2514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38" b="0">
                <a:solidFill>
                  <a:srgbClr val="4B5563"/>
                </a:solidFill>
                <a:latin typeface="Arial"/>
                <a:ea typeface="Arial"/>
                <a:cs typeface="Arial"/>
              </a:defRPr>
            </a:pPr>
            <a:r>
              <a:rPr sz="1238" b="0">
                <a:solidFill>
                  <a:srgbClr val="4B5563"/>
                </a:solidFill>
                <a:latin typeface="Arial"/>
                <a:ea typeface="Arial"/>
                <a:cs typeface="Arial"/>
              </a:rPr>
              <a:t>Fragile Value cases</a:t>
            </a:r>
          </a:p>
        </p:txBody>
      </p:sp>
      <p:sp>
        <p:nvSpPr>
          <p:cNvPr id="33" name="text-33">
            <a:extLst xmlns:a="http://schemas.openxmlformats.org/drawingml/2006/main">
              <a:ext uri="{FF2B5EF4-FFF2-40B4-BE49-F238E27FC236}">
                <a16:creationId xmlns:a16="http://schemas.microsoft.com/office/drawing/2014/main" id="{FC706AF4-7BC0-42E7-8757-6B59CBD5D788}"/>
              </a:ext>
            </a:extLst>
          </p:cNvPr>
          <p:cNvSpPr>
            <a:spLocks xmlns:a="http://schemas.openxmlformats.org/drawingml/2006/main" noGrp="1"/>
          </p:cNvSpPr>
          <p:nvPr/>
        </p:nvSpPr>
        <p:spPr>
          <a:xfrm xmlns:a="http://schemas.openxmlformats.org/drawingml/2006/main">
            <a:off x="8829675" y="5067300"/>
            <a:ext cx="66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563EB"/>
                </a:solidFill>
                <a:latin typeface="Arial"/>
                <a:ea typeface="Arial"/>
                <a:cs typeface="Arial"/>
              </a:defRPr>
            </a:pPr>
            <a:r>
              <a:rPr sz="2175" b="1">
                <a:solidFill>
                  <a:srgbClr val="2563EB"/>
                </a:solidFill>
                <a:latin typeface="Arial"/>
                <a:ea typeface="Arial"/>
                <a:cs typeface="Arial"/>
              </a:rPr>
              <a:t>150</a:t>
            </a:r>
          </a:p>
        </p:txBody>
      </p:sp>
      <p:sp>
        <p:nvSpPr>
          <p:cNvPr id="34" name="text-34">
            <a:extLst xmlns:a="http://schemas.openxmlformats.org/drawingml/2006/main">
              <a:ext uri="{FF2B5EF4-FFF2-40B4-BE49-F238E27FC236}">
                <a16:creationId xmlns:a16="http://schemas.microsoft.com/office/drawing/2014/main" id="{A82C8823-64F5-4746-BBBC-26C191A6641B}"/>
              </a:ext>
            </a:extLst>
          </p:cNvPr>
          <p:cNvSpPr>
            <a:spLocks xmlns:a="http://schemas.openxmlformats.org/drawingml/2006/main" noGrp="1"/>
          </p:cNvSpPr>
          <p:nvPr/>
        </p:nvSpPr>
        <p:spPr>
          <a:xfrm xmlns:a="http://schemas.openxmlformats.org/drawingml/2006/main">
            <a:off x="9563100" y="5133975"/>
            <a:ext cx="1800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563EB"/>
                </a:solidFill>
                <a:latin typeface="Arial"/>
                <a:ea typeface="Arial"/>
                <a:cs typeface="Arial"/>
              </a:defRPr>
            </a:pPr>
            <a:r>
              <a:rPr sz="1275" b="1">
                <a:solidFill>
                  <a:srgbClr val="2563EB"/>
                </a:solidFill>
                <a:latin typeface="Arial"/>
                <a:ea typeface="Arial"/>
                <a:cs typeface="Arial"/>
              </a:rPr>
              <a:t>PROTECT</a:t>
            </a:r>
          </a:p>
        </p:txBody>
      </p:sp>
      <p:sp>
        <p:nvSpPr>
          <p:cNvPr id="35" name="text-35">
            <a:extLst xmlns:a="http://schemas.openxmlformats.org/drawingml/2006/main">
              <a:ext uri="{FF2B5EF4-FFF2-40B4-BE49-F238E27FC236}">
                <a16:creationId xmlns:a16="http://schemas.microsoft.com/office/drawing/2014/main" id="{2537E655-081E-45D1-BC1E-B07EBDAC66DF}"/>
              </a:ext>
            </a:extLst>
          </p:cNvPr>
          <p:cNvSpPr>
            <a:spLocks xmlns:a="http://schemas.openxmlformats.org/drawingml/2006/main" noGrp="1"/>
          </p:cNvSpPr>
          <p:nvPr/>
        </p:nvSpPr>
        <p:spPr>
          <a:xfrm xmlns:a="http://schemas.openxmlformats.org/drawingml/2006/main">
            <a:off x="8829675" y="5438775"/>
            <a:ext cx="2514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38" b="0">
                <a:solidFill>
                  <a:srgbClr val="4B5563"/>
                </a:solidFill>
                <a:latin typeface="Arial"/>
                <a:ea typeface="Arial"/>
                <a:cs typeface="Arial"/>
              </a:defRPr>
            </a:pPr>
            <a:r>
              <a:rPr sz="1238" b="0">
                <a:solidFill>
                  <a:srgbClr val="4B5563"/>
                </a:solidFill>
                <a:latin typeface="Arial"/>
                <a:ea typeface="Arial"/>
                <a:cs typeface="Arial"/>
              </a:rPr>
              <a:t>Products carrying 76% of profit</a:t>
            </a:r>
          </a:p>
        </p:txBody>
      </p:sp>
      <p:sp>
        <p:nvSpPr>
          <p:cNvPr id="36" name="text-36">
            <a:extLst xmlns:a="http://schemas.openxmlformats.org/drawingml/2006/main">
              <a:ext uri="{FF2B5EF4-FFF2-40B4-BE49-F238E27FC236}">
                <a16:creationId xmlns:a16="http://schemas.microsoft.com/office/drawing/2014/main" id="{5D930650-73FD-4B8E-BF67-2E8FF23BB66D}"/>
              </a:ext>
            </a:extLst>
          </p:cNvPr>
          <p:cNvSpPr>
            <a:spLocks xmlns:a="http://schemas.openxmlformats.org/drawingml/2006/main" noGrp="1"/>
          </p:cNvSpPr>
          <p:nvPr/>
        </p:nvSpPr>
        <p:spPr>
          <a:xfrm xmlns:a="http://schemas.openxmlformats.org/drawingml/2006/main">
            <a:off x="790575" y="5753100"/>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B4A6F"/>
                </a:solidFill>
                <a:latin typeface="Arial"/>
                <a:ea typeface="Arial"/>
                <a:cs typeface="Arial"/>
              </a:defRPr>
            </a:pPr>
            <a:r>
              <a:rPr sz="1275" b="1">
                <a:solidFill>
                  <a:srgbClr val="0B4A6F"/>
                </a:solidFill>
                <a:latin typeface="Arial"/>
                <a:ea typeface="Arial"/>
                <a:cs typeface="Arial"/>
              </a:rPr>
              <a:t>Direct first-wave review effort to 401 cases with concentrated upside and loss exposure.</a:t>
            </a:r>
          </a:p>
        </p:txBody>
      </p:sp>
      <p:sp>
        <p:nvSpPr>
          <p:cNvPr id="37" name="text-37">
            <a:extLst xmlns:a="http://schemas.openxmlformats.org/drawingml/2006/main">
              <a:ext uri="{FF2B5EF4-FFF2-40B4-BE49-F238E27FC236}">
                <a16:creationId xmlns:a16="http://schemas.microsoft.com/office/drawing/2014/main" id="{94CFB49A-EFF8-42FC-A4A1-C0F3B252437D}"/>
              </a:ext>
            </a:extLst>
          </p:cNvPr>
          <p:cNvSpPr>
            <a:spLocks xmlns:a="http://schemas.openxmlformats.org/drawingml/2006/main" noGrp="1"/>
          </p:cNvSpPr>
          <p:nvPr/>
        </p:nvSpPr>
        <p:spPr>
          <a:xfrm xmlns:a="http://schemas.openxmlformats.org/drawingml/2006/main">
            <a:off x="619125" y="616267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8" b="0">
                <a:solidFill>
                  <a:srgbClr val="718096"/>
                </a:solidFill>
                <a:latin typeface="Arial"/>
                <a:ea typeface="Arial"/>
                <a:cs typeface="Arial"/>
              </a:defRPr>
            </a:pPr>
            <a:r>
              <a:rPr sz="998" b="0">
                <a:solidFill>
                  <a:srgbClr val="718096"/>
                </a:solidFill>
                <a:latin typeface="Arial"/>
                <a:ea typeface="Arial"/>
                <a:cs typeface="Arial"/>
              </a:rPr>
              <a:t>Historical case-study results. The value engine overlaps other groups. Its 150 products are not added to the 401 cases.</a:t>
            </a:r>
          </a:p>
        </p:txBody>
      </p:sp>
    </p:spTree>
    <p:extLst>
      <p:ext uri="{BB962C8B-B14F-4D97-AF65-F5344CB8AC3E}">
        <p14:creationId xmlns:p14="http://schemas.microsoft.com/office/powerpoint/2010/main" val="24895434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1" name="text-38">
            <a:extLst xmlns:a="http://schemas.openxmlformats.org/drawingml/2006/main">
              <a:ext uri="{FF2B5EF4-FFF2-40B4-BE49-F238E27FC236}">
                <a16:creationId xmlns:a16="http://schemas.microsoft.com/office/drawing/2014/main" id="{BFEC5455-7CAB-4503-AB90-6289E8E2F8F3}"/>
              </a:ext>
            </a:extLst>
          </p:cNvPr>
          <p:cNvSpPr>
            <a:spLocks xmlns:a="http://schemas.openxmlformats.org/drawingml/2006/main" noGrp="1"/>
          </p:cNvSpPr>
          <p:nvPr/>
        </p:nvSpPr>
        <p:spPr>
          <a:xfrm xmlns:a="http://schemas.openxmlformats.org/drawingml/2006/main">
            <a:off x="609600" y="14192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PORTFOLIO ECONOMICS</a:t>
            </a:r>
          </a:p>
        </p:txBody>
      </p:sp>
      <p:sp>
        <p:nvSpPr>
          <p:cNvPr id="2" name="text-39">
            <a:extLst xmlns:a="http://schemas.openxmlformats.org/drawingml/2006/main">
              <a:ext uri="{FF2B5EF4-FFF2-40B4-BE49-F238E27FC236}">
                <a16:creationId xmlns:a16="http://schemas.microsoft.com/office/drawing/2014/main" id="{B285F52F-62A7-447A-9BDA-B320C39025A3}"/>
              </a:ext>
            </a:extLst>
          </p:cNvPr>
          <p:cNvSpPr>
            <a:spLocks xmlns:a="http://schemas.openxmlformats.org/drawingml/2006/main" noGrp="1"/>
          </p:cNvSpPr>
          <p:nvPr/>
        </p:nvSpPr>
        <p:spPr>
          <a:xfrm xmlns:a="http://schemas.openxmlformats.org/drawingml/2006/main">
            <a:off x="609600" y="1647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11827"/>
                </a:solidFill>
                <a:latin typeface="Arial"/>
                <a:ea typeface="Arial"/>
                <a:cs typeface="Arial"/>
              </a:defRPr>
            </a:pPr>
            <a:r>
              <a:rPr sz="2550" b="1">
                <a:solidFill>
                  <a:srgbClr val="111827"/>
                </a:solidFill>
                <a:latin typeface="Arial"/>
                <a:ea typeface="Arial"/>
                <a:cs typeface="Arial"/>
              </a:rPr>
              <a:t>Positive Net Profit Masks Uneven Economics.</a:t>
            </a:r>
          </a:p>
        </p:txBody>
      </p:sp>
      <p:sp>
        <p:nvSpPr>
          <p:cNvPr id="3" name="text-40">
            <a:extLst xmlns:a="http://schemas.openxmlformats.org/drawingml/2006/main">
              <a:ext uri="{FF2B5EF4-FFF2-40B4-BE49-F238E27FC236}">
                <a16:creationId xmlns:a16="http://schemas.microsoft.com/office/drawing/2014/main" id="{16DA60E8-908D-4495-96DA-8C31C1837A91}"/>
              </a:ext>
            </a:extLst>
          </p:cNvPr>
          <p:cNvSpPr>
            <a:spLocks xmlns:a="http://schemas.openxmlformats.org/drawingml/2006/main" noGrp="1"/>
          </p:cNvSpPr>
          <p:nvPr/>
        </p:nvSpPr>
        <p:spPr>
          <a:xfrm xmlns:a="http://schemas.openxmlformats.org/drawingml/2006/main">
            <a:off x="609600" y="215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83.9% of net profit comes from the top 10% of products. The remaining 90% contribute 16.1%.</a:t>
            </a:r>
          </a:p>
        </p:txBody>
      </p:sp>
      <p:sp>
        <p:nvSpPr>
          <p:cNvPr id="4" name="surface-41">
            <a:extLst xmlns:a="http://schemas.openxmlformats.org/drawingml/2006/main">
              <a:ext uri="{FF2B5EF4-FFF2-40B4-BE49-F238E27FC236}">
                <a16:creationId xmlns:a16="http://schemas.microsoft.com/office/drawing/2014/main" id="{B06C30D7-4AD7-4415-9AFF-2686FB6FBE75}"/>
              </a:ext>
            </a:extLst>
          </p:cNvPr>
          <p:cNvSpPr>
            <a:spLocks xmlns:a="http://schemas.openxmlformats.org/drawingml/2006/main" noGrp="1"/>
          </p:cNvSpPr>
          <p:nvPr/>
        </p:nvSpPr>
        <p:spPr>
          <a:xfrm xmlns:a="http://schemas.openxmlformats.org/drawingml/2006/main">
            <a:off x="609600" y="2667000"/>
            <a:ext cx="6943725" cy="1628775"/>
          </a:xfrm>
          <a:prstGeom xmlns:a="http://schemas.openxmlformats.org/drawingml/2006/main" prst="roundRect">
            <a:avLst>
              <a:gd name="adj" fmla="val 7018"/>
            </a:avLst>
          </a:prstGeom>
          <a:solidFill xmlns:a="http://schemas.openxmlformats.org/drawingml/2006/main">
            <a:srgbClr val="F8FAFC"/>
          </a:solidFill>
          <a:ln xmlns:a="http://schemas.openxmlformats.org/drawingml/2006/main" w="9525">
            <a:solidFill>
              <a:srgbClr val="DDE3EA"/>
            </a:solidFill>
          </a:ln>
        </p:spPr>
      </p:sp>
      <p:sp>
        <p:nvSpPr>
          <p:cNvPr id="5" name="text-42">
            <a:extLst xmlns:a="http://schemas.openxmlformats.org/drawingml/2006/main">
              <a:ext uri="{FF2B5EF4-FFF2-40B4-BE49-F238E27FC236}">
                <a16:creationId xmlns:a16="http://schemas.microsoft.com/office/drawing/2014/main" id="{2ADA54DA-2970-47A7-ADF9-64EDB133577F}"/>
              </a:ext>
            </a:extLst>
          </p:cNvPr>
          <p:cNvSpPr>
            <a:spLocks xmlns:a="http://schemas.openxmlformats.org/drawingml/2006/main" noGrp="1"/>
          </p:cNvSpPr>
          <p:nvPr/>
        </p:nvSpPr>
        <p:spPr>
          <a:xfrm xmlns:a="http://schemas.openxmlformats.org/drawingml/2006/main">
            <a:off x="790575" y="2819400"/>
            <a:ext cx="6572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SHARE OF TOTAL PORTFOLIO NET PROFIT</a:t>
            </a:r>
          </a:p>
        </p:txBody>
      </p:sp>
      <p:graphicFrame>
        <p:nvGraphicFramePr>
          <p:cNvPr id="26" name="Chart"/>
          <p:cNvGraphicFramePr/>
          <p:nvPr/>
        </p:nvGraphicFramePr>
        <p:xfrm>
          <a:off xmlns:a="http://schemas.openxmlformats.org/drawingml/2006/main" x="781050" y="3152775"/>
          <a:ext xmlns:a="http://schemas.openxmlformats.org/drawingml/2006/main" cx="6591300" cy="962025"/>
        </p:xfrm>
        <a:graphic xmlns:a="http://schemas.openxmlformats.org/drawingml/2006/main">
          <a:graphicData uri="http://schemas.openxmlformats.org/drawingml/2006/chart">
            <c:chart xmlns:r="http://schemas.openxmlformats.org/officeDocument/2006/relationships" xmlns:c="http://schemas.openxmlformats.org/drawingml/2006/chart" r:id="R5eb30392d7954feb"/>
          </a:graphicData>
        </a:graphic>
      </p:graphicFrame>
      <p:graphicFrame>
        <p:nvGraphicFramePr>
          <p:cNvPr id="27" name=""/>
          <p:cNvGraphicFramePr/>
          <p:nvPr/>
        </p:nvGraphicFramePr>
        <p:xfrm>
          <a:off xmlns:a="http://schemas.openxmlformats.org/drawingml/2006/main" x="7781925" y="2667000"/>
          <a:ext xmlns:a="http://schemas.openxmlformats.org/drawingml/2006/main" cx="3790950" cy="1628775"/>
        </p:xfrm>
        <a:graphic xmlns:a="http://schemas.openxmlformats.org/drawingml/2006/main">
          <a:graphicData uri="http://schemas.openxmlformats.org/drawingml/2006/table">
            <a:tbl>
              <a:tblPr firstRow="0" firstCol="0" lastCol="0" bandRow="0"/>
              <a:tblGrid>
                <a:gridCol w="2266950"/>
                <a:gridCol w="1524000"/>
              </a:tblGrid>
              <a:tr h="390525">
                <a:tc>
                  <a:txBody>
                    <a:bodyPr lIns="95250" tIns="0" rIns="95250" bIns="0">
                      <a:noAutofit/>
                    </a:bodyPr>
                    <a:lstStyle/>
                    <a:p>
                      <a:pPr algn="l"/>
                      <a:r>
                        <a:rPr sz="1163" b="1">
                          <a:solidFill>
                            <a:srgbClr val="FFFFFF"/>
                          </a:solidFill>
                          <a:latin typeface="Arial"/>
                          <a:ea typeface="Arial"/>
                          <a:cs typeface="Arial"/>
                        </a:rPr>
                        <a:t>Portfolio snapshot</a:t>
                      </a:r>
                    </a:p>
                  </a:txBody>
                  <a:tcPr marL="95250" marR="95250" marT="28575" marB="28575" anchor="ctr">
                    <a:lnL w="7144">
                      <a:solidFill>
                        <a:srgbClr val="DDE3EA"/>
                      </a:solidFill>
                      <a:prstDash val="solid"/>
                    </a:lnL>
                    <a:lnT w="7144">
                      <a:solidFill>
                        <a:srgbClr val="DDE3EA"/>
                      </a:solidFill>
                      <a:prstDash val="solid"/>
                    </a:lnT>
                    <a:solidFill>
                      <a:srgbClr val="0B4A6F"/>
                    </a:solidFill>
                  </a:tcPr>
                </a:tc>
                <a:tc>
                  <a:txBody>
                    <a:bodyPr lIns="95250" tIns="0" rIns="95250" bIns="0">
                      <a:noAutofit/>
                    </a:bodyPr>
                    <a:lstStyle/>
                    <a:p>
                      <a:pPr algn="r"/>
                      <a:r>
                        <a:rPr sz="1163" b="1">
                          <a:solidFill>
                            <a:srgbClr val="FFFFFF"/>
                          </a:solidFill>
                          <a:latin typeface="Arial"/>
                          <a:ea typeface="Arial"/>
                          <a:cs typeface="Arial"/>
                        </a:rPr>
                        <a:t>Value</a:t>
                      </a:r>
                    </a:p>
                  </a:txBody>
                  <a:tcPr marL="95250" marR="95250" marT="28575" marB="28575" anchor="ctr">
                    <a:lnR w="7144">
                      <a:solidFill>
                        <a:srgbClr val="DDE3EA"/>
                      </a:solidFill>
                      <a:prstDash val="solid"/>
                    </a:lnR>
                    <a:lnT w="7144">
                      <a:solidFill>
                        <a:srgbClr val="DDE3EA"/>
                      </a:solidFill>
                      <a:prstDash val="solid"/>
                    </a:lnT>
                    <a:solidFill>
                      <a:srgbClr val="0B4A6F"/>
                    </a:solidFill>
                  </a:tcPr>
                </a:tc>
              </a:tr>
              <a:tr h="619125">
                <a:tc>
                  <a:txBody>
                    <a:bodyPr lIns="95250" tIns="0" rIns="95250" bIns="0">
                      <a:noAutofit/>
                    </a:bodyPr>
                    <a:lstStyle/>
                    <a:p>
                      <a:pPr algn="l"/>
                      <a:r>
                        <a:rPr sz="1575" b="1">
                          <a:solidFill>
                            <a:srgbClr val="111827"/>
                          </a:solidFill>
                          <a:latin typeface="Arial"/>
                          <a:ea typeface="Arial"/>
                          <a:cs typeface="Arial"/>
                        </a:rPr>
                        <a:t>Products</a:t>
                      </a:r>
                    </a:p>
                  </a:txBody>
                  <a:tcPr marL="95250" marR="95250" marT="28575" marB="28575" anchor="ctr">
                    <a:lnL w="7144">
                      <a:solidFill>
                        <a:srgbClr val="DDE3EA"/>
                      </a:solidFill>
                      <a:prstDash val="solid"/>
                    </a:lnL>
                    <a:solidFill>
                      <a:srgbClr val="FFFFFF"/>
                    </a:solidFill>
                  </a:tcPr>
                </a:tc>
                <a:tc>
                  <a:txBody>
                    <a:bodyPr lIns="95250" tIns="0" rIns="95250" bIns="0">
                      <a:noAutofit/>
                    </a:bodyPr>
                    <a:lstStyle/>
                    <a:p>
                      <a:pPr algn="r"/>
                      <a:r>
                        <a:rPr sz="1725" b="1">
                          <a:solidFill>
                            <a:srgbClr val="111827"/>
                          </a:solidFill>
                          <a:latin typeface="Arial"/>
                          <a:ea typeface="Arial"/>
                          <a:cs typeface="Arial"/>
                        </a:rPr>
                        <a:t>1,894</a:t>
                      </a:r>
                    </a:p>
                  </a:txBody>
                  <a:tcPr marL="95250" marR="95250" marT="28575" marB="28575" anchor="ctr">
                    <a:lnR w="7144">
                      <a:solidFill>
                        <a:srgbClr val="DDE3EA"/>
                      </a:solidFill>
                      <a:prstDash val="solid"/>
                    </a:lnR>
                    <a:solidFill>
                      <a:srgbClr val="FFFFFF"/>
                    </a:solidFill>
                  </a:tcPr>
                </a:tc>
              </a:tr>
              <a:tr h="619125">
                <a:tc>
                  <a:txBody>
                    <a:bodyPr lIns="95250" tIns="0" rIns="95250" bIns="0">
                      <a:noAutofit/>
                    </a:bodyPr>
                    <a:lstStyle/>
                    <a:p>
                      <a:pPr algn="l"/>
                      <a:r>
                        <a:rPr sz="1575" b="1">
                          <a:solidFill>
                            <a:srgbClr val="111827"/>
                          </a:solidFill>
                          <a:latin typeface="Arial"/>
                          <a:ea typeface="Arial"/>
                          <a:cs typeface="Arial"/>
                        </a:rPr>
                        <a:t>Net profit</a:t>
                      </a:r>
                    </a:p>
                  </a:txBody>
                  <a:tcPr marL="95250" marR="95250" marT="28575" marB="28575" anchor="ctr">
                    <a:lnL w="7144">
                      <a:solidFill>
                        <a:srgbClr val="DDE3EA"/>
                      </a:solidFill>
                      <a:prstDash val="solid"/>
                    </a:lnL>
                    <a:lnB w="7144">
                      <a:solidFill>
                        <a:srgbClr val="DDE3EA"/>
                      </a:solidFill>
                      <a:prstDash val="solid"/>
                    </a:lnB>
                    <a:solidFill>
                      <a:srgbClr val="EFF6FF"/>
                    </a:solidFill>
                  </a:tcPr>
                </a:tc>
                <a:tc>
                  <a:txBody>
                    <a:bodyPr lIns="95250" tIns="0" rIns="95250" bIns="0">
                      <a:noAutofit/>
                    </a:bodyPr>
                    <a:lstStyle/>
                    <a:p>
                      <a:pPr algn="r"/>
                      <a:r>
                        <a:rPr sz="1725" b="1">
                          <a:solidFill>
                            <a:srgbClr val="2563EB"/>
                          </a:solidFill>
                          <a:latin typeface="Arial"/>
                          <a:ea typeface="Arial"/>
                          <a:cs typeface="Arial"/>
                        </a:rPr>
                        <a:t>€286.4K</a:t>
                      </a:r>
                    </a:p>
                  </a:txBody>
                  <a:tcPr marL="95250" marR="95250" marT="28575" marB="28575" anchor="ctr">
                    <a:lnR w="7144">
                      <a:solidFill>
                        <a:srgbClr val="DDE3EA"/>
                      </a:solidFill>
                      <a:prstDash val="solid"/>
                    </a:lnR>
                    <a:lnB w="7144">
                      <a:solidFill>
                        <a:srgbClr val="DDE3EA"/>
                      </a:solidFill>
                      <a:prstDash val="solid"/>
                    </a:lnB>
                    <a:solidFill>
                      <a:srgbClr val="EFF6FF"/>
                    </a:solidFill>
                  </a:tcPr>
                </a:tc>
              </a:tr>
            </a:tbl>
          </a:graphicData>
        </a:graphic>
      </p:graphicFrame>
      <p:sp>
        <p:nvSpPr>
          <p:cNvPr id="8" name="surface-43">
            <a:extLst xmlns:a="http://schemas.openxmlformats.org/drawingml/2006/main">
              <a:ext uri="{FF2B5EF4-FFF2-40B4-BE49-F238E27FC236}">
                <a16:creationId xmlns:a16="http://schemas.microsoft.com/office/drawing/2014/main" id="{19277B31-DB1D-4CF2-96C7-F96A2ED48815}"/>
              </a:ext>
            </a:extLst>
          </p:cNvPr>
          <p:cNvSpPr>
            <a:spLocks xmlns:a="http://schemas.openxmlformats.org/drawingml/2006/main" noGrp="1"/>
          </p:cNvSpPr>
          <p:nvPr/>
        </p:nvSpPr>
        <p:spPr>
          <a:xfrm xmlns:a="http://schemas.openxmlformats.org/drawingml/2006/main">
            <a:off x="609600" y="4533900"/>
            <a:ext cx="3476625" cy="1381125"/>
          </a:xfrm>
          <a:prstGeom xmlns:a="http://schemas.openxmlformats.org/drawingml/2006/main" prst="roundRect">
            <a:avLst>
              <a:gd name="adj" fmla="val 6897"/>
            </a:avLst>
          </a:prstGeom>
          <a:solidFill xmlns:a="http://schemas.openxmlformats.org/drawingml/2006/main">
            <a:srgbClr val="FFF1F2"/>
          </a:solidFill>
          <a:ln xmlns:a="http://schemas.openxmlformats.org/drawingml/2006/main" w="9525">
            <a:solidFill>
              <a:srgbClr val="DDE3EA"/>
            </a:solidFill>
          </a:ln>
        </p:spPr>
      </p:sp>
      <p:sp>
        <p:nvSpPr>
          <p:cNvPr id="9" name="text-44">
            <a:extLst xmlns:a="http://schemas.openxmlformats.org/drawingml/2006/main">
              <a:ext uri="{FF2B5EF4-FFF2-40B4-BE49-F238E27FC236}">
                <a16:creationId xmlns:a16="http://schemas.microsoft.com/office/drawing/2014/main" id="{D8D0DB20-2237-4103-A358-7AA9D497E61C}"/>
              </a:ext>
            </a:extLst>
          </p:cNvPr>
          <p:cNvSpPr>
            <a:spLocks xmlns:a="http://schemas.openxmlformats.org/drawingml/2006/main" noGrp="1"/>
          </p:cNvSpPr>
          <p:nvPr/>
        </p:nvSpPr>
        <p:spPr>
          <a:xfrm xmlns:a="http://schemas.openxmlformats.org/drawingml/2006/main">
            <a:off x="781050" y="4667250"/>
            <a:ext cx="31337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D94A50"/>
                </a:solidFill>
                <a:latin typeface="Arial"/>
                <a:ea typeface="Arial"/>
                <a:cs typeface="Arial"/>
              </a:defRPr>
            </a:pPr>
            <a:r>
              <a:rPr sz="2400" b="1">
                <a:solidFill>
                  <a:srgbClr val="D94A50"/>
                </a:solidFill>
                <a:latin typeface="Arial"/>
                <a:ea typeface="Arial"/>
                <a:cs typeface="Arial"/>
              </a:rPr>
              <a:t>−€67.8K</a:t>
            </a:r>
          </a:p>
        </p:txBody>
      </p:sp>
      <p:sp>
        <p:nvSpPr>
          <p:cNvPr id="10" name="text-45">
            <a:extLst xmlns:a="http://schemas.openxmlformats.org/drawingml/2006/main">
              <a:ext uri="{FF2B5EF4-FFF2-40B4-BE49-F238E27FC236}">
                <a16:creationId xmlns:a16="http://schemas.microsoft.com/office/drawing/2014/main" id="{A0271B44-446D-459E-A035-61B40F425C0A}"/>
              </a:ext>
            </a:extLst>
          </p:cNvPr>
          <p:cNvSpPr>
            <a:spLocks xmlns:a="http://schemas.openxmlformats.org/drawingml/2006/main" noGrp="1"/>
          </p:cNvSpPr>
          <p:nvPr/>
        </p:nvSpPr>
        <p:spPr>
          <a:xfrm xmlns:a="http://schemas.openxmlformats.org/drawingml/2006/main">
            <a:off x="781050" y="5124450"/>
            <a:ext cx="3133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Net contribution of loss-oriented roles</a:t>
            </a:r>
          </a:p>
        </p:txBody>
      </p:sp>
      <p:sp>
        <p:nvSpPr>
          <p:cNvPr id="11" name="text-46">
            <a:extLst xmlns:a="http://schemas.openxmlformats.org/drawingml/2006/main">
              <a:ext uri="{FF2B5EF4-FFF2-40B4-BE49-F238E27FC236}">
                <a16:creationId xmlns:a16="http://schemas.microsoft.com/office/drawing/2014/main" id="{08C53137-728B-4CAA-BE6C-DCEEB7929CD0}"/>
              </a:ext>
            </a:extLst>
          </p:cNvPr>
          <p:cNvSpPr>
            <a:spLocks xmlns:a="http://schemas.openxmlformats.org/drawingml/2006/main" noGrp="1"/>
          </p:cNvSpPr>
          <p:nvPr/>
        </p:nvSpPr>
        <p:spPr>
          <a:xfrm xmlns:a="http://schemas.openxmlformats.org/drawingml/2006/main">
            <a:off x="781050" y="5610225"/>
            <a:ext cx="3133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4B5563"/>
                </a:solidFill>
                <a:latin typeface="Arial"/>
                <a:ea typeface="Arial"/>
                <a:cs typeface="Arial"/>
              </a:defRPr>
            </a:pPr>
            <a:r>
              <a:rPr sz="1088" b="0">
                <a:solidFill>
                  <a:srgbClr val="4B5563"/>
                </a:solidFill>
                <a:latin typeface="Arial"/>
                <a:ea typeface="Arial"/>
                <a:cs typeface="Arial"/>
              </a:rPr>
              <a:t>Combined result of Stable Loss and Loss Tail</a:t>
            </a:r>
          </a:p>
        </p:txBody>
      </p:sp>
      <p:sp>
        <p:nvSpPr>
          <p:cNvPr id="12" name="surface-47">
            <a:extLst xmlns:a="http://schemas.openxmlformats.org/drawingml/2006/main">
              <a:ext uri="{FF2B5EF4-FFF2-40B4-BE49-F238E27FC236}">
                <a16:creationId xmlns:a16="http://schemas.microsoft.com/office/drawing/2014/main" id="{B6A91231-36AB-492E-8EA0-EC3F0A5B9603}"/>
              </a:ext>
            </a:extLst>
          </p:cNvPr>
          <p:cNvSpPr>
            <a:spLocks xmlns:a="http://schemas.openxmlformats.org/drawingml/2006/main" noGrp="1"/>
          </p:cNvSpPr>
          <p:nvPr/>
        </p:nvSpPr>
        <p:spPr>
          <a:xfrm xmlns:a="http://schemas.openxmlformats.org/drawingml/2006/main">
            <a:off x="4352925" y="4533900"/>
            <a:ext cx="3476625" cy="1381125"/>
          </a:xfrm>
          <a:prstGeom xmlns:a="http://schemas.openxmlformats.org/drawingml/2006/main" prst="roundRect">
            <a:avLst>
              <a:gd name="adj" fmla="val 6897"/>
            </a:avLst>
          </a:prstGeom>
          <a:solidFill xmlns:a="http://schemas.openxmlformats.org/drawingml/2006/main">
            <a:srgbClr val="FFF1F2"/>
          </a:solidFill>
          <a:ln xmlns:a="http://schemas.openxmlformats.org/drawingml/2006/main" w="9525">
            <a:solidFill>
              <a:srgbClr val="DDE3EA"/>
            </a:solidFill>
          </a:ln>
        </p:spPr>
      </p:sp>
      <p:sp>
        <p:nvSpPr>
          <p:cNvPr id="13" name="text-48">
            <a:extLst xmlns:a="http://schemas.openxmlformats.org/drawingml/2006/main">
              <a:ext uri="{FF2B5EF4-FFF2-40B4-BE49-F238E27FC236}">
                <a16:creationId xmlns:a16="http://schemas.microsoft.com/office/drawing/2014/main" id="{8A7E8D4F-1C22-4AC0-96C9-352EA4B84A22}"/>
              </a:ext>
            </a:extLst>
          </p:cNvPr>
          <p:cNvSpPr>
            <a:spLocks xmlns:a="http://schemas.openxmlformats.org/drawingml/2006/main" noGrp="1"/>
          </p:cNvSpPr>
          <p:nvPr/>
        </p:nvSpPr>
        <p:spPr>
          <a:xfrm xmlns:a="http://schemas.openxmlformats.org/drawingml/2006/main">
            <a:off x="4524375" y="4667250"/>
            <a:ext cx="31337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D94A50"/>
                </a:solidFill>
                <a:latin typeface="Arial"/>
                <a:ea typeface="Arial"/>
                <a:cs typeface="Arial"/>
              </a:defRPr>
            </a:pPr>
            <a:r>
              <a:rPr sz="2400" b="1">
                <a:solidFill>
                  <a:srgbClr val="D94A50"/>
                </a:solidFill>
                <a:latin typeface="Arial"/>
                <a:ea typeface="Arial"/>
                <a:cs typeface="Arial"/>
              </a:rPr>
              <a:t>410</a:t>
            </a:r>
          </a:p>
        </p:txBody>
      </p:sp>
      <p:sp>
        <p:nvSpPr>
          <p:cNvPr id="14" name="text-49">
            <a:extLst xmlns:a="http://schemas.openxmlformats.org/drawingml/2006/main">
              <a:ext uri="{FF2B5EF4-FFF2-40B4-BE49-F238E27FC236}">
                <a16:creationId xmlns:a16="http://schemas.microsoft.com/office/drawing/2014/main" id="{2B6FA1F8-4B5D-4D10-85BB-57B9FFD497EF}"/>
              </a:ext>
            </a:extLst>
          </p:cNvPr>
          <p:cNvSpPr>
            <a:spLocks xmlns:a="http://schemas.openxmlformats.org/drawingml/2006/main" noGrp="1"/>
          </p:cNvSpPr>
          <p:nvPr/>
        </p:nvSpPr>
        <p:spPr>
          <a:xfrm xmlns:a="http://schemas.openxmlformats.org/drawingml/2006/main">
            <a:off x="4524375" y="5124450"/>
            <a:ext cx="3133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Products in loss-oriented roles</a:t>
            </a:r>
          </a:p>
        </p:txBody>
      </p:sp>
      <p:sp>
        <p:nvSpPr>
          <p:cNvPr id="15" name="text-50">
            <a:extLst xmlns:a="http://schemas.openxmlformats.org/drawingml/2006/main">
              <a:ext uri="{FF2B5EF4-FFF2-40B4-BE49-F238E27FC236}">
                <a16:creationId xmlns:a16="http://schemas.microsoft.com/office/drawing/2014/main" id="{1E7656D1-9687-490A-BCA2-35337ED61FD0}"/>
              </a:ext>
            </a:extLst>
          </p:cNvPr>
          <p:cNvSpPr>
            <a:spLocks xmlns:a="http://schemas.openxmlformats.org/drawingml/2006/main" noGrp="1"/>
          </p:cNvSpPr>
          <p:nvPr/>
        </p:nvSpPr>
        <p:spPr>
          <a:xfrm xmlns:a="http://schemas.openxmlformats.org/drawingml/2006/main">
            <a:off x="4524375" y="5610225"/>
            <a:ext cx="3133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4B5563"/>
                </a:solidFill>
                <a:latin typeface="Arial"/>
                <a:ea typeface="Arial"/>
                <a:cs typeface="Arial"/>
              </a:defRPr>
            </a:pPr>
            <a:r>
              <a:rPr sz="1088" b="0">
                <a:solidFill>
                  <a:srgbClr val="4B5563"/>
                </a:solidFill>
                <a:latin typeface="Arial"/>
                <a:ea typeface="Arial"/>
                <a:cs typeface="Arial"/>
              </a:rPr>
              <a:t>384 Stable Loss + 26 Loss Tail</a:t>
            </a:r>
          </a:p>
        </p:txBody>
      </p:sp>
      <p:sp>
        <p:nvSpPr>
          <p:cNvPr id="16" name="surface-51">
            <a:extLst xmlns:a="http://schemas.openxmlformats.org/drawingml/2006/main">
              <a:ext uri="{FF2B5EF4-FFF2-40B4-BE49-F238E27FC236}">
                <a16:creationId xmlns:a16="http://schemas.microsoft.com/office/drawing/2014/main" id="{D4F1AC9A-7054-42B4-8457-F398392BEAEC}"/>
              </a:ext>
            </a:extLst>
          </p:cNvPr>
          <p:cNvSpPr>
            <a:spLocks xmlns:a="http://schemas.openxmlformats.org/drawingml/2006/main" noGrp="1"/>
          </p:cNvSpPr>
          <p:nvPr/>
        </p:nvSpPr>
        <p:spPr>
          <a:xfrm xmlns:a="http://schemas.openxmlformats.org/drawingml/2006/main">
            <a:off x="8096250" y="4533900"/>
            <a:ext cx="3476625" cy="1381125"/>
          </a:xfrm>
          <a:prstGeom xmlns:a="http://schemas.openxmlformats.org/drawingml/2006/main" prst="roundRect">
            <a:avLst>
              <a:gd name="adj" fmla="val 6897"/>
            </a:avLst>
          </a:prstGeom>
          <a:solidFill xmlns:a="http://schemas.openxmlformats.org/drawingml/2006/main">
            <a:srgbClr val="FFF8E8"/>
          </a:solidFill>
          <a:ln xmlns:a="http://schemas.openxmlformats.org/drawingml/2006/main" w="9525">
            <a:solidFill>
              <a:srgbClr val="DDE3EA"/>
            </a:solidFill>
          </a:ln>
        </p:spPr>
      </p:sp>
      <p:sp>
        <p:nvSpPr>
          <p:cNvPr id="17" name="text-52">
            <a:extLst xmlns:a="http://schemas.openxmlformats.org/drawingml/2006/main">
              <a:ext uri="{FF2B5EF4-FFF2-40B4-BE49-F238E27FC236}">
                <a16:creationId xmlns:a16="http://schemas.microsoft.com/office/drawing/2014/main" id="{0A1492DB-129B-43FF-B45A-9B4FFDB43858}"/>
              </a:ext>
            </a:extLst>
          </p:cNvPr>
          <p:cNvSpPr>
            <a:spLocks xmlns:a="http://schemas.openxmlformats.org/drawingml/2006/main" noGrp="1"/>
          </p:cNvSpPr>
          <p:nvPr/>
        </p:nvSpPr>
        <p:spPr>
          <a:xfrm xmlns:a="http://schemas.openxmlformats.org/drawingml/2006/main">
            <a:off x="8267700" y="4667250"/>
            <a:ext cx="31337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65D00"/>
                </a:solidFill>
                <a:latin typeface="Arial"/>
                <a:ea typeface="Arial"/>
                <a:cs typeface="Arial"/>
              </a:defRPr>
            </a:pPr>
            <a:r>
              <a:rPr sz="2400" b="1">
                <a:solidFill>
                  <a:srgbClr val="A65D00"/>
                </a:solidFill>
                <a:latin typeface="Arial"/>
                <a:ea typeface="Arial"/>
                <a:cs typeface="Arial"/>
              </a:rPr>
              <a:t>26.1%</a:t>
            </a:r>
          </a:p>
        </p:txBody>
      </p:sp>
      <p:sp>
        <p:nvSpPr>
          <p:cNvPr id="18" name="text-53">
            <a:extLst xmlns:a="http://schemas.openxmlformats.org/drawingml/2006/main">
              <a:ext uri="{FF2B5EF4-FFF2-40B4-BE49-F238E27FC236}">
                <a16:creationId xmlns:a16="http://schemas.microsoft.com/office/drawing/2014/main" id="{C8AB442D-E973-4801-BFA8-CF2E5EAFF81E}"/>
              </a:ext>
            </a:extLst>
          </p:cNvPr>
          <p:cNvSpPr>
            <a:spLocks xmlns:a="http://schemas.openxmlformats.org/drawingml/2006/main" noGrp="1"/>
          </p:cNvSpPr>
          <p:nvPr/>
        </p:nvSpPr>
        <p:spPr>
          <a:xfrm xmlns:a="http://schemas.openxmlformats.org/drawingml/2006/main">
            <a:off x="8267700" y="5124450"/>
            <a:ext cx="3133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Products losing money on &gt;30% of orders</a:t>
            </a:r>
          </a:p>
        </p:txBody>
      </p:sp>
      <p:sp>
        <p:nvSpPr>
          <p:cNvPr id="19" name="text-54">
            <a:extLst xmlns:a="http://schemas.openxmlformats.org/drawingml/2006/main">
              <a:ext uri="{FF2B5EF4-FFF2-40B4-BE49-F238E27FC236}">
                <a16:creationId xmlns:a16="http://schemas.microsoft.com/office/drawing/2014/main" id="{B7AB588B-7772-4E7E-B17C-2736575C4218}"/>
              </a:ext>
            </a:extLst>
          </p:cNvPr>
          <p:cNvSpPr>
            <a:spLocks xmlns:a="http://schemas.openxmlformats.org/drawingml/2006/main" noGrp="1"/>
          </p:cNvSpPr>
          <p:nvPr/>
        </p:nvSpPr>
        <p:spPr>
          <a:xfrm xmlns:a="http://schemas.openxmlformats.org/drawingml/2006/main">
            <a:off x="8267700" y="5610225"/>
            <a:ext cx="3133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4B5563"/>
                </a:solidFill>
                <a:latin typeface="Arial"/>
                <a:ea typeface="Arial"/>
                <a:cs typeface="Arial"/>
              </a:defRPr>
            </a:pPr>
            <a:r>
              <a:rPr sz="1088" b="0">
                <a:solidFill>
                  <a:srgbClr val="4B5563"/>
                </a:solidFill>
                <a:latin typeface="Arial"/>
                <a:ea typeface="Arial"/>
                <a:cs typeface="Arial"/>
              </a:rPr>
              <a:t>A recurring loss-frequency signal</a:t>
            </a:r>
          </a:p>
        </p:txBody>
      </p:sp>
      <p:sp>
        <p:nvSpPr>
          <p:cNvPr id="20" name="text-55">
            <a:extLst xmlns:a="http://schemas.openxmlformats.org/drawingml/2006/main">
              <a:ext uri="{FF2B5EF4-FFF2-40B4-BE49-F238E27FC236}">
                <a16:creationId xmlns:a16="http://schemas.microsoft.com/office/drawing/2014/main" id="{232320E0-782D-47FF-AF3E-969154D28B2B}"/>
              </a:ext>
            </a:extLst>
          </p:cNvPr>
          <p:cNvSpPr>
            <a:spLocks xmlns:a="http://schemas.openxmlformats.org/drawingml/2006/main" noGrp="1"/>
          </p:cNvSpPr>
          <p:nvPr/>
        </p:nvSpPr>
        <p:spPr>
          <a:xfrm xmlns:a="http://schemas.openxmlformats.org/drawingml/2006/main">
            <a:off x="619125"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8" b="0">
                <a:solidFill>
                  <a:srgbClr val="718096"/>
                </a:solidFill>
                <a:latin typeface="Arial"/>
                <a:ea typeface="Arial"/>
                <a:cs typeface="Arial"/>
              </a:defRPr>
            </a:pPr>
            <a:r>
              <a:rPr sz="998" b="0">
                <a:solidFill>
                  <a:srgbClr val="718096"/>
                </a:solidFill>
                <a:latin typeface="Arial"/>
                <a:ea typeface="Arial"/>
                <a:cs typeface="Arial"/>
              </a:rPr>
              <a:t>“Loss-oriented” describes an analytical role. Group net contribution differs from the €77.1K total loss of net-negative products.</a:t>
            </a:r>
          </a:p>
        </p:txBody>
      </p:sp>
    </p:spTree>
    <p:extLst>
      <p:ext uri="{BB962C8B-B14F-4D97-AF65-F5344CB8AC3E}">
        <p14:creationId xmlns:p14="http://schemas.microsoft.com/office/powerpoint/2010/main" val="23130446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9" name="text-56">
            <a:extLst xmlns:a="http://schemas.openxmlformats.org/drawingml/2006/main">
              <a:ext uri="{FF2B5EF4-FFF2-40B4-BE49-F238E27FC236}">
                <a16:creationId xmlns:a16="http://schemas.microsoft.com/office/drawing/2014/main" id="{7DF881FC-CF12-418D-9FA2-A91262F21161}"/>
              </a:ext>
            </a:extLst>
          </p:cNvPr>
          <p:cNvSpPr>
            <a:spLocks xmlns:a="http://schemas.openxmlformats.org/drawingml/2006/main" noGrp="1"/>
          </p:cNvSpPr>
          <p:nvPr/>
        </p:nvSpPr>
        <p:spPr>
          <a:xfrm xmlns:a="http://schemas.openxmlformats.org/drawingml/2006/main">
            <a:off x="609600" y="14192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DECISION SYSTEM</a:t>
            </a:r>
          </a:p>
        </p:txBody>
      </p:sp>
      <p:sp>
        <p:nvSpPr>
          <p:cNvPr id="2" name="text-57">
            <a:extLst xmlns:a="http://schemas.openxmlformats.org/drawingml/2006/main">
              <a:ext uri="{FF2B5EF4-FFF2-40B4-BE49-F238E27FC236}">
                <a16:creationId xmlns:a16="http://schemas.microsoft.com/office/drawing/2014/main" id="{EF134AB3-23D3-4AB7-9833-537FF7BF3B39}"/>
              </a:ext>
            </a:extLst>
          </p:cNvPr>
          <p:cNvSpPr>
            <a:spLocks xmlns:a="http://schemas.openxmlformats.org/drawingml/2006/main" noGrp="1"/>
          </p:cNvSpPr>
          <p:nvPr/>
        </p:nvSpPr>
        <p:spPr>
          <a:xfrm xmlns:a="http://schemas.openxmlformats.org/drawingml/2006/main">
            <a:off x="609600" y="1647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11827"/>
                </a:solidFill>
                <a:latin typeface="Arial"/>
                <a:ea typeface="Arial"/>
                <a:cs typeface="Arial"/>
              </a:defRPr>
            </a:pPr>
            <a:r>
              <a:rPr sz="2550" b="1">
                <a:solidFill>
                  <a:srgbClr val="111827"/>
                </a:solidFill>
                <a:latin typeface="Arial"/>
                <a:ea typeface="Arial"/>
                <a:cs typeface="Arial"/>
              </a:rPr>
              <a:t>Seven Roles, Four Checks, One Intervention.</a:t>
            </a:r>
          </a:p>
        </p:txBody>
      </p:sp>
      <p:sp>
        <p:nvSpPr>
          <p:cNvPr id="3" name="text-58">
            <a:extLst xmlns:a="http://schemas.openxmlformats.org/drawingml/2006/main">
              <a:ext uri="{FF2B5EF4-FFF2-40B4-BE49-F238E27FC236}">
                <a16:creationId xmlns:a16="http://schemas.microsoft.com/office/drawing/2014/main" id="{E6B66224-9BA3-4F04-AA5D-5BFC3D19970D}"/>
              </a:ext>
            </a:extLst>
          </p:cNvPr>
          <p:cNvSpPr>
            <a:spLocks xmlns:a="http://schemas.openxmlformats.org/drawingml/2006/main" noGrp="1"/>
          </p:cNvSpPr>
          <p:nvPr/>
        </p:nvSpPr>
        <p:spPr>
          <a:xfrm xmlns:a="http://schemas.openxmlformats.org/drawingml/2006/main">
            <a:off x="609600" y="215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Segmentation proposes. Governance refines. One intervention per product.</a:t>
            </a:r>
          </a:p>
        </p:txBody>
      </p:sp>
      <p:sp>
        <p:nvSpPr>
          <p:cNvPr id="4" name="surface-59">
            <a:extLst xmlns:a="http://schemas.openxmlformats.org/drawingml/2006/main">
              <a:ext uri="{FF2B5EF4-FFF2-40B4-BE49-F238E27FC236}">
                <a16:creationId xmlns:a16="http://schemas.microsoft.com/office/drawing/2014/main" id="{20F4B63D-B186-46F6-8732-5F65519771F6}"/>
              </a:ext>
            </a:extLst>
          </p:cNvPr>
          <p:cNvSpPr>
            <a:spLocks xmlns:a="http://schemas.openxmlformats.org/drawingml/2006/main" noGrp="1"/>
          </p:cNvSpPr>
          <p:nvPr/>
        </p:nvSpPr>
        <p:spPr>
          <a:xfrm xmlns:a="http://schemas.openxmlformats.org/drawingml/2006/main">
            <a:off x="609600" y="2647950"/>
            <a:ext cx="3286125" cy="1400175"/>
          </a:xfrm>
          <a:prstGeom xmlns:a="http://schemas.openxmlformats.org/drawingml/2006/main" prst="roundRect">
            <a:avLst>
              <a:gd name="adj" fmla="val 6803"/>
            </a:avLst>
          </a:prstGeom>
          <a:solidFill xmlns:a="http://schemas.openxmlformats.org/drawingml/2006/main">
            <a:srgbClr val="F8FAFC"/>
          </a:solidFill>
          <a:ln xmlns:a="http://schemas.openxmlformats.org/drawingml/2006/main" w="10478">
            <a:solidFill>
              <a:srgbClr val="718096"/>
            </a:solidFill>
          </a:ln>
        </p:spPr>
      </p:sp>
      <p:sp>
        <p:nvSpPr>
          <p:cNvPr id="5" name="text-60">
            <a:extLst xmlns:a="http://schemas.openxmlformats.org/drawingml/2006/main">
              <a:ext uri="{FF2B5EF4-FFF2-40B4-BE49-F238E27FC236}">
                <a16:creationId xmlns:a16="http://schemas.microsoft.com/office/drawing/2014/main" id="{4F366770-7871-484D-9F2B-0AA4423A9A81}"/>
              </a:ext>
            </a:extLst>
          </p:cNvPr>
          <p:cNvSpPr>
            <a:spLocks xmlns:a="http://schemas.openxmlformats.org/drawingml/2006/main" noGrp="1"/>
          </p:cNvSpPr>
          <p:nvPr/>
        </p:nvSpPr>
        <p:spPr>
          <a:xfrm xmlns:a="http://schemas.openxmlformats.org/drawingml/2006/main">
            <a:off x="771525" y="2771775"/>
            <a:ext cx="2962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18096"/>
                </a:solidFill>
                <a:latin typeface="Arial"/>
                <a:ea typeface="Arial"/>
                <a:cs typeface="Arial"/>
              </a:defRPr>
            </a:pPr>
            <a:r>
              <a:rPr sz="1275" b="1">
                <a:solidFill>
                  <a:srgbClr val="718096"/>
                </a:solidFill>
                <a:latin typeface="Arial"/>
                <a:ea typeface="Arial"/>
                <a:cs typeface="Arial"/>
              </a:rPr>
              <a:t>1  DATA</a:t>
            </a:r>
          </a:p>
        </p:txBody>
      </p:sp>
      <p:sp>
        <p:nvSpPr>
          <p:cNvPr id="6" name="text-61">
            <a:extLst xmlns:a="http://schemas.openxmlformats.org/drawingml/2006/main">
              <a:ext uri="{FF2B5EF4-FFF2-40B4-BE49-F238E27FC236}">
                <a16:creationId xmlns:a16="http://schemas.microsoft.com/office/drawing/2014/main" id="{4ACDA653-DE19-49B2-ABB9-AAB4AC127F6F}"/>
              </a:ext>
            </a:extLst>
          </p:cNvPr>
          <p:cNvSpPr>
            <a:spLocks xmlns:a="http://schemas.openxmlformats.org/drawingml/2006/main" noGrp="1"/>
          </p:cNvSpPr>
          <p:nvPr/>
        </p:nvSpPr>
        <p:spPr>
          <a:xfrm xmlns:a="http://schemas.openxmlformats.org/drawingml/2006/main">
            <a:off x="771525" y="3086100"/>
            <a:ext cx="29622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9,986 order × product rows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1,894 products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One consistent product-level view</a:t>
            </a:r>
          </a:p>
        </p:txBody>
      </p:sp>
      <p:sp>
        <p:nvSpPr>
          <p:cNvPr id="7" name="surface-62">
            <a:extLst xmlns:a="http://schemas.openxmlformats.org/drawingml/2006/main">
              <a:ext uri="{FF2B5EF4-FFF2-40B4-BE49-F238E27FC236}">
                <a16:creationId xmlns:a16="http://schemas.microsoft.com/office/drawing/2014/main" id="{D7536C5A-53D9-4C36-BCDD-BF6FB3C0636C}"/>
              </a:ext>
            </a:extLst>
          </p:cNvPr>
          <p:cNvSpPr>
            <a:spLocks xmlns:a="http://schemas.openxmlformats.org/drawingml/2006/main" noGrp="1"/>
          </p:cNvSpPr>
          <p:nvPr/>
        </p:nvSpPr>
        <p:spPr>
          <a:xfrm xmlns:a="http://schemas.openxmlformats.org/drawingml/2006/main">
            <a:off x="4448175" y="2647950"/>
            <a:ext cx="3286125" cy="1400175"/>
          </a:xfrm>
          <a:prstGeom xmlns:a="http://schemas.openxmlformats.org/drawingml/2006/main" prst="roundRect">
            <a:avLst>
              <a:gd name="adj" fmla="val 6803"/>
            </a:avLst>
          </a:prstGeom>
          <a:solidFill xmlns:a="http://schemas.openxmlformats.org/drawingml/2006/main">
            <a:srgbClr val="EFF6FF"/>
          </a:solidFill>
          <a:ln xmlns:a="http://schemas.openxmlformats.org/drawingml/2006/main" w="10478">
            <a:solidFill>
              <a:srgbClr val="2563EB"/>
            </a:solidFill>
          </a:ln>
        </p:spPr>
      </p:sp>
      <p:sp>
        <p:nvSpPr>
          <p:cNvPr id="8" name="text-63">
            <a:extLst xmlns:a="http://schemas.openxmlformats.org/drawingml/2006/main">
              <a:ext uri="{FF2B5EF4-FFF2-40B4-BE49-F238E27FC236}">
                <a16:creationId xmlns:a16="http://schemas.microsoft.com/office/drawing/2014/main" id="{C8F2B9EF-8385-4783-826F-3D4D366CD7ED}"/>
              </a:ext>
            </a:extLst>
          </p:cNvPr>
          <p:cNvSpPr>
            <a:spLocks xmlns:a="http://schemas.openxmlformats.org/drawingml/2006/main" noGrp="1"/>
          </p:cNvSpPr>
          <p:nvPr/>
        </p:nvSpPr>
        <p:spPr>
          <a:xfrm xmlns:a="http://schemas.openxmlformats.org/drawingml/2006/main">
            <a:off x="4610100" y="2771775"/>
            <a:ext cx="2962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563EB"/>
                </a:solidFill>
                <a:latin typeface="Arial"/>
                <a:ea typeface="Arial"/>
                <a:cs typeface="Arial"/>
              </a:defRPr>
            </a:pPr>
            <a:r>
              <a:rPr sz="1275" b="1">
                <a:solidFill>
                  <a:srgbClr val="2563EB"/>
                </a:solidFill>
                <a:latin typeface="Arial"/>
                <a:ea typeface="Arial"/>
                <a:cs typeface="Arial"/>
              </a:rPr>
              <a:t>2  FOUR KPIs</a:t>
            </a:r>
          </a:p>
        </p:txBody>
      </p:sp>
      <p:sp>
        <p:nvSpPr>
          <p:cNvPr id="9" name="text-64">
            <a:extLst xmlns:a="http://schemas.openxmlformats.org/drawingml/2006/main">
              <a:ext uri="{FF2B5EF4-FFF2-40B4-BE49-F238E27FC236}">
                <a16:creationId xmlns:a16="http://schemas.microsoft.com/office/drawing/2014/main" id="{FD5828FC-C0EF-47A3-AAFF-0543848235E1}"/>
              </a:ext>
            </a:extLst>
          </p:cNvPr>
          <p:cNvSpPr>
            <a:spLocks xmlns:a="http://schemas.openxmlformats.org/drawingml/2006/main" noGrp="1"/>
          </p:cNvSpPr>
          <p:nvPr/>
        </p:nvSpPr>
        <p:spPr>
          <a:xfrm xmlns:a="http://schemas.openxmlformats.org/drawingml/2006/main">
            <a:off x="4610100" y="3086100"/>
            <a:ext cx="29622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Mean order profit: earning power</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Volatility: profit consistency</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Loss frequency: downside recurrence</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Contribution: economic scale</a:t>
            </a:r>
          </a:p>
        </p:txBody>
      </p:sp>
      <p:sp>
        <p:nvSpPr>
          <p:cNvPr id="10" name="surface-65">
            <a:extLst xmlns:a="http://schemas.openxmlformats.org/drawingml/2006/main">
              <a:ext uri="{FF2B5EF4-FFF2-40B4-BE49-F238E27FC236}">
                <a16:creationId xmlns:a16="http://schemas.microsoft.com/office/drawing/2014/main" id="{D68E1DBE-E2DB-4256-9FD8-032E58646DF7}"/>
              </a:ext>
            </a:extLst>
          </p:cNvPr>
          <p:cNvSpPr>
            <a:spLocks xmlns:a="http://schemas.openxmlformats.org/drawingml/2006/main" noGrp="1"/>
          </p:cNvSpPr>
          <p:nvPr/>
        </p:nvSpPr>
        <p:spPr>
          <a:xfrm xmlns:a="http://schemas.openxmlformats.org/drawingml/2006/main">
            <a:off x="8286750" y="2647950"/>
            <a:ext cx="3286125" cy="1400175"/>
          </a:xfrm>
          <a:prstGeom xmlns:a="http://schemas.openxmlformats.org/drawingml/2006/main" prst="roundRect">
            <a:avLst>
              <a:gd name="adj" fmla="val 6803"/>
            </a:avLst>
          </a:prstGeom>
          <a:solidFill xmlns:a="http://schemas.openxmlformats.org/drawingml/2006/main">
            <a:srgbClr val="FFF8E8"/>
          </a:solidFill>
          <a:ln xmlns:a="http://schemas.openxmlformats.org/drawingml/2006/main" w="10478">
            <a:solidFill>
              <a:srgbClr val="A65D00"/>
            </a:solidFill>
          </a:ln>
        </p:spPr>
      </p:sp>
      <p:sp>
        <p:nvSpPr>
          <p:cNvPr id="11" name="text-66">
            <a:extLst xmlns:a="http://schemas.openxmlformats.org/drawingml/2006/main">
              <a:ext uri="{FF2B5EF4-FFF2-40B4-BE49-F238E27FC236}">
                <a16:creationId xmlns:a16="http://schemas.microsoft.com/office/drawing/2014/main" id="{5494D69D-6C3F-47D7-A813-0C6A69ED8238}"/>
              </a:ext>
            </a:extLst>
          </p:cNvPr>
          <p:cNvSpPr>
            <a:spLocks xmlns:a="http://schemas.openxmlformats.org/drawingml/2006/main" noGrp="1"/>
          </p:cNvSpPr>
          <p:nvPr/>
        </p:nvSpPr>
        <p:spPr>
          <a:xfrm xmlns:a="http://schemas.openxmlformats.org/drawingml/2006/main">
            <a:off x="8448675" y="2771775"/>
            <a:ext cx="2962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A65D00"/>
                </a:solidFill>
                <a:latin typeface="Arial"/>
                <a:ea typeface="Arial"/>
                <a:cs typeface="Arial"/>
              </a:defRPr>
            </a:pPr>
            <a:r>
              <a:rPr sz="1275" b="1">
                <a:solidFill>
                  <a:srgbClr val="A65D00"/>
                </a:solidFill>
                <a:latin typeface="Arial"/>
                <a:ea typeface="Arial"/>
                <a:cs typeface="Arial"/>
              </a:rPr>
              <a:t>3  BODY / TAIL</a:t>
            </a:r>
          </a:p>
        </p:txBody>
      </p:sp>
      <p:sp>
        <p:nvSpPr>
          <p:cNvPr id="12" name="text-67">
            <a:extLst xmlns:a="http://schemas.openxmlformats.org/drawingml/2006/main">
              <a:ext uri="{FF2B5EF4-FFF2-40B4-BE49-F238E27FC236}">
                <a16:creationId xmlns:a16="http://schemas.microsoft.com/office/drawing/2014/main" id="{4290C98D-7EAF-47C7-9D79-5444E432182F}"/>
              </a:ext>
            </a:extLst>
          </p:cNvPr>
          <p:cNvSpPr>
            <a:spLocks xmlns:a="http://schemas.openxmlformats.org/drawingml/2006/main" noGrp="1"/>
          </p:cNvSpPr>
          <p:nvPr/>
        </p:nvSpPr>
        <p:spPr>
          <a:xfrm xmlns:a="http://schemas.openxmlformats.org/drawingml/2006/main">
            <a:off x="8448675" y="3086100"/>
            <a:ext cx="29622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1,822 comparable products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72 extreme cases kept separate</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Large impact and risk remain visible</a:t>
            </a:r>
          </a:p>
        </p:txBody>
      </p:sp>
      <p:sp>
        <p:nvSpPr>
          <p:cNvPr id="13" name="surface-68">
            <a:extLst xmlns:a="http://schemas.openxmlformats.org/drawingml/2006/main">
              <a:ext uri="{FF2B5EF4-FFF2-40B4-BE49-F238E27FC236}">
                <a16:creationId xmlns:a16="http://schemas.microsoft.com/office/drawing/2014/main" id="{620C6F48-D990-47E5-A12C-77D9ED373502}"/>
              </a:ext>
            </a:extLst>
          </p:cNvPr>
          <p:cNvSpPr>
            <a:spLocks xmlns:a="http://schemas.openxmlformats.org/drawingml/2006/main" noGrp="1"/>
          </p:cNvSpPr>
          <p:nvPr/>
        </p:nvSpPr>
        <p:spPr>
          <a:xfrm xmlns:a="http://schemas.openxmlformats.org/drawingml/2006/main">
            <a:off x="609600" y="4419600"/>
            <a:ext cx="3286125" cy="1400175"/>
          </a:xfrm>
          <a:prstGeom xmlns:a="http://schemas.openxmlformats.org/drawingml/2006/main" prst="roundRect">
            <a:avLst>
              <a:gd name="adj" fmla="val 6803"/>
            </a:avLst>
          </a:prstGeom>
          <a:solidFill xmlns:a="http://schemas.openxmlformats.org/drawingml/2006/main">
            <a:srgbClr val="EAF7FB"/>
          </a:solidFill>
          <a:ln xmlns:a="http://schemas.openxmlformats.org/drawingml/2006/main" w="10478">
            <a:solidFill>
              <a:srgbClr val="1687A7"/>
            </a:solidFill>
          </a:ln>
        </p:spPr>
      </p:sp>
      <p:sp>
        <p:nvSpPr>
          <p:cNvPr id="14" name="text-69">
            <a:extLst xmlns:a="http://schemas.openxmlformats.org/drawingml/2006/main">
              <a:ext uri="{FF2B5EF4-FFF2-40B4-BE49-F238E27FC236}">
                <a16:creationId xmlns:a16="http://schemas.microsoft.com/office/drawing/2014/main" id="{6922BF7C-FA5B-49DF-AF47-87E880679105}"/>
              </a:ext>
            </a:extLst>
          </p:cNvPr>
          <p:cNvSpPr>
            <a:spLocks xmlns:a="http://schemas.openxmlformats.org/drawingml/2006/main" noGrp="1"/>
          </p:cNvSpPr>
          <p:nvPr/>
        </p:nvSpPr>
        <p:spPr>
          <a:xfrm xmlns:a="http://schemas.openxmlformats.org/drawingml/2006/main">
            <a:off x="771525" y="4543425"/>
            <a:ext cx="2962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687A7"/>
                </a:solidFill>
                <a:latin typeface="Arial"/>
                <a:ea typeface="Arial"/>
                <a:cs typeface="Arial"/>
              </a:defRPr>
            </a:pPr>
            <a:r>
              <a:rPr sz="1275" b="1">
                <a:solidFill>
                  <a:srgbClr val="1687A7"/>
                </a:solidFill>
                <a:latin typeface="Arial"/>
                <a:ea typeface="Arial"/>
                <a:cs typeface="Arial"/>
              </a:rPr>
              <a:t>4  SEVEN ROLES</a:t>
            </a:r>
          </a:p>
        </p:txBody>
      </p:sp>
      <p:sp>
        <p:nvSpPr>
          <p:cNvPr id="15" name="text-70">
            <a:extLst xmlns:a="http://schemas.openxmlformats.org/drawingml/2006/main">
              <a:ext uri="{FF2B5EF4-FFF2-40B4-BE49-F238E27FC236}">
                <a16:creationId xmlns:a16="http://schemas.microsoft.com/office/drawing/2014/main" id="{82913C0F-385E-4ADD-98C1-48479366AF4E}"/>
              </a:ext>
            </a:extLst>
          </p:cNvPr>
          <p:cNvSpPr>
            <a:spLocks xmlns:a="http://schemas.openxmlformats.org/drawingml/2006/main" noGrp="1"/>
          </p:cNvSpPr>
          <p:nvPr/>
        </p:nvSpPr>
        <p:spPr>
          <a:xfrm xmlns:a="http://schemas.openxmlformats.org/drawingml/2006/main">
            <a:off x="771525" y="4857750"/>
            <a:ext cx="29622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4 peer groups from K-means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3 extreme groups from explicit rules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Each role has a starting action</a:t>
            </a:r>
          </a:p>
        </p:txBody>
      </p:sp>
      <p:sp>
        <p:nvSpPr>
          <p:cNvPr id="16" name="surface-71">
            <a:extLst xmlns:a="http://schemas.openxmlformats.org/drawingml/2006/main">
              <a:ext uri="{FF2B5EF4-FFF2-40B4-BE49-F238E27FC236}">
                <a16:creationId xmlns:a16="http://schemas.microsoft.com/office/drawing/2014/main" id="{B61DE414-CE32-498F-9897-01162DD7F098}"/>
              </a:ext>
            </a:extLst>
          </p:cNvPr>
          <p:cNvSpPr>
            <a:spLocks xmlns:a="http://schemas.openxmlformats.org/drawingml/2006/main" noGrp="1"/>
          </p:cNvSpPr>
          <p:nvPr/>
        </p:nvSpPr>
        <p:spPr>
          <a:xfrm xmlns:a="http://schemas.openxmlformats.org/drawingml/2006/main">
            <a:off x="4448175" y="4419600"/>
            <a:ext cx="3286125" cy="1400175"/>
          </a:xfrm>
          <a:prstGeom xmlns:a="http://schemas.openxmlformats.org/drawingml/2006/main" prst="roundRect">
            <a:avLst>
              <a:gd name="adj" fmla="val 6803"/>
            </a:avLst>
          </a:prstGeom>
          <a:solidFill xmlns:a="http://schemas.openxmlformats.org/drawingml/2006/main">
            <a:srgbClr val="F5F3FF"/>
          </a:solidFill>
          <a:ln xmlns:a="http://schemas.openxmlformats.org/drawingml/2006/main" w="10478">
            <a:solidFill>
              <a:srgbClr val="7C3AED"/>
            </a:solidFill>
          </a:ln>
        </p:spPr>
      </p:sp>
      <p:sp>
        <p:nvSpPr>
          <p:cNvPr id="17" name="text-72">
            <a:extLst xmlns:a="http://schemas.openxmlformats.org/drawingml/2006/main">
              <a:ext uri="{FF2B5EF4-FFF2-40B4-BE49-F238E27FC236}">
                <a16:creationId xmlns:a16="http://schemas.microsoft.com/office/drawing/2014/main" id="{01F26F0C-711D-4EF7-9131-8BC12BACA896}"/>
              </a:ext>
            </a:extLst>
          </p:cNvPr>
          <p:cNvSpPr>
            <a:spLocks xmlns:a="http://schemas.openxmlformats.org/drawingml/2006/main" noGrp="1"/>
          </p:cNvSpPr>
          <p:nvPr/>
        </p:nvSpPr>
        <p:spPr>
          <a:xfrm xmlns:a="http://schemas.openxmlformats.org/drawingml/2006/main">
            <a:off x="4610100" y="4543425"/>
            <a:ext cx="2962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C3AED"/>
                </a:solidFill>
                <a:latin typeface="Arial"/>
                <a:ea typeface="Arial"/>
                <a:cs typeface="Arial"/>
              </a:defRPr>
            </a:pPr>
            <a:r>
              <a:rPr sz="1275" b="1">
                <a:solidFill>
                  <a:srgbClr val="7C3AED"/>
                </a:solidFill>
                <a:latin typeface="Arial"/>
                <a:ea typeface="Arial"/>
                <a:cs typeface="Arial"/>
              </a:rPr>
              <a:t>5  FOUR GOVERNANCE CHECKS</a:t>
            </a:r>
          </a:p>
        </p:txBody>
      </p:sp>
      <p:sp>
        <p:nvSpPr>
          <p:cNvPr id="18" name="text-73">
            <a:extLst xmlns:a="http://schemas.openxmlformats.org/drawingml/2006/main">
              <a:ext uri="{FF2B5EF4-FFF2-40B4-BE49-F238E27FC236}">
                <a16:creationId xmlns:a16="http://schemas.microsoft.com/office/drawing/2014/main" id="{E837B315-E1A5-4261-A82B-71A2FCC0E373}"/>
              </a:ext>
            </a:extLst>
          </p:cNvPr>
          <p:cNvSpPr>
            <a:spLocks xmlns:a="http://schemas.openxmlformats.org/drawingml/2006/main" noGrp="1"/>
          </p:cNvSpPr>
          <p:nvPr/>
        </p:nvSpPr>
        <p:spPr>
          <a:xfrm xmlns:a="http://schemas.openxmlformats.org/drawingml/2006/main">
            <a:off x="4610100" y="4857750"/>
            <a:ext cx="29622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Profit stress against action tolerance</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Dependence on a few profit drivers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Overlapping extreme signals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Uncertain role assignment</a:t>
            </a:r>
          </a:p>
        </p:txBody>
      </p:sp>
      <p:sp>
        <p:nvSpPr>
          <p:cNvPr id="19" name="surface-74">
            <a:extLst xmlns:a="http://schemas.openxmlformats.org/drawingml/2006/main">
              <a:ext uri="{FF2B5EF4-FFF2-40B4-BE49-F238E27FC236}">
                <a16:creationId xmlns:a16="http://schemas.microsoft.com/office/drawing/2014/main" id="{7502CA7B-1EFB-4178-80FB-07CE475BAB2B}"/>
              </a:ext>
            </a:extLst>
          </p:cNvPr>
          <p:cNvSpPr>
            <a:spLocks xmlns:a="http://schemas.openxmlformats.org/drawingml/2006/main" noGrp="1"/>
          </p:cNvSpPr>
          <p:nvPr/>
        </p:nvSpPr>
        <p:spPr>
          <a:xfrm xmlns:a="http://schemas.openxmlformats.org/drawingml/2006/main">
            <a:off x="8286750" y="4419600"/>
            <a:ext cx="3286125" cy="1400175"/>
          </a:xfrm>
          <a:prstGeom xmlns:a="http://schemas.openxmlformats.org/drawingml/2006/main" prst="roundRect">
            <a:avLst>
              <a:gd name="adj" fmla="val 6803"/>
            </a:avLst>
          </a:prstGeom>
          <a:solidFill xmlns:a="http://schemas.openxmlformats.org/drawingml/2006/main">
            <a:srgbClr val="EFF9F3"/>
          </a:solidFill>
          <a:ln xmlns:a="http://schemas.openxmlformats.org/drawingml/2006/main" w="10478">
            <a:solidFill>
              <a:srgbClr val="3B9669"/>
            </a:solidFill>
          </a:ln>
        </p:spPr>
      </p:sp>
      <p:sp>
        <p:nvSpPr>
          <p:cNvPr id="20" name="text-75">
            <a:extLst xmlns:a="http://schemas.openxmlformats.org/drawingml/2006/main">
              <a:ext uri="{FF2B5EF4-FFF2-40B4-BE49-F238E27FC236}">
                <a16:creationId xmlns:a16="http://schemas.microsoft.com/office/drawing/2014/main" id="{12EED6CD-9A55-4154-AE0F-B4ABA28AE649}"/>
              </a:ext>
            </a:extLst>
          </p:cNvPr>
          <p:cNvSpPr>
            <a:spLocks xmlns:a="http://schemas.openxmlformats.org/drawingml/2006/main" noGrp="1"/>
          </p:cNvSpPr>
          <p:nvPr/>
        </p:nvSpPr>
        <p:spPr>
          <a:xfrm xmlns:a="http://schemas.openxmlformats.org/drawingml/2006/main">
            <a:off x="8448675" y="4543425"/>
            <a:ext cx="2962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B9669"/>
                </a:solidFill>
                <a:latin typeface="Arial"/>
                <a:ea typeface="Arial"/>
                <a:cs typeface="Arial"/>
              </a:defRPr>
            </a:pPr>
            <a:r>
              <a:rPr sz="1275" b="1">
                <a:solidFill>
                  <a:srgbClr val="3B9669"/>
                </a:solidFill>
                <a:latin typeface="Arial"/>
                <a:ea typeface="Arial"/>
                <a:cs typeface="Arial"/>
              </a:rPr>
              <a:t>6  FINAL INTERVENTION</a:t>
            </a:r>
          </a:p>
        </p:txBody>
      </p:sp>
      <p:sp>
        <p:nvSpPr>
          <p:cNvPr id="21" name="text-76">
            <a:extLst xmlns:a="http://schemas.openxmlformats.org/drawingml/2006/main">
              <a:ext uri="{FF2B5EF4-FFF2-40B4-BE49-F238E27FC236}">
                <a16:creationId xmlns:a16="http://schemas.microsoft.com/office/drawing/2014/main" id="{351B1F21-BDEF-4BC8-B771-9735EBBB2FA7}"/>
              </a:ext>
            </a:extLst>
          </p:cNvPr>
          <p:cNvSpPr>
            <a:spLocks xmlns:a="http://schemas.openxmlformats.org/drawingml/2006/main" noGrp="1"/>
          </p:cNvSpPr>
          <p:nvPr/>
        </p:nvSpPr>
        <p:spPr>
          <a:xfrm xmlns:a="http://schemas.openxmlformats.org/drawingml/2006/main">
            <a:off x="8448675" y="4857750"/>
            <a:ext cx="29622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Keep or strengthen the action</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Change the action when it misfits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Review classification when uncertain</a:t>
            </a:r>
          </a:p>
        </p:txBody>
      </p:sp>
      <p:cxnSp>
        <p:nvCxnSpPr>
          <p:cNvPr id="50" name=""/>
          <p:cNvCxnSpPr>
            <a:stCxn xmlns:a="http://schemas.openxmlformats.org/drawingml/2006/main" id="4" idx="3"/>
            <a:endCxn xmlns:a="http://schemas.openxmlformats.org/drawingml/2006/main" id="7" idx="1"/>
          </p:cNvCxnSpPr>
          <p:nvPr/>
        </p:nvCxnSpPr>
        <p:spPr>
          <a:xfrm xmlns:a="http://schemas.openxmlformats.org/drawingml/2006/main">
            <a:off x="3895725" y="3348038"/>
            <a:ext cx="552450" cy="0"/>
          </a:xfrm>
          <a:prstGeom xmlns:a="http://schemas.openxmlformats.org/drawingml/2006/main" prst="straightConnector1">
            <a:avLst/>
          </a:prstGeom>
          <a:ln xmlns:a="http://schemas.openxmlformats.org/drawingml/2006/main" w="16193">
            <a:solidFill>
              <a:srgbClr val="718096"/>
            </a:solidFill>
            <a:tailEnd type="triangle" w="sm" len="sm"/>
          </a:ln>
        </p:spPr>
      </p:cxnSp>
      <p:cxnSp>
        <p:nvCxnSpPr>
          <p:cNvPr id="51" name=""/>
          <p:cNvCxnSpPr>
            <a:stCxn xmlns:a="http://schemas.openxmlformats.org/drawingml/2006/main" id="7" idx="3"/>
            <a:endCxn xmlns:a="http://schemas.openxmlformats.org/drawingml/2006/main" id="10" idx="1"/>
          </p:cNvCxnSpPr>
          <p:nvPr/>
        </p:nvCxnSpPr>
        <p:spPr>
          <a:xfrm xmlns:a="http://schemas.openxmlformats.org/drawingml/2006/main">
            <a:off x="7734300" y="3348038"/>
            <a:ext cx="552450" cy="0"/>
          </a:xfrm>
          <a:prstGeom xmlns:a="http://schemas.openxmlformats.org/drawingml/2006/main" prst="straightConnector1">
            <a:avLst/>
          </a:prstGeom>
          <a:ln xmlns:a="http://schemas.openxmlformats.org/drawingml/2006/main" w="16193">
            <a:solidFill>
              <a:srgbClr val="718096"/>
            </a:solidFill>
            <a:tailEnd type="triangle" w="sm" len="sm"/>
          </a:ln>
        </p:spPr>
      </p:cxnSp>
      <p:cxnSp>
        <p:nvCxnSpPr>
          <p:cNvPr id="52" name=""/>
          <p:cNvCxnSpPr>
            <a:stCxn xmlns:a="http://schemas.openxmlformats.org/drawingml/2006/main" id="13" idx="3"/>
            <a:endCxn xmlns:a="http://schemas.openxmlformats.org/drawingml/2006/main" id="16" idx="1"/>
          </p:cNvCxnSpPr>
          <p:nvPr/>
        </p:nvCxnSpPr>
        <p:spPr>
          <a:xfrm xmlns:a="http://schemas.openxmlformats.org/drawingml/2006/main">
            <a:off x="3895725" y="5119688"/>
            <a:ext cx="552450" cy="0"/>
          </a:xfrm>
          <a:prstGeom xmlns:a="http://schemas.openxmlformats.org/drawingml/2006/main" prst="straightConnector1">
            <a:avLst/>
          </a:prstGeom>
          <a:ln xmlns:a="http://schemas.openxmlformats.org/drawingml/2006/main" w="16193">
            <a:solidFill>
              <a:srgbClr val="718096"/>
            </a:solidFill>
            <a:tailEnd type="triangle" w="sm" len="sm"/>
          </a:ln>
        </p:spPr>
      </p:cxnSp>
      <p:cxnSp>
        <p:nvCxnSpPr>
          <p:cNvPr id="53" name=""/>
          <p:cNvCxnSpPr>
            <a:stCxn xmlns:a="http://schemas.openxmlformats.org/drawingml/2006/main" id="16" idx="3"/>
            <a:endCxn xmlns:a="http://schemas.openxmlformats.org/drawingml/2006/main" id="19" idx="1"/>
          </p:cNvCxnSpPr>
          <p:nvPr/>
        </p:nvCxnSpPr>
        <p:spPr>
          <a:xfrm xmlns:a="http://schemas.openxmlformats.org/drawingml/2006/main">
            <a:off x="7734300" y="5119688"/>
            <a:ext cx="552450" cy="0"/>
          </a:xfrm>
          <a:prstGeom xmlns:a="http://schemas.openxmlformats.org/drawingml/2006/main" prst="straightConnector1">
            <a:avLst/>
          </a:prstGeom>
          <a:ln xmlns:a="http://schemas.openxmlformats.org/drawingml/2006/main" w="16193">
            <a:solidFill>
              <a:srgbClr val="718096"/>
            </a:solidFill>
            <a:tailEnd type="triangle" w="sm" len="sm"/>
          </a:ln>
        </p:spPr>
      </p:cxnSp>
      <p:cxnSp>
        <p:nvCxnSpPr>
          <p:cNvPr id="54" name=""/>
          <p:cNvCxnSpPr>
            <a:stCxn xmlns:a="http://schemas.openxmlformats.org/drawingml/2006/main" id="10" idx="2"/>
            <a:endCxn xmlns:a="http://schemas.openxmlformats.org/drawingml/2006/main" id="13" idx="0"/>
          </p:cNvCxnSpPr>
          <p:nvPr/>
        </p:nvCxnSpPr>
        <p:spPr>
          <a:xfrm xmlns:a="http://schemas.openxmlformats.org/drawingml/2006/main" flipH="1">
            <a:off x="2252663" y="4048125"/>
            <a:ext cx="7677150" cy="371475"/>
          </a:xfrm>
          <a:prstGeom xmlns:a="http://schemas.openxmlformats.org/drawingml/2006/main" prst="bentConnector4">
            <a:avLst>
              <a:gd name="adj1" fmla="val 0"/>
              <a:gd name="adj2" fmla="val 50000"/>
            </a:avLst>
          </a:prstGeom>
          <a:ln xmlns:a="http://schemas.openxmlformats.org/drawingml/2006/main" w="16193">
            <a:solidFill>
              <a:srgbClr val="718096"/>
            </a:solidFill>
            <a:tailEnd type="triangle" w="sm" len="sm"/>
          </a:ln>
        </p:spPr>
      </p:cxnSp>
      <p:sp>
        <p:nvSpPr>
          <p:cNvPr id="27" name="surface-77">
            <a:extLst xmlns:a="http://schemas.openxmlformats.org/drawingml/2006/main">
              <a:ext uri="{FF2B5EF4-FFF2-40B4-BE49-F238E27FC236}">
                <a16:creationId xmlns:a16="http://schemas.microsoft.com/office/drawing/2014/main" id="{4B37E47E-BBC9-4CDC-86E6-6D96045D4977}"/>
              </a:ext>
            </a:extLst>
          </p:cNvPr>
          <p:cNvSpPr>
            <a:spLocks xmlns:a="http://schemas.openxmlformats.org/drawingml/2006/main" noGrp="1"/>
          </p:cNvSpPr>
          <p:nvPr/>
        </p:nvSpPr>
        <p:spPr>
          <a:xfrm xmlns:a="http://schemas.openxmlformats.org/drawingml/2006/main">
            <a:off x="609600" y="5953125"/>
            <a:ext cx="10963275" cy="304800"/>
          </a:xfrm>
          <a:prstGeom xmlns:a="http://schemas.openxmlformats.org/drawingml/2006/main" prst="roundRect">
            <a:avLst>
              <a:gd name="adj" fmla="val 18750"/>
            </a:avLst>
          </a:prstGeom>
          <a:solidFill xmlns:a="http://schemas.openxmlformats.org/drawingml/2006/main">
            <a:srgbClr val="172B45"/>
          </a:solidFill>
          <a:ln xmlns:a="http://schemas.openxmlformats.org/drawingml/2006/main" w="9525">
            <a:solidFill>
              <a:srgbClr val="172B45"/>
            </a:solidFill>
          </a:ln>
        </p:spPr>
      </p:sp>
      <p:sp>
        <p:nvSpPr>
          <p:cNvPr id="28" name="text-78">
            <a:extLst xmlns:a="http://schemas.openxmlformats.org/drawingml/2006/main">
              <a:ext uri="{FF2B5EF4-FFF2-40B4-BE49-F238E27FC236}">
                <a16:creationId xmlns:a16="http://schemas.microsoft.com/office/drawing/2014/main" id="{EC434647-0849-4437-A7B7-1C6D6393013E}"/>
              </a:ext>
            </a:extLst>
          </p:cNvPr>
          <p:cNvSpPr>
            <a:spLocks xmlns:a="http://schemas.openxmlformats.org/drawingml/2006/main" noGrp="1"/>
          </p:cNvSpPr>
          <p:nvPr/>
        </p:nvSpPr>
        <p:spPr>
          <a:xfrm xmlns:a="http://schemas.openxmlformats.org/drawingml/2006/main">
            <a:off x="742950" y="6019800"/>
            <a:ext cx="106965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Traceable for every product: KPIs, role, governance signals, escalation and final intervention.</a:t>
            </a:r>
          </a:p>
        </p:txBody>
      </p:sp>
    </p:spTree>
    <p:extLst>
      <p:ext uri="{BB962C8B-B14F-4D97-AF65-F5344CB8AC3E}">
        <p14:creationId xmlns:p14="http://schemas.microsoft.com/office/powerpoint/2010/main" val="25380645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text-79">
            <a:extLst xmlns:a="http://schemas.openxmlformats.org/drawingml/2006/main">
              <a:ext uri="{FF2B5EF4-FFF2-40B4-BE49-F238E27FC236}">
                <a16:creationId xmlns:a16="http://schemas.microsoft.com/office/drawing/2014/main" id="{D17308ED-8EBD-4A2B-9224-80E68941B950}"/>
              </a:ext>
            </a:extLst>
          </p:cNvPr>
          <p:cNvSpPr>
            <a:spLocks xmlns:a="http://schemas.openxmlformats.org/drawingml/2006/main" noGrp="1"/>
          </p:cNvSpPr>
          <p:nvPr/>
        </p:nvSpPr>
        <p:spPr>
          <a:xfrm xmlns:a="http://schemas.openxmlformats.org/drawingml/2006/main">
            <a:off x="609600" y="14192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SEVEN ECONOMIC ROLES</a:t>
            </a:r>
          </a:p>
        </p:txBody>
      </p:sp>
      <p:sp>
        <p:nvSpPr>
          <p:cNvPr id="2" name="text-80">
            <a:extLst xmlns:a="http://schemas.openxmlformats.org/drawingml/2006/main">
              <a:ext uri="{FF2B5EF4-FFF2-40B4-BE49-F238E27FC236}">
                <a16:creationId xmlns:a16="http://schemas.microsoft.com/office/drawing/2014/main" id="{0DF5EC26-A117-4A14-A165-FDCE4C851AB7}"/>
              </a:ext>
            </a:extLst>
          </p:cNvPr>
          <p:cNvSpPr>
            <a:spLocks xmlns:a="http://schemas.openxmlformats.org/drawingml/2006/main" noGrp="1"/>
          </p:cNvSpPr>
          <p:nvPr/>
        </p:nvSpPr>
        <p:spPr>
          <a:xfrm xmlns:a="http://schemas.openxmlformats.org/drawingml/2006/main">
            <a:off x="609600" y="1647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11827"/>
                </a:solidFill>
                <a:latin typeface="Arial"/>
                <a:ea typeface="Arial"/>
                <a:cs typeface="Arial"/>
              </a:defRPr>
            </a:pPr>
            <a:r>
              <a:rPr sz="2550" b="1">
                <a:solidFill>
                  <a:srgbClr val="111827"/>
                </a:solidFill>
                <a:latin typeface="Arial"/>
                <a:ea typeface="Arial"/>
                <a:cs typeface="Arial"/>
              </a:rPr>
              <a:t>Seven Roles Turn Economics into Action</a:t>
            </a:r>
          </a:p>
        </p:txBody>
      </p:sp>
      <p:sp>
        <p:nvSpPr>
          <p:cNvPr id="3" name="text-81">
            <a:extLst xmlns:a="http://schemas.openxmlformats.org/drawingml/2006/main">
              <a:ext uri="{FF2B5EF4-FFF2-40B4-BE49-F238E27FC236}">
                <a16:creationId xmlns:a16="http://schemas.microsoft.com/office/drawing/2014/main" id="{2E7EDD6F-AED3-4DA5-A384-07FA1D65B131}"/>
              </a:ext>
            </a:extLst>
          </p:cNvPr>
          <p:cNvSpPr>
            <a:spLocks xmlns:a="http://schemas.openxmlformats.org/drawingml/2006/main" noGrp="1"/>
          </p:cNvSpPr>
          <p:nvPr/>
        </p:nvSpPr>
        <p:spPr>
          <a:xfrm xmlns:a="http://schemas.openxmlformats.org/drawingml/2006/main">
            <a:off x="609600" y="215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Four peer groups describe the main portfolio. Three separate groups keep extreme cases visible.</a:t>
            </a:r>
          </a:p>
        </p:txBody>
      </p:sp>
      <p:graphicFrame>
        <p:nvGraphicFramePr>
          <p:cNvPr id="15" name=""/>
          <p:cNvGraphicFramePr/>
          <p:nvPr/>
        </p:nvGraphicFramePr>
        <p:xfrm>
          <a:off xmlns:a="http://schemas.openxmlformats.org/drawingml/2006/main" x="609600" y="2590800"/>
          <a:ext xmlns:a="http://schemas.openxmlformats.org/drawingml/2006/main" cx="10963275" cy="2790825"/>
        </p:xfrm>
        <a:graphic xmlns:a="http://schemas.openxmlformats.org/drawingml/2006/main">
          <a:graphicData uri="http://schemas.openxmlformats.org/drawingml/2006/table">
            <a:tbl>
              <a:tblPr firstRow="0" firstCol="0" lastCol="0" bandRow="0"/>
              <a:tblGrid>
                <a:gridCol w="3848100"/>
                <a:gridCol w="1495425"/>
                <a:gridCol w="2381250"/>
                <a:gridCol w="3238500"/>
              </a:tblGrid>
              <a:tr h="323850">
                <a:tc>
                  <a:txBody>
                    <a:bodyPr lIns="95250" tIns="0" rIns="95250" bIns="0">
                      <a:noAutofit/>
                    </a:bodyPr>
                    <a:lstStyle/>
                    <a:p>
                      <a:pPr algn="l"/>
                      <a:r>
                        <a:rPr sz="1163" b="1">
                          <a:solidFill>
                            <a:srgbClr val="FFFFFF"/>
                          </a:solidFill>
                          <a:latin typeface="Arial"/>
                          <a:ea typeface="Arial"/>
                          <a:cs typeface="Arial"/>
                        </a:rPr>
                        <a:t>Role</a:t>
                      </a:r>
                    </a:p>
                  </a:txBody>
                  <a:tcPr marL="95250" marR="95250" marT="28575" marB="28575" anchor="ctr">
                    <a:lnL w="7144">
                      <a:solidFill>
                        <a:srgbClr val="DDE3EA"/>
                      </a:solidFill>
                      <a:prstDash val="solid"/>
                    </a:lnL>
                    <a:lnT w="7144">
                      <a:solidFill>
                        <a:srgbClr val="DDE3EA"/>
                      </a:solidFill>
                      <a:prstDash val="solid"/>
                    </a:lnT>
                    <a:solidFill>
                      <a:srgbClr val="0B4A6F"/>
                    </a:solidFill>
                  </a:tcPr>
                </a:tc>
                <a:tc>
                  <a:txBody>
                    <a:bodyPr lIns="95250" tIns="0" rIns="95250" bIns="0">
                      <a:noAutofit/>
                    </a:bodyPr>
                    <a:lstStyle/>
                    <a:p>
                      <a:pPr algn="r"/>
                      <a:r>
                        <a:rPr sz="1163" b="1">
                          <a:solidFill>
                            <a:srgbClr val="FFFFFF"/>
                          </a:solidFill>
                          <a:latin typeface="Arial"/>
                          <a:ea typeface="Arial"/>
                          <a:cs typeface="Arial"/>
                        </a:rPr>
                        <a:t>Products</a:t>
                      </a:r>
                    </a:p>
                  </a:txBody>
                  <a:tcPr marL="95250" marR="95250" marT="28575" marB="28575" anchor="ctr">
                    <a:lnT w="7144">
                      <a:solidFill>
                        <a:srgbClr val="DDE3EA"/>
                      </a:solidFill>
                      <a:prstDash val="solid"/>
                    </a:lnT>
                    <a:solidFill>
                      <a:srgbClr val="0B4A6F"/>
                    </a:solidFill>
                  </a:tcPr>
                </a:tc>
                <a:tc>
                  <a:txBody>
                    <a:bodyPr lIns="95250" tIns="0" rIns="95250" bIns="0">
                      <a:noAutofit/>
                    </a:bodyPr>
                    <a:lstStyle/>
                    <a:p>
                      <a:pPr algn="r"/>
                      <a:r>
                        <a:rPr sz="1163" b="1">
                          <a:solidFill>
                            <a:srgbClr val="FFFFFF"/>
                          </a:solidFill>
                          <a:latin typeface="Arial"/>
                          <a:ea typeface="Arial"/>
                          <a:cs typeface="Arial"/>
                        </a:rPr>
                        <a:t>Net profit</a:t>
                      </a:r>
                    </a:p>
                  </a:txBody>
                  <a:tcPr marL="95250" marR="95250" marT="28575" marB="28575" anchor="ctr">
                    <a:lnT w="7144">
                      <a:solidFill>
                        <a:srgbClr val="DDE3EA"/>
                      </a:solidFill>
                      <a:prstDash val="solid"/>
                    </a:lnT>
                    <a:solidFill>
                      <a:srgbClr val="0B4A6F"/>
                    </a:solidFill>
                  </a:tcPr>
                </a:tc>
                <a:tc>
                  <a:txBody>
                    <a:bodyPr lIns="95250" tIns="0" rIns="95250" bIns="0">
                      <a:noAutofit/>
                    </a:bodyPr>
                    <a:lstStyle/>
                    <a:p>
                      <a:pPr algn="l"/>
                      <a:r>
                        <a:rPr sz="1163" b="1">
                          <a:solidFill>
                            <a:srgbClr val="FFFFFF"/>
                          </a:solidFill>
                          <a:latin typeface="Arial"/>
                          <a:ea typeface="Arial"/>
                          <a:cs typeface="Arial"/>
                        </a:rPr>
                        <a:t>Starting action</a:t>
                      </a:r>
                    </a:p>
                  </a:txBody>
                  <a:tcPr marL="95250" marR="95250" marT="28575" marB="28575" anchor="ctr">
                    <a:lnR w="7144">
                      <a:solidFill>
                        <a:srgbClr val="DDE3EA"/>
                      </a:solidFill>
                      <a:prstDash val="solid"/>
                    </a:lnR>
                    <a:lnT w="7144">
                      <a:solidFill>
                        <a:srgbClr val="DDE3EA"/>
                      </a:solidFill>
                      <a:prstDash val="solid"/>
                    </a:lnT>
                    <a:solidFill>
                      <a:srgbClr val="0B4A6F"/>
                    </a:solidFill>
                  </a:tcPr>
                </a:tc>
              </a:tr>
              <a:tr h="304800">
                <a:tc>
                  <a:txBody>
                    <a:bodyPr lIns="95250" tIns="0" rIns="95250" bIns="0">
                      <a:noAutofit/>
                    </a:bodyPr>
                    <a:lstStyle/>
                    <a:p>
                      <a:pPr algn="l"/>
                      <a:r>
                        <a:rPr sz="1350" b="1">
                          <a:solidFill>
                            <a:srgbClr val="111827"/>
                          </a:solidFill>
                          <a:latin typeface="Arial"/>
                          <a:ea typeface="Arial"/>
                          <a:cs typeface="Arial"/>
                        </a:rPr>
                        <a:t>Stable Profit</a:t>
                      </a:r>
                    </a:p>
                  </a:txBody>
                  <a:tcPr marL="95250" marR="95250" marT="28575" marB="28575" anchor="ctr">
                    <a:lnL w="7144">
                      <a:solidFill>
                        <a:srgbClr val="DDE3EA"/>
                      </a:solidFill>
                      <a:prstDash val="solid"/>
                    </a:lnL>
                    <a:solidFill>
                      <a:srgbClr val="F8FAFC"/>
                    </a:solidFill>
                  </a:tcPr>
                </a:tc>
                <a:tc>
                  <a:txBody>
                    <a:bodyPr lIns="95250" tIns="0" rIns="95250" bIns="0">
                      <a:noAutofit/>
                    </a:bodyPr>
                    <a:lstStyle/>
                    <a:p>
                      <a:pPr algn="r"/>
                      <a:r>
                        <a:rPr sz="1350" b="0">
                          <a:solidFill>
                            <a:srgbClr val="111827"/>
                          </a:solidFill>
                          <a:latin typeface="Arial"/>
                          <a:ea typeface="Arial"/>
                          <a:cs typeface="Arial"/>
                        </a:rPr>
                        <a:t>1,246</a:t>
                      </a:r>
                    </a:p>
                  </a:txBody>
                  <a:tcPr marL="95250" marR="95250" marT="28575" marB="28575" anchor="ctr">
                    <a:solidFill>
                      <a:srgbClr val="F8FAFC"/>
                    </a:solidFill>
                  </a:tcPr>
                </a:tc>
                <a:tc>
                  <a:txBody>
                    <a:bodyPr lIns="95250" tIns="0" rIns="95250" bIns="0">
                      <a:noAutofit/>
                    </a:bodyPr>
                    <a:lstStyle/>
                    <a:p>
                      <a:pPr algn="r"/>
                      <a:r>
                        <a:rPr sz="1350" b="0">
                          <a:solidFill>
                            <a:srgbClr val="111827"/>
                          </a:solidFill>
                          <a:latin typeface="Arial"/>
                          <a:ea typeface="Arial"/>
                          <a:cs typeface="Arial"/>
                        </a:rPr>
                        <a:t>+€135.5K</a:t>
                      </a:r>
                    </a:p>
                  </a:txBody>
                  <a:tcPr marL="95250" marR="95250" marT="28575" marB="28575" anchor="ctr">
                    <a:solidFill>
                      <a:srgbClr val="F8FAFC"/>
                    </a:solidFill>
                  </a:tcPr>
                </a:tc>
                <a:tc>
                  <a:txBody>
                    <a:bodyPr lIns="95250" tIns="0" rIns="95250" bIns="0">
                      <a:noAutofit/>
                    </a:bodyPr>
                    <a:lstStyle/>
                    <a:p>
                      <a:pPr algn="l"/>
                      <a:r>
                        <a:rPr sz="1350" b="0">
                          <a:solidFill>
                            <a:srgbClr val="111827"/>
                          </a:solidFill>
                          <a:latin typeface="Arial"/>
                          <a:ea typeface="Arial"/>
                          <a:cs typeface="Arial"/>
                        </a:rPr>
                        <a:t>Protect</a:t>
                      </a:r>
                    </a:p>
                  </a:txBody>
                  <a:tcPr marL="95250" marR="95250" marT="28575" marB="28575" anchor="ctr">
                    <a:lnR w="7144">
                      <a:solidFill>
                        <a:srgbClr val="DDE3EA"/>
                      </a:solidFill>
                      <a:prstDash val="solid"/>
                    </a:lnR>
                    <a:solidFill>
                      <a:srgbClr val="F8FAFC"/>
                    </a:solidFill>
                  </a:tcPr>
                </a:tc>
              </a:tr>
              <a:tr h="304800">
                <a:tc>
                  <a:txBody>
                    <a:bodyPr lIns="95250" tIns="0" rIns="95250" bIns="0">
                      <a:noAutofit/>
                    </a:bodyPr>
                    <a:lstStyle/>
                    <a:p>
                      <a:pPr algn="l"/>
                      <a:r>
                        <a:rPr sz="1350" b="1">
                          <a:solidFill>
                            <a:srgbClr val="2563EB"/>
                          </a:solidFill>
                          <a:latin typeface="Arial"/>
                          <a:ea typeface="Arial"/>
                          <a:cs typeface="Arial"/>
                        </a:rPr>
                        <a:t>High-Impact Profit</a:t>
                      </a:r>
                    </a:p>
                  </a:txBody>
                  <a:tcPr marL="95250" marR="95250" marT="28575" marB="28575" anchor="ctr">
                    <a:lnL w="7144">
                      <a:solidFill>
                        <a:srgbClr val="DDE3EA"/>
                      </a:solidFill>
                      <a:prstDash val="solid"/>
                    </a:lnL>
                    <a:solidFill>
                      <a:srgbClr val="EFF6FF"/>
                    </a:solidFill>
                  </a:tcPr>
                </a:tc>
                <a:tc>
                  <a:txBody>
                    <a:bodyPr lIns="95250" tIns="0" rIns="95250" bIns="0">
                      <a:noAutofit/>
                    </a:bodyPr>
                    <a:lstStyle/>
                    <a:p>
                      <a:pPr algn="r"/>
                      <a:r>
                        <a:rPr sz="1350" b="0">
                          <a:solidFill>
                            <a:srgbClr val="111827"/>
                          </a:solidFill>
                          <a:latin typeface="Arial"/>
                          <a:ea typeface="Arial"/>
                          <a:cs typeface="Arial"/>
                        </a:rPr>
                        <a:t>123</a:t>
                      </a:r>
                    </a:p>
                  </a:txBody>
                  <a:tcPr marL="95250" marR="95250" marT="28575" marB="28575" anchor="ctr">
                    <a:solidFill>
                      <a:srgbClr val="EFF6FF"/>
                    </a:solidFill>
                  </a:tcPr>
                </a:tc>
                <a:tc>
                  <a:txBody>
                    <a:bodyPr lIns="95250" tIns="0" rIns="95250" bIns="0">
                      <a:noAutofit/>
                    </a:bodyPr>
                    <a:lstStyle/>
                    <a:p>
                      <a:pPr algn="r"/>
                      <a:r>
                        <a:rPr sz="1350" b="0">
                          <a:solidFill>
                            <a:srgbClr val="111827"/>
                          </a:solidFill>
                          <a:latin typeface="Arial"/>
                          <a:ea typeface="Arial"/>
                          <a:cs typeface="Arial"/>
                        </a:rPr>
                        <a:t>+€115.9K</a:t>
                      </a:r>
                    </a:p>
                  </a:txBody>
                  <a:tcPr marL="95250" marR="95250" marT="28575" marB="28575" anchor="ctr">
                    <a:solidFill>
                      <a:srgbClr val="EFF6FF"/>
                    </a:solidFill>
                  </a:tcPr>
                </a:tc>
                <a:tc>
                  <a:txBody>
                    <a:bodyPr lIns="95250" tIns="0" rIns="95250" bIns="0">
                      <a:noAutofit/>
                    </a:bodyPr>
                    <a:lstStyle/>
                    <a:p>
                      <a:pPr algn="l"/>
                      <a:r>
                        <a:rPr sz="1350" b="0">
                          <a:solidFill>
                            <a:srgbClr val="111827"/>
                          </a:solidFill>
                          <a:latin typeface="Arial"/>
                          <a:ea typeface="Arial"/>
                          <a:cs typeface="Arial"/>
                        </a:rPr>
                        <a:t>Optimize</a:t>
                      </a:r>
                    </a:p>
                  </a:txBody>
                  <a:tcPr marL="95250" marR="95250" marT="28575" marB="28575" anchor="ctr">
                    <a:lnR w="7144">
                      <a:solidFill>
                        <a:srgbClr val="DDE3EA"/>
                      </a:solidFill>
                      <a:prstDash val="solid"/>
                    </a:lnR>
                    <a:solidFill>
                      <a:srgbClr val="EFF6FF"/>
                    </a:solidFill>
                  </a:tcPr>
                </a:tc>
              </a:tr>
              <a:tr h="304800">
                <a:tc>
                  <a:txBody>
                    <a:bodyPr lIns="95250" tIns="0" rIns="95250" bIns="0">
                      <a:noAutofit/>
                    </a:bodyPr>
                    <a:lstStyle/>
                    <a:p>
                      <a:pPr algn="l"/>
                      <a:r>
                        <a:rPr sz="1350" b="1">
                          <a:solidFill>
                            <a:srgbClr val="111827"/>
                          </a:solidFill>
                          <a:latin typeface="Arial"/>
                          <a:ea typeface="Arial"/>
                          <a:cs typeface="Arial"/>
                        </a:rPr>
                        <a:t>Risk-Oriented Profit</a:t>
                      </a:r>
                    </a:p>
                  </a:txBody>
                  <a:tcPr marL="95250" marR="95250" marT="28575" marB="28575" anchor="ctr">
                    <a:lnL w="7144">
                      <a:solidFill>
                        <a:srgbClr val="DDE3EA"/>
                      </a:solidFill>
                      <a:prstDash val="solid"/>
                    </a:lnL>
                    <a:solidFill>
                      <a:srgbClr val="F8FAFC"/>
                    </a:solidFill>
                  </a:tcPr>
                </a:tc>
                <a:tc>
                  <a:txBody>
                    <a:bodyPr lIns="95250" tIns="0" rIns="95250" bIns="0">
                      <a:noAutofit/>
                    </a:bodyPr>
                    <a:lstStyle/>
                    <a:p>
                      <a:pPr algn="r"/>
                      <a:r>
                        <a:rPr sz="1350" b="0">
                          <a:solidFill>
                            <a:srgbClr val="111827"/>
                          </a:solidFill>
                          <a:latin typeface="Arial"/>
                          <a:ea typeface="Arial"/>
                          <a:cs typeface="Arial"/>
                        </a:rPr>
                        <a:t>69</a:t>
                      </a:r>
                    </a:p>
                  </a:txBody>
                  <a:tcPr marL="95250" marR="95250" marT="28575" marB="28575" anchor="ctr">
                    <a:solidFill>
                      <a:srgbClr val="F8FAFC"/>
                    </a:solidFill>
                  </a:tcPr>
                </a:tc>
                <a:tc>
                  <a:txBody>
                    <a:bodyPr lIns="95250" tIns="0" rIns="95250" bIns="0">
                      <a:noAutofit/>
                    </a:bodyPr>
                    <a:lstStyle/>
                    <a:p>
                      <a:pPr algn="r"/>
                      <a:r>
                        <a:rPr sz="1350" b="0">
                          <a:solidFill>
                            <a:srgbClr val="111827"/>
                          </a:solidFill>
                          <a:latin typeface="Arial"/>
                          <a:ea typeface="Arial"/>
                          <a:cs typeface="Arial"/>
                        </a:rPr>
                        <a:t>+€0.5K</a:t>
                      </a:r>
                    </a:p>
                  </a:txBody>
                  <a:tcPr marL="95250" marR="95250" marT="28575" marB="28575" anchor="ctr">
                    <a:solidFill>
                      <a:srgbClr val="F8FAFC"/>
                    </a:solidFill>
                  </a:tcPr>
                </a:tc>
                <a:tc>
                  <a:txBody>
                    <a:bodyPr lIns="95250" tIns="0" rIns="95250" bIns="0">
                      <a:noAutofit/>
                    </a:bodyPr>
                    <a:lstStyle/>
                    <a:p>
                      <a:pPr algn="l"/>
                      <a:r>
                        <a:rPr sz="1350" b="0">
                          <a:solidFill>
                            <a:srgbClr val="111827"/>
                          </a:solidFill>
                          <a:latin typeface="Arial"/>
                          <a:ea typeface="Arial"/>
                          <a:cs typeface="Arial"/>
                        </a:rPr>
                        <a:t>Contain</a:t>
                      </a:r>
                    </a:p>
                  </a:txBody>
                  <a:tcPr marL="95250" marR="95250" marT="28575" marB="28575" anchor="ctr">
                    <a:lnR w="7144">
                      <a:solidFill>
                        <a:srgbClr val="DDE3EA"/>
                      </a:solidFill>
                      <a:prstDash val="solid"/>
                    </a:lnR>
                    <a:solidFill>
                      <a:srgbClr val="F8FAFC"/>
                    </a:solidFill>
                  </a:tcPr>
                </a:tc>
              </a:tr>
              <a:tr h="304800">
                <a:tc>
                  <a:txBody>
                    <a:bodyPr lIns="95250" tIns="0" rIns="95250" bIns="0">
                      <a:noAutofit/>
                    </a:bodyPr>
                    <a:lstStyle/>
                    <a:p>
                      <a:pPr algn="l"/>
                      <a:r>
                        <a:rPr sz="1350" b="1">
                          <a:solidFill>
                            <a:srgbClr val="D94A50"/>
                          </a:solidFill>
                          <a:latin typeface="Arial"/>
                          <a:ea typeface="Arial"/>
                          <a:cs typeface="Arial"/>
                        </a:rPr>
                        <a:t>Stable Loss</a:t>
                      </a:r>
                    </a:p>
                  </a:txBody>
                  <a:tcPr marL="95250" marR="95250" marT="28575" marB="28575" anchor="ctr">
                    <a:lnL w="7144">
                      <a:solidFill>
                        <a:srgbClr val="DDE3EA"/>
                      </a:solidFill>
                      <a:prstDash val="solid"/>
                    </a:lnL>
                    <a:solidFill>
                      <a:srgbClr val="FFF1F2"/>
                    </a:solidFill>
                  </a:tcPr>
                </a:tc>
                <a:tc>
                  <a:txBody>
                    <a:bodyPr lIns="95250" tIns="0" rIns="95250" bIns="0">
                      <a:noAutofit/>
                    </a:bodyPr>
                    <a:lstStyle/>
                    <a:p>
                      <a:pPr algn="r"/>
                      <a:r>
                        <a:rPr sz="1350" b="0">
                          <a:solidFill>
                            <a:srgbClr val="111827"/>
                          </a:solidFill>
                          <a:latin typeface="Arial"/>
                          <a:ea typeface="Arial"/>
                          <a:cs typeface="Arial"/>
                        </a:rPr>
                        <a:t>384</a:t>
                      </a:r>
                    </a:p>
                  </a:txBody>
                  <a:tcPr marL="95250" marR="95250" marT="28575" marB="28575" anchor="ctr">
                    <a:solidFill>
                      <a:srgbClr val="FFF1F2"/>
                    </a:solidFill>
                  </a:tcPr>
                </a:tc>
                <a:tc>
                  <a:txBody>
                    <a:bodyPr lIns="95250" tIns="0" rIns="95250" bIns="0">
                      <a:noAutofit/>
                    </a:bodyPr>
                    <a:lstStyle/>
                    <a:p>
                      <a:pPr algn="r"/>
                      <a:r>
                        <a:rPr sz="1350" b="0">
                          <a:solidFill>
                            <a:srgbClr val="111827"/>
                          </a:solidFill>
                          <a:latin typeface="Arial"/>
                          <a:ea typeface="Arial"/>
                          <a:cs typeface="Arial"/>
                        </a:rPr>
                        <a:t>−€27.2K</a:t>
                      </a:r>
                    </a:p>
                  </a:txBody>
                  <a:tcPr marL="95250" marR="95250" marT="28575" marB="28575" anchor="ctr">
                    <a:solidFill>
                      <a:srgbClr val="FFF1F2"/>
                    </a:solidFill>
                  </a:tcPr>
                </a:tc>
                <a:tc>
                  <a:txBody>
                    <a:bodyPr lIns="95250" tIns="0" rIns="95250" bIns="0">
                      <a:noAutofit/>
                    </a:bodyPr>
                    <a:lstStyle/>
                    <a:p>
                      <a:pPr algn="l"/>
                      <a:r>
                        <a:rPr sz="1350" b="0">
                          <a:solidFill>
                            <a:srgbClr val="111827"/>
                          </a:solidFill>
                          <a:latin typeface="Arial"/>
                          <a:ea typeface="Arial"/>
                          <a:cs typeface="Arial"/>
                        </a:rPr>
                        <a:t>Correct</a:t>
                      </a:r>
                    </a:p>
                  </a:txBody>
                  <a:tcPr marL="95250" marR="95250" marT="28575" marB="28575" anchor="ctr">
                    <a:lnR w="7144">
                      <a:solidFill>
                        <a:srgbClr val="DDE3EA"/>
                      </a:solidFill>
                      <a:prstDash val="solid"/>
                    </a:lnR>
                    <a:solidFill>
                      <a:srgbClr val="FFF1F2"/>
                    </a:solidFill>
                  </a:tcPr>
                </a:tc>
              </a:tr>
              <a:tr h="304800">
                <a:tc>
                  <a:txBody>
                    <a:bodyPr lIns="95250" tIns="0" rIns="95250" bIns="0">
                      <a:noAutofit/>
                    </a:bodyPr>
                    <a:lstStyle/>
                    <a:p>
                      <a:pPr algn="l"/>
                      <a:r>
                        <a:rPr sz="1350" b="1">
                          <a:solidFill>
                            <a:srgbClr val="2563EB"/>
                          </a:solidFill>
                          <a:latin typeface="Arial"/>
                          <a:ea typeface="Arial"/>
                          <a:cs typeface="Arial"/>
                        </a:rPr>
                        <a:t>Extreme Impact Tail</a:t>
                      </a:r>
                    </a:p>
                  </a:txBody>
                  <a:tcPr marL="95250" marR="95250" marT="28575" marB="28575" anchor="ctr">
                    <a:lnL w="7144">
                      <a:solidFill>
                        <a:srgbClr val="DDE3EA"/>
                      </a:solidFill>
                      <a:prstDash val="solid"/>
                    </a:lnL>
                    <a:solidFill>
                      <a:srgbClr val="EFF6FF"/>
                    </a:solidFill>
                  </a:tcPr>
                </a:tc>
                <a:tc>
                  <a:txBody>
                    <a:bodyPr lIns="95250" tIns="0" rIns="95250" bIns="0">
                      <a:noAutofit/>
                    </a:bodyPr>
                    <a:lstStyle/>
                    <a:p>
                      <a:pPr algn="r"/>
                      <a:r>
                        <a:rPr sz="1350" b="0">
                          <a:solidFill>
                            <a:srgbClr val="111827"/>
                          </a:solidFill>
                          <a:latin typeface="Arial"/>
                          <a:ea typeface="Arial"/>
                          <a:cs typeface="Arial"/>
                        </a:rPr>
                        <a:t>27</a:t>
                      </a:r>
                    </a:p>
                  </a:txBody>
                  <a:tcPr marL="95250" marR="95250" marT="28575" marB="28575" anchor="ctr">
                    <a:solidFill>
                      <a:srgbClr val="EFF6FF"/>
                    </a:solidFill>
                  </a:tcPr>
                </a:tc>
                <a:tc>
                  <a:txBody>
                    <a:bodyPr lIns="95250" tIns="0" rIns="95250" bIns="0">
                      <a:noAutofit/>
                    </a:bodyPr>
                    <a:lstStyle/>
                    <a:p>
                      <a:pPr algn="r"/>
                      <a:r>
                        <a:rPr sz="1350" b="0">
                          <a:solidFill>
                            <a:srgbClr val="111827"/>
                          </a:solidFill>
                          <a:latin typeface="Arial"/>
                          <a:ea typeface="Arial"/>
                          <a:cs typeface="Arial"/>
                        </a:rPr>
                        <a:t>+€101.5K</a:t>
                      </a:r>
                    </a:p>
                  </a:txBody>
                  <a:tcPr marL="95250" marR="95250" marT="28575" marB="28575" anchor="ctr">
                    <a:solidFill>
                      <a:srgbClr val="EFF6FF"/>
                    </a:solidFill>
                  </a:tcPr>
                </a:tc>
                <a:tc>
                  <a:txBody>
                    <a:bodyPr lIns="95250" tIns="0" rIns="95250" bIns="0">
                      <a:noAutofit/>
                    </a:bodyPr>
                    <a:lstStyle/>
                    <a:p>
                      <a:pPr algn="l"/>
                      <a:r>
                        <a:rPr sz="1350" b="0">
                          <a:solidFill>
                            <a:srgbClr val="111827"/>
                          </a:solidFill>
                          <a:latin typeface="Arial"/>
                          <a:ea typeface="Arial"/>
                          <a:cs typeface="Arial"/>
                        </a:rPr>
                        <a:t>Optimize</a:t>
                      </a:r>
                    </a:p>
                  </a:txBody>
                  <a:tcPr marL="95250" marR="95250" marT="28575" marB="28575" anchor="ctr">
                    <a:lnR w="7144">
                      <a:solidFill>
                        <a:srgbClr val="DDE3EA"/>
                      </a:solidFill>
                      <a:prstDash val="solid"/>
                    </a:lnR>
                    <a:solidFill>
                      <a:srgbClr val="EFF6FF"/>
                    </a:solidFill>
                  </a:tcPr>
                </a:tc>
              </a:tr>
              <a:tr h="304800">
                <a:tc>
                  <a:txBody>
                    <a:bodyPr lIns="95250" tIns="0" rIns="95250" bIns="0">
                      <a:noAutofit/>
                    </a:bodyPr>
                    <a:lstStyle/>
                    <a:p>
                      <a:pPr algn="l"/>
                      <a:r>
                        <a:rPr sz="1350" b="1">
                          <a:solidFill>
                            <a:srgbClr val="111827"/>
                          </a:solidFill>
                          <a:latin typeface="Arial"/>
                          <a:ea typeface="Arial"/>
                          <a:cs typeface="Arial"/>
                        </a:rPr>
                        <a:t>Extreme Volatility Tail</a:t>
                      </a:r>
                    </a:p>
                  </a:txBody>
                  <a:tcPr marL="95250" marR="95250" marT="28575" marB="28575" anchor="ctr">
                    <a:lnL w="7144">
                      <a:solidFill>
                        <a:srgbClr val="DDE3EA"/>
                      </a:solidFill>
                      <a:prstDash val="solid"/>
                    </a:lnL>
                    <a:solidFill>
                      <a:srgbClr val="FFFFFF"/>
                    </a:solidFill>
                  </a:tcPr>
                </a:tc>
                <a:tc>
                  <a:txBody>
                    <a:bodyPr lIns="95250" tIns="0" rIns="95250" bIns="0">
                      <a:noAutofit/>
                    </a:bodyPr>
                    <a:lstStyle/>
                    <a:p>
                      <a:pPr algn="r"/>
                      <a:r>
                        <a:rPr sz="1350" b="0">
                          <a:solidFill>
                            <a:srgbClr val="111827"/>
                          </a:solidFill>
                          <a:latin typeface="Arial"/>
                          <a:ea typeface="Arial"/>
                          <a:cs typeface="Arial"/>
                        </a:rPr>
                        <a:t>19</a:t>
                      </a:r>
                    </a:p>
                  </a:txBody>
                  <a:tcPr marL="95250" marR="95250" marT="28575" marB="28575" anchor="ctr">
                    <a:solidFill>
                      <a:srgbClr val="FFFFFF"/>
                    </a:solidFill>
                  </a:tcPr>
                </a:tc>
                <a:tc>
                  <a:txBody>
                    <a:bodyPr lIns="95250" tIns="0" rIns="95250" bIns="0">
                      <a:noAutofit/>
                    </a:bodyPr>
                    <a:lstStyle/>
                    <a:p>
                      <a:pPr algn="r"/>
                      <a:r>
                        <a:rPr sz="1350" b="0">
                          <a:solidFill>
                            <a:srgbClr val="111827"/>
                          </a:solidFill>
                          <a:latin typeface="Arial"/>
                          <a:ea typeface="Arial"/>
                          <a:cs typeface="Arial"/>
                        </a:rPr>
                        <a:t>+€0.7K</a:t>
                      </a:r>
                    </a:p>
                  </a:txBody>
                  <a:tcPr marL="95250" marR="95250" marT="28575" marB="28575" anchor="ctr">
                    <a:solidFill>
                      <a:srgbClr val="FFFFFF"/>
                    </a:solidFill>
                  </a:tcPr>
                </a:tc>
                <a:tc>
                  <a:txBody>
                    <a:bodyPr lIns="95250" tIns="0" rIns="95250" bIns="0">
                      <a:noAutofit/>
                    </a:bodyPr>
                    <a:lstStyle/>
                    <a:p>
                      <a:pPr algn="l"/>
                      <a:r>
                        <a:rPr sz="1350" b="0">
                          <a:solidFill>
                            <a:srgbClr val="111827"/>
                          </a:solidFill>
                          <a:latin typeface="Arial"/>
                          <a:ea typeface="Arial"/>
                          <a:cs typeface="Arial"/>
                        </a:rPr>
                        <a:t>Contain</a:t>
                      </a:r>
                    </a:p>
                  </a:txBody>
                  <a:tcPr marL="95250" marR="95250" marT="28575" marB="28575" anchor="ctr">
                    <a:lnR w="7144">
                      <a:solidFill>
                        <a:srgbClr val="DDE3EA"/>
                      </a:solidFill>
                      <a:prstDash val="solid"/>
                    </a:lnR>
                    <a:solidFill>
                      <a:srgbClr val="FFFFFF"/>
                    </a:solidFill>
                  </a:tcPr>
                </a:tc>
              </a:tr>
              <a:tr h="304800">
                <a:tc>
                  <a:txBody>
                    <a:bodyPr lIns="95250" tIns="0" rIns="95250" bIns="0">
                      <a:noAutofit/>
                    </a:bodyPr>
                    <a:lstStyle/>
                    <a:p>
                      <a:pPr algn="l"/>
                      <a:r>
                        <a:rPr sz="1350" b="1">
                          <a:solidFill>
                            <a:srgbClr val="D94A50"/>
                          </a:solidFill>
                          <a:latin typeface="Arial"/>
                          <a:ea typeface="Arial"/>
                          <a:cs typeface="Arial"/>
                        </a:rPr>
                        <a:t>Loss Tail</a:t>
                      </a:r>
                    </a:p>
                  </a:txBody>
                  <a:tcPr marL="95250" marR="95250" marT="28575" marB="28575" anchor="ctr">
                    <a:lnL w="7144">
                      <a:solidFill>
                        <a:srgbClr val="DDE3EA"/>
                      </a:solidFill>
                      <a:prstDash val="solid"/>
                    </a:lnL>
                    <a:solidFill>
                      <a:srgbClr val="FFF1F2"/>
                    </a:solidFill>
                  </a:tcPr>
                </a:tc>
                <a:tc>
                  <a:txBody>
                    <a:bodyPr lIns="95250" tIns="0" rIns="95250" bIns="0">
                      <a:noAutofit/>
                    </a:bodyPr>
                    <a:lstStyle/>
                    <a:p>
                      <a:pPr algn="r"/>
                      <a:r>
                        <a:rPr sz="1350" b="0">
                          <a:solidFill>
                            <a:srgbClr val="111827"/>
                          </a:solidFill>
                          <a:latin typeface="Arial"/>
                          <a:ea typeface="Arial"/>
                          <a:cs typeface="Arial"/>
                        </a:rPr>
                        <a:t>26</a:t>
                      </a:r>
                    </a:p>
                  </a:txBody>
                  <a:tcPr marL="95250" marR="95250" marT="28575" marB="28575" anchor="ctr">
                    <a:solidFill>
                      <a:srgbClr val="FFF1F2"/>
                    </a:solidFill>
                  </a:tcPr>
                </a:tc>
                <a:tc>
                  <a:txBody>
                    <a:bodyPr lIns="95250" tIns="0" rIns="95250" bIns="0">
                      <a:noAutofit/>
                    </a:bodyPr>
                    <a:lstStyle/>
                    <a:p>
                      <a:pPr algn="r"/>
                      <a:r>
                        <a:rPr sz="1350" b="0">
                          <a:solidFill>
                            <a:srgbClr val="111827"/>
                          </a:solidFill>
                          <a:latin typeface="Arial"/>
                          <a:ea typeface="Arial"/>
                          <a:cs typeface="Arial"/>
                        </a:rPr>
                        <a:t>−€40.5K</a:t>
                      </a:r>
                    </a:p>
                  </a:txBody>
                  <a:tcPr marL="95250" marR="95250" marT="28575" marB="28575" anchor="ctr">
                    <a:solidFill>
                      <a:srgbClr val="FFF1F2"/>
                    </a:solidFill>
                  </a:tcPr>
                </a:tc>
                <a:tc>
                  <a:txBody>
                    <a:bodyPr lIns="95250" tIns="0" rIns="95250" bIns="0">
                      <a:noAutofit/>
                    </a:bodyPr>
                    <a:lstStyle/>
                    <a:p>
                      <a:pPr algn="l"/>
                      <a:r>
                        <a:rPr sz="1350" b="0">
                          <a:solidFill>
                            <a:srgbClr val="111827"/>
                          </a:solidFill>
                          <a:latin typeface="Arial"/>
                          <a:ea typeface="Arial"/>
                          <a:cs typeface="Arial"/>
                        </a:rPr>
                        <a:t>Correct</a:t>
                      </a:r>
                    </a:p>
                  </a:txBody>
                  <a:tcPr marL="95250" marR="95250" marT="28575" marB="28575" anchor="ctr">
                    <a:lnR w="7144">
                      <a:solidFill>
                        <a:srgbClr val="DDE3EA"/>
                      </a:solidFill>
                      <a:prstDash val="solid"/>
                    </a:lnR>
                    <a:solidFill>
                      <a:srgbClr val="FFF1F2"/>
                    </a:solidFill>
                  </a:tcPr>
                </a:tc>
              </a:tr>
              <a:tr h="333375">
                <a:tc>
                  <a:txBody>
                    <a:bodyPr lIns="95250" tIns="0" rIns="95250" bIns="0">
                      <a:noAutofit/>
                    </a:bodyPr>
                    <a:lstStyle/>
                    <a:p>
                      <a:pPr algn="l"/>
                      <a:r>
                        <a:rPr sz="1350" b="1">
                          <a:solidFill>
                            <a:srgbClr val="0B4A6F"/>
                          </a:solidFill>
                          <a:latin typeface="Arial"/>
                          <a:ea typeface="Arial"/>
                          <a:cs typeface="Arial"/>
                        </a:rPr>
                        <a:t>TOTAL</a:t>
                      </a:r>
                    </a:p>
                  </a:txBody>
                  <a:tcPr marL="95250" marR="95250" marT="28575" marB="28575" anchor="ctr">
                    <a:lnL w="7144">
                      <a:solidFill>
                        <a:srgbClr val="DDE3EA"/>
                      </a:solidFill>
                      <a:prstDash val="solid"/>
                    </a:lnL>
                    <a:lnB w="7144">
                      <a:solidFill>
                        <a:srgbClr val="DDE3EA"/>
                      </a:solidFill>
                      <a:prstDash val="solid"/>
                    </a:lnB>
                    <a:solidFill>
                      <a:srgbClr val="E8EEF4"/>
                    </a:solidFill>
                  </a:tcPr>
                </a:tc>
                <a:tc>
                  <a:txBody>
                    <a:bodyPr lIns="95250" tIns="0" rIns="95250" bIns="0">
                      <a:noAutofit/>
                    </a:bodyPr>
                    <a:lstStyle/>
                    <a:p>
                      <a:pPr algn="r"/>
                      <a:r>
                        <a:rPr sz="1350" b="1">
                          <a:solidFill>
                            <a:srgbClr val="0B4A6F"/>
                          </a:solidFill>
                          <a:latin typeface="Arial"/>
                          <a:ea typeface="Arial"/>
                          <a:cs typeface="Arial"/>
                        </a:rPr>
                        <a:t>1,894</a:t>
                      </a:r>
                    </a:p>
                  </a:txBody>
                  <a:tcPr marL="95250" marR="95250" marT="28575" marB="28575" anchor="ctr">
                    <a:lnB w="7144">
                      <a:solidFill>
                        <a:srgbClr val="DDE3EA"/>
                      </a:solidFill>
                      <a:prstDash val="solid"/>
                    </a:lnB>
                    <a:solidFill>
                      <a:srgbClr val="E8EEF4"/>
                    </a:solidFill>
                  </a:tcPr>
                </a:tc>
                <a:tc>
                  <a:txBody>
                    <a:bodyPr lIns="95250" tIns="0" rIns="95250" bIns="0">
                      <a:noAutofit/>
                    </a:bodyPr>
                    <a:lstStyle/>
                    <a:p>
                      <a:pPr algn="r"/>
                      <a:r>
                        <a:rPr sz="1350" b="1">
                          <a:solidFill>
                            <a:srgbClr val="0B4A6F"/>
                          </a:solidFill>
                          <a:latin typeface="Arial"/>
                          <a:ea typeface="Arial"/>
                          <a:cs typeface="Arial"/>
                        </a:rPr>
                        <a:t>+€286.4K</a:t>
                      </a:r>
                    </a:p>
                  </a:txBody>
                  <a:tcPr marL="95250" marR="95250" marT="28575" marB="28575" anchor="ctr">
                    <a:lnB w="7144">
                      <a:solidFill>
                        <a:srgbClr val="DDE3EA"/>
                      </a:solidFill>
                      <a:prstDash val="solid"/>
                    </a:lnB>
                    <a:solidFill>
                      <a:srgbClr val="E8EEF4"/>
                    </a:solidFill>
                  </a:tcPr>
                </a:tc>
                <a:tc>
                  <a:txBody>
                    <a:bodyPr lIns="95250" tIns="0" rIns="95250" bIns="0">
                      <a:noAutofit/>
                    </a:bodyPr>
                    <a:lstStyle/>
                    <a:p>
                      <a:pPr algn="l"/>
                      <a:r>
                        <a:rPr sz="1350" b="1">
                          <a:solidFill>
                            <a:srgbClr val="0B4A6F"/>
                          </a:solidFill>
                          <a:latin typeface="Arial"/>
                          <a:ea typeface="Arial"/>
                          <a:cs typeface="Arial"/>
                        </a:rPr>
                        <a:t>One role per product</a:t>
                      </a:r>
                    </a:p>
                  </a:txBody>
                  <a:tcPr marL="95250" marR="95250" marT="28575" marB="28575" anchor="ctr">
                    <a:lnR w="7144">
                      <a:solidFill>
                        <a:srgbClr val="DDE3EA"/>
                      </a:solidFill>
                      <a:prstDash val="solid"/>
                    </a:lnR>
                    <a:lnB w="7144">
                      <a:solidFill>
                        <a:srgbClr val="DDE3EA"/>
                      </a:solidFill>
                      <a:prstDash val="solid"/>
                    </a:lnB>
                    <a:solidFill>
                      <a:srgbClr val="E8EEF4"/>
                    </a:solidFill>
                  </a:tcPr>
                </a:tc>
              </a:tr>
            </a:tbl>
          </a:graphicData>
        </a:graphic>
      </p:graphicFrame>
      <p:sp>
        <p:nvSpPr>
          <p:cNvPr id="5" name="surface-82">
            <a:extLst xmlns:a="http://schemas.openxmlformats.org/drawingml/2006/main">
              <a:ext uri="{FF2B5EF4-FFF2-40B4-BE49-F238E27FC236}">
                <a16:creationId xmlns:a16="http://schemas.microsoft.com/office/drawing/2014/main" id="{D8A82495-A592-4330-8367-D59C874B335E}"/>
              </a:ext>
            </a:extLst>
          </p:cNvPr>
          <p:cNvSpPr>
            <a:spLocks xmlns:a="http://schemas.openxmlformats.org/drawingml/2006/main" noGrp="1"/>
          </p:cNvSpPr>
          <p:nvPr/>
        </p:nvSpPr>
        <p:spPr>
          <a:xfrm xmlns:a="http://schemas.openxmlformats.org/drawingml/2006/main">
            <a:off x="609600" y="5495925"/>
            <a:ext cx="5362575" cy="600075"/>
          </a:xfrm>
          <a:prstGeom xmlns:a="http://schemas.openxmlformats.org/drawingml/2006/main" prst="roundRect">
            <a:avLst>
              <a:gd name="adj" fmla="val 12698"/>
            </a:avLst>
          </a:prstGeom>
          <a:solidFill xmlns:a="http://schemas.openxmlformats.org/drawingml/2006/main">
            <a:srgbClr val="EFF6FF"/>
          </a:solidFill>
          <a:ln xmlns:a="http://schemas.openxmlformats.org/drawingml/2006/main" w="9525">
            <a:solidFill>
              <a:srgbClr val="DDE3EA"/>
            </a:solidFill>
          </a:ln>
        </p:spPr>
      </p:sp>
      <p:sp>
        <p:nvSpPr>
          <p:cNvPr id="6" name="text-83">
            <a:extLst xmlns:a="http://schemas.openxmlformats.org/drawingml/2006/main">
              <a:ext uri="{FF2B5EF4-FFF2-40B4-BE49-F238E27FC236}">
                <a16:creationId xmlns:a16="http://schemas.microsoft.com/office/drawing/2014/main" id="{BE6DEEC8-22E6-469B-9A3F-E62E302F6792}"/>
              </a:ext>
            </a:extLst>
          </p:cNvPr>
          <p:cNvSpPr>
            <a:spLocks xmlns:a="http://schemas.openxmlformats.org/drawingml/2006/main" noGrp="1"/>
          </p:cNvSpPr>
          <p:nvPr/>
        </p:nvSpPr>
        <p:spPr>
          <a:xfrm xmlns:a="http://schemas.openxmlformats.org/drawingml/2006/main">
            <a:off x="762000" y="5581650"/>
            <a:ext cx="5048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4 PEER GROUPS</a:t>
            </a:r>
          </a:p>
        </p:txBody>
      </p:sp>
      <p:sp>
        <p:nvSpPr>
          <p:cNvPr id="7" name="text-84">
            <a:extLst xmlns:a="http://schemas.openxmlformats.org/drawingml/2006/main">
              <a:ext uri="{FF2B5EF4-FFF2-40B4-BE49-F238E27FC236}">
                <a16:creationId xmlns:a16="http://schemas.microsoft.com/office/drawing/2014/main" id="{6DDF25C7-8172-4FC1-B105-F6E0BE9238CE}"/>
              </a:ext>
            </a:extLst>
          </p:cNvPr>
          <p:cNvSpPr>
            <a:spLocks xmlns:a="http://schemas.openxmlformats.org/drawingml/2006/main" noGrp="1"/>
          </p:cNvSpPr>
          <p:nvPr/>
        </p:nvSpPr>
        <p:spPr>
          <a:xfrm xmlns:a="http://schemas.openxmlformats.org/drawingml/2006/main">
            <a:off x="762000" y="5829300"/>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1,822 products (96.2%) with comparable economics</a:t>
            </a:r>
          </a:p>
        </p:txBody>
      </p:sp>
      <p:sp>
        <p:nvSpPr>
          <p:cNvPr id="8" name="surface-85">
            <a:extLst xmlns:a="http://schemas.openxmlformats.org/drawingml/2006/main">
              <a:ext uri="{FF2B5EF4-FFF2-40B4-BE49-F238E27FC236}">
                <a16:creationId xmlns:a16="http://schemas.microsoft.com/office/drawing/2014/main" id="{8616B61B-1014-4364-A75C-2F6143090360}"/>
              </a:ext>
            </a:extLst>
          </p:cNvPr>
          <p:cNvSpPr>
            <a:spLocks xmlns:a="http://schemas.openxmlformats.org/drawingml/2006/main" noGrp="1"/>
          </p:cNvSpPr>
          <p:nvPr/>
        </p:nvSpPr>
        <p:spPr>
          <a:xfrm xmlns:a="http://schemas.openxmlformats.org/drawingml/2006/main">
            <a:off x="6210300" y="5495925"/>
            <a:ext cx="5362575" cy="600075"/>
          </a:xfrm>
          <a:prstGeom xmlns:a="http://schemas.openxmlformats.org/drawingml/2006/main" prst="roundRect">
            <a:avLst>
              <a:gd name="adj" fmla="val 12698"/>
            </a:avLst>
          </a:prstGeom>
          <a:solidFill xmlns:a="http://schemas.openxmlformats.org/drawingml/2006/main">
            <a:srgbClr val="FFF8E8"/>
          </a:solidFill>
          <a:ln xmlns:a="http://schemas.openxmlformats.org/drawingml/2006/main" w="9525">
            <a:solidFill>
              <a:srgbClr val="DDE3EA"/>
            </a:solidFill>
          </a:ln>
        </p:spPr>
      </p:sp>
      <p:sp>
        <p:nvSpPr>
          <p:cNvPr id="9" name="text-86">
            <a:extLst xmlns:a="http://schemas.openxmlformats.org/drawingml/2006/main">
              <a:ext uri="{FF2B5EF4-FFF2-40B4-BE49-F238E27FC236}">
                <a16:creationId xmlns:a16="http://schemas.microsoft.com/office/drawing/2014/main" id="{978F4F10-87F7-470A-856F-1395F5DD78AF}"/>
              </a:ext>
            </a:extLst>
          </p:cNvPr>
          <p:cNvSpPr>
            <a:spLocks xmlns:a="http://schemas.openxmlformats.org/drawingml/2006/main" noGrp="1"/>
          </p:cNvSpPr>
          <p:nvPr/>
        </p:nvSpPr>
        <p:spPr>
          <a:xfrm xmlns:a="http://schemas.openxmlformats.org/drawingml/2006/main">
            <a:off x="6362700" y="5581650"/>
            <a:ext cx="5048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3 EXTREME GROUPS</a:t>
            </a:r>
          </a:p>
        </p:txBody>
      </p:sp>
      <p:sp>
        <p:nvSpPr>
          <p:cNvPr id="10" name="text-87">
            <a:extLst xmlns:a="http://schemas.openxmlformats.org/drawingml/2006/main">
              <a:ext uri="{FF2B5EF4-FFF2-40B4-BE49-F238E27FC236}">
                <a16:creationId xmlns:a16="http://schemas.microsoft.com/office/drawing/2014/main" id="{58B70232-CD9D-4977-9F72-6B236CE027AD}"/>
              </a:ext>
            </a:extLst>
          </p:cNvPr>
          <p:cNvSpPr>
            <a:spLocks xmlns:a="http://schemas.openxmlformats.org/drawingml/2006/main" noGrp="1"/>
          </p:cNvSpPr>
          <p:nvPr/>
        </p:nvSpPr>
        <p:spPr>
          <a:xfrm xmlns:a="http://schemas.openxmlformats.org/drawingml/2006/main">
            <a:off x="6362700" y="5829300"/>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72 products (3.8%) with exceptional impact or risk</a:t>
            </a:r>
          </a:p>
        </p:txBody>
      </p:sp>
      <p:sp>
        <p:nvSpPr>
          <p:cNvPr id="11" name="text-88">
            <a:extLst xmlns:a="http://schemas.openxmlformats.org/drawingml/2006/main">
              <a:ext uri="{FF2B5EF4-FFF2-40B4-BE49-F238E27FC236}">
                <a16:creationId xmlns:a16="http://schemas.microsoft.com/office/drawing/2014/main" id="{C48A2A88-2E90-4A9B-9D41-2CFC379A39FC}"/>
              </a:ext>
            </a:extLst>
          </p:cNvPr>
          <p:cNvSpPr>
            <a:spLocks xmlns:a="http://schemas.openxmlformats.org/drawingml/2006/main" noGrp="1"/>
          </p:cNvSpPr>
          <p:nvPr/>
        </p:nvSpPr>
        <p:spPr>
          <a:xfrm xmlns:a="http://schemas.openxmlformats.org/drawingml/2006/main">
            <a:off x="619125" y="616267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8" b="0">
                <a:solidFill>
                  <a:srgbClr val="718096"/>
                </a:solidFill>
                <a:latin typeface="Arial"/>
                <a:ea typeface="Arial"/>
                <a:cs typeface="Arial"/>
              </a:defRPr>
            </a:pPr>
            <a:r>
              <a:rPr sz="998" b="0">
                <a:solidFill>
                  <a:srgbClr val="718096"/>
                </a:solidFill>
                <a:latin typeface="Arial"/>
                <a:ea typeface="Arial"/>
                <a:cs typeface="Arial"/>
              </a:rPr>
              <a:t>Value engine: 123 + 27 = 150 products. Roles are analytical. Governance tests whether the starting action still fits.</a:t>
            </a:r>
          </a:p>
        </p:txBody>
      </p:sp>
    </p:spTree>
    <p:extLst>
      <p:ext uri="{BB962C8B-B14F-4D97-AF65-F5344CB8AC3E}">
        <p14:creationId xmlns:p14="http://schemas.microsoft.com/office/powerpoint/2010/main" val="25380645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7" name="text-89">
            <a:extLst xmlns:a="http://schemas.openxmlformats.org/drawingml/2006/main">
              <a:ext uri="{FF2B5EF4-FFF2-40B4-BE49-F238E27FC236}">
                <a16:creationId xmlns:a16="http://schemas.microsoft.com/office/drawing/2014/main" id="{B4C23AFB-8613-4325-811D-7DC72CDCF18C}"/>
              </a:ext>
            </a:extLst>
          </p:cNvPr>
          <p:cNvSpPr>
            <a:spLocks xmlns:a="http://schemas.openxmlformats.org/drawingml/2006/main" noGrp="1"/>
          </p:cNvSpPr>
          <p:nvPr/>
        </p:nvSpPr>
        <p:spPr>
          <a:xfrm xmlns:a="http://schemas.openxmlformats.org/drawingml/2006/main">
            <a:off x="609600" y="14192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GOVERNANCE SCORECARD</a:t>
            </a:r>
          </a:p>
        </p:txBody>
      </p:sp>
      <p:sp>
        <p:nvSpPr>
          <p:cNvPr id="2" name="text-90">
            <a:extLst xmlns:a="http://schemas.openxmlformats.org/drawingml/2006/main">
              <a:ext uri="{FF2B5EF4-FFF2-40B4-BE49-F238E27FC236}">
                <a16:creationId xmlns:a16="http://schemas.microsoft.com/office/drawing/2014/main" id="{F8302B45-A9AB-41B5-9D34-75F960CF2644}"/>
              </a:ext>
            </a:extLst>
          </p:cNvPr>
          <p:cNvSpPr>
            <a:spLocks xmlns:a="http://schemas.openxmlformats.org/drawingml/2006/main" noGrp="1"/>
          </p:cNvSpPr>
          <p:nvPr/>
        </p:nvSpPr>
        <p:spPr>
          <a:xfrm xmlns:a="http://schemas.openxmlformats.org/drawingml/2006/main">
            <a:off x="609600" y="1647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11827"/>
                </a:solidFill>
                <a:latin typeface="Arial"/>
                <a:ea typeface="Arial"/>
                <a:cs typeface="Arial"/>
              </a:defRPr>
            </a:pPr>
            <a:r>
              <a:rPr sz="2550" b="1">
                <a:solidFill>
                  <a:srgbClr val="111827"/>
                </a:solidFill>
                <a:latin typeface="Arial"/>
                <a:ea typeface="Arial"/>
                <a:cs typeface="Arial"/>
              </a:rPr>
              <a:t>32% of Products Carry 87% of Realised Loss.</a:t>
            </a:r>
          </a:p>
        </p:txBody>
      </p:sp>
      <p:sp>
        <p:nvSpPr>
          <p:cNvPr id="3" name="text-91">
            <a:extLst xmlns:a="http://schemas.openxmlformats.org/drawingml/2006/main">
              <a:ext uri="{FF2B5EF4-FFF2-40B4-BE49-F238E27FC236}">
                <a16:creationId xmlns:a16="http://schemas.microsoft.com/office/drawing/2014/main" id="{389D1F96-8878-4735-920F-8CD4D2E9E0F6}"/>
              </a:ext>
            </a:extLst>
          </p:cNvPr>
          <p:cNvSpPr>
            <a:spLocks xmlns:a="http://schemas.openxmlformats.org/drawingml/2006/main" noGrp="1"/>
          </p:cNvSpPr>
          <p:nvPr/>
        </p:nvSpPr>
        <p:spPr>
          <a:xfrm xmlns:a="http://schemas.openxmlformats.org/drawingml/2006/main">
            <a:off x="609600" y="215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Four mutually exclusive states show where the proposed action remains valid and where it needs intervention.</a:t>
            </a:r>
          </a:p>
        </p:txBody>
      </p:sp>
      <p:sp>
        <p:nvSpPr>
          <p:cNvPr id="4" name="surface-92">
            <a:extLst xmlns:a="http://schemas.openxmlformats.org/drawingml/2006/main">
              <a:ext uri="{FF2B5EF4-FFF2-40B4-BE49-F238E27FC236}">
                <a16:creationId xmlns:a16="http://schemas.microsoft.com/office/drawing/2014/main" id="{55F25BD5-A8B1-4B92-A0ED-84F1DF228B1E}"/>
              </a:ext>
            </a:extLst>
          </p:cNvPr>
          <p:cNvSpPr>
            <a:spLocks xmlns:a="http://schemas.openxmlformats.org/drawingml/2006/main" noGrp="1"/>
          </p:cNvSpPr>
          <p:nvPr/>
        </p:nvSpPr>
        <p:spPr>
          <a:xfrm xmlns:a="http://schemas.openxmlformats.org/drawingml/2006/main">
            <a:off x="609600" y="2628900"/>
            <a:ext cx="95250" cy="95250"/>
          </a:xfrm>
          <a:prstGeom xmlns:a="http://schemas.openxmlformats.org/drawingml/2006/main" prst="roundRect">
            <a:avLst>
              <a:gd name="adj" fmla="val 10000"/>
            </a:avLst>
          </a:prstGeom>
          <a:solidFill xmlns:a="http://schemas.openxmlformats.org/drawingml/2006/main">
            <a:srgbClr val="2563EB"/>
          </a:solidFill>
          <a:ln xmlns:a="http://schemas.openxmlformats.org/drawingml/2006/main" w="9525">
            <a:solidFill>
              <a:srgbClr val="2563EB"/>
            </a:solidFill>
          </a:ln>
        </p:spPr>
      </p:sp>
      <p:sp>
        <p:nvSpPr>
          <p:cNvPr id="5" name="text-93">
            <a:extLst xmlns:a="http://schemas.openxmlformats.org/drawingml/2006/main">
              <a:ext uri="{FF2B5EF4-FFF2-40B4-BE49-F238E27FC236}">
                <a16:creationId xmlns:a16="http://schemas.microsoft.com/office/drawing/2014/main" id="{8EC57049-A7DC-4ACB-AE56-7D5B090B7483}"/>
              </a:ext>
            </a:extLst>
          </p:cNvPr>
          <p:cNvSpPr>
            <a:spLocks xmlns:a="http://schemas.openxmlformats.org/drawingml/2006/main" noGrp="1"/>
          </p:cNvSpPr>
          <p:nvPr/>
        </p:nvSpPr>
        <p:spPr>
          <a:xfrm xmlns:a="http://schemas.openxmlformats.org/drawingml/2006/main">
            <a:off x="781050" y="2571750"/>
            <a:ext cx="2390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Stable Core</a:t>
            </a:r>
          </a:p>
        </p:txBody>
      </p:sp>
      <p:sp>
        <p:nvSpPr>
          <p:cNvPr id="6" name="text-94">
            <a:extLst xmlns:a="http://schemas.openxmlformats.org/drawingml/2006/main">
              <a:ext uri="{FF2B5EF4-FFF2-40B4-BE49-F238E27FC236}">
                <a16:creationId xmlns:a16="http://schemas.microsoft.com/office/drawing/2014/main" id="{A9C31C1E-70BC-4F4A-8653-8CD4E28D0523}"/>
              </a:ext>
            </a:extLst>
          </p:cNvPr>
          <p:cNvSpPr>
            <a:spLocks xmlns:a="http://schemas.openxmlformats.org/drawingml/2006/main" noGrp="1"/>
          </p:cNvSpPr>
          <p:nvPr/>
        </p:nvSpPr>
        <p:spPr>
          <a:xfrm xmlns:a="http://schemas.openxmlformats.org/drawingml/2006/main">
            <a:off x="609600" y="2847975"/>
            <a:ext cx="2609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1,008 products</a:t>
            </a:r>
          </a:p>
        </p:txBody>
      </p:sp>
      <p:sp>
        <p:nvSpPr>
          <p:cNvPr id="7" name="text-95">
            <a:extLst xmlns:a="http://schemas.openxmlformats.org/drawingml/2006/main">
              <a:ext uri="{FF2B5EF4-FFF2-40B4-BE49-F238E27FC236}">
                <a16:creationId xmlns:a16="http://schemas.microsoft.com/office/drawing/2014/main" id="{538F73A8-3DDD-4B4E-B5A0-752976C6644B}"/>
              </a:ext>
            </a:extLst>
          </p:cNvPr>
          <p:cNvSpPr>
            <a:spLocks xmlns:a="http://schemas.openxmlformats.org/drawingml/2006/main" noGrp="1"/>
          </p:cNvSpPr>
          <p:nvPr/>
        </p:nvSpPr>
        <p:spPr>
          <a:xfrm xmlns:a="http://schemas.openxmlformats.org/drawingml/2006/main">
            <a:off x="609600" y="3086100"/>
            <a:ext cx="2609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4B5563"/>
                </a:solidFill>
                <a:latin typeface="Arial"/>
                <a:ea typeface="Arial"/>
                <a:cs typeface="Arial"/>
              </a:defRPr>
            </a:pPr>
            <a:r>
              <a:rPr sz="1125" b="0">
                <a:solidFill>
                  <a:srgbClr val="4B5563"/>
                </a:solidFill>
                <a:latin typeface="Arial"/>
                <a:ea typeface="Arial"/>
                <a:cs typeface="Arial"/>
              </a:rPr>
              <a:t>Keep starting action</a:t>
            </a:r>
          </a:p>
        </p:txBody>
      </p:sp>
      <p:sp>
        <p:nvSpPr>
          <p:cNvPr id="8" name="surface-96">
            <a:extLst xmlns:a="http://schemas.openxmlformats.org/drawingml/2006/main">
              <a:ext uri="{FF2B5EF4-FFF2-40B4-BE49-F238E27FC236}">
                <a16:creationId xmlns:a16="http://schemas.microsoft.com/office/drawing/2014/main" id="{F70A804A-C520-47FE-A132-AD55D178AC8D}"/>
              </a:ext>
            </a:extLst>
          </p:cNvPr>
          <p:cNvSpPr>
            <a:spLocks xmlns:a="http://schemas.openxmlformats.org/drawingml/2006/main" noGrp="1"/>
          </p:cNvSpPr>
          <p:nvPr/>
        </p:nvSpPr>
        <p:spPr>
          <a:xfrm xmlns:a="http://schemas.openxmlformats.org/drawingml/2006/main">
            <a:off x="3409950" y="2628900"/>
            <a:ext cx="95250" cy="95250"/>
          </a:xfrm>
          <a:prstGeom xmlns:a="http://schemas.openxmlformats.org/drawingml/2006/main" prst="roundRect">
            <a:avLst>
              <a:gd name="adj" fmla="val 10000"/>
            </a:avLst>
          </a:prstGeom>
          <a:solidFill xmlns:a="http://schemas.openxmlformats.org/drawingml/2006/main">
            <a:srgbClr val="E59A17"/>
          </a:solidFill>
          <a:ln xmlns:a="http://schemas.openxmlformats.org/drawingml/2006/main" w="9525">
            <a:solidFill>
              <a:srgbClr val="E59A17"/>
            </a:solidFill>
          </a:ln>
        </p:spPr>
      </p:sp>
      <p:sp>
        <p:nvSpPr>
          <p:cNvPr id="9" name="text-97">
            <a:extLst xmlns:a="http://schemas.openxmlformats.org/drawingml/2006/main">
              <a:ext uri="{FF2B5EF4-FFF2-40B4-BE49-F238E27FC236}">
                <a16:creationId xmlns:a16="http://schemas.microsoft.com/office/drawing/2014/main" id="{80B5081D-6127-4715-BFF9-F0E2BB5BD449}"/>
              </a:ext>
            </a:extLst>
          </p:cNvPr>
          <p:cNvSpPr>
            <a:spLocks xmlns:a="http://schemas.openxmlformats.org/drawingml/2006/main" noGrp="1"/>
          </p:cNvSpPr>
          <p:nvPr/>
        </p:nvSpPr>
        <p:spPr>
          <a:xfrm xmlns:a="http://schemas.openxmlformats.org/drawingml/2006/main">
            <a:off x="3581400" y="2571750"/>
            <a:ext cx="2390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Control Pressure</a:t>
            </a:r>
          </a:p>
        </p:txBody>
      </p:sp>
      <p:sp>
        <p:nvSpPr>
          <p:cNvPr id="10" name="text-98">
            <a:extLst xmlns:a="http://schemas.openxmlformats.org/drawingml/2006/main">
              <a:ext uri="{FF2B5EF4-FFF2-40B4-BE49-F238E27FC236}">
                <a16:creationId xmlns:a16="http://schemas.microsoft.com/office/drawing/2014/main" id="{E1A2CE8D-EA97-4EEB-8086-CFD205AA92F3}"/>
              </a:ext>
            </a:extLst>
          </p:cNvPr>
          <p:cNvSpPr>
            <a:spLocks xmlns:a="http://schemas.openxmlformats.org/drawingml/2006/main" noGrp="1"/>
          </p:cNvSpPr>
          <p:nvPr/>
        </p:nvSpPr>
        <p:spPr>
          <a:xfrm xmlns:a="http://schemas.openxmlformats.org/drawingml/2006/main">
            <a:off x="3409950" y="2847975"/>
            <a:ext cx="2609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280 products</a:t>
            </a:r>
          </a:p>
        </p:txBody>
      </p:sp>
      <p:sp>
        <p:nvSpPr>
          <p:cNvPr id="11" name="text-99">
            <a:extLst xmlns:a="http://schemas.openxmlformats.org/drawingml/2006/main">
              <a:ext uri="{FF2B5EF4-FFF2-40B4-BE49-F238E27FC236}">
                <a16:creationId xmlns:a16="http://schemas.microsoft.com/office/drawing/2014/main" id="{B06BFF14-1642-41B4-A15A-54AEA4FF6DFE}"/>
              </a:ext>
            </a:extLst>
          </p:cNvPr>
          <p:cNvSpPr>
            <a:spLocks xmlns:a="http://schemas.openxmlformats.org/drawingml/2006/main" noGrp="1"/>
          </p:cNvSpPr>
          <p:nvPr/>
        </p:nvSpPr>
        <p:spPr>
          <a:xfrm xmlns:a="http://schemas.openxmlformats.org/drawingml/2006/main">
            <a:off x="3409950" y="3086100"/>
            <a:ext cx="2609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4B5563"/>
                </a:solidFill>
                <a:latin typeface="Arial"/>
                <a:ea typeface="Arial"/>
                <a:cs typeface="Arial"/>
              </a:defRPr>
            </a:pPr>
            <a:r>
              <a:rPr sz="1125" b="0">
                <a:solidFill>
                  <a:srgbClr val="4B5563"/>
                </a:solidFill>
                <a:latin typeface="Arial"/>
                <a:ea typeface="Arial"/>
                <a:cs typeface="Arial"/>
              </a:rPr>
              <a:t>Strengthen the controls</a:t>
            </a:r>
          </a:p>
        </p:txBody>
      </p:sp>
      <p:sp>
        <p:nvSpPr>
          <p:cNvPr id="12" name="surface-100">
            <a:extLst xmlns:a="http://schemas.openxmlformats.org/drawingml/2006/main">
              <a:ext uri="{FF2B5EF4-FFF2-40B4-BE49-F238E27FC236}">
                <a16:creationId xmlns:a16="http://schemas.microsoft.com/office/drawing/2014/main" id="{D5D6B064-75C1-4546-9389-8AEFB5BBEE9C}"/>
              </a:ext>
            </a:extLst>
          </p:cNvPr>
          <p:cNvSpPr>
            <a:spLocks xmlns:a="http://schemas.openxmlformats.org/drawingml/2006/main" noGrp="1"/>
          </p:cNvSpPr>
          <p:nvPr/>
        </p:nvSpPr>
        <p:spPr>
          <a:xfrm xmlns:a="http://schemas.openxmlformats.org/drawingml/2006/main">
            <a:off x="6210300" y="2628900"/>
            <a:ext cx="95250" cy="95250"/>
          </a:xfrm>
          <a:prstGeom xmlns:a="http://schemas.openxmlformats.org/drawingml/2006/main" prst="roundRect">
            <a:avLst>
              <a:gd name="adj" fmla="val 10000"/>
            </a:avLst>
          </a:prstGeom>
          <a:solidFill xmlns:a="http://schemas.openxmlformats.org/drawingml/2006/main">
            <a:srgbClr val="D94A50"/>
          </a:solidFill>
          <a:ln xmlns:a="http://schemas.openxmlformats.org/drawingml/2006/main" w="9525">
            <a:solidFill>
              <a:srgbClr val="D94A50"/>
            </a:solidFill>
          </a:ln>
        </p:spPr>
      </p:sp>
      <p:sp>
        <p:nvSpPr>
          <p:cNvPr id="13" name="text-101">
            <a:extLst xmlns:a="http://schemas.openxmlformats.org/drawingml/2006/main">
              <a:ext uri="{FF2B5EF4-FFF2-40B4-BE49-F238E27FC236}">
                <a16:creationId xmlns:a16="http://schemas.microsoft.com/office/drawing/2014/main" id="{5476C8AF-F2DF-4B14-9E4F-3E327E97C2C7}"/>
              </a:ext>
            </a:extLst>
          </p:cNvPr>
          <p:cNvSpPr>
            <a:spLocks xmlns:a="http://schemas.openxmlformats.org/drawingml/2006/main" noGrp="1"/>
          </p:cNvSpPr>
          <p:nvPr/>
        </p:nvSpPr>
        <p:spPr>
          <a:xfrm xmlns:a="http://schemas.openxmlformats.org/drawingml/2006/main">
            <a:off x="6381750" y="2571750"/>
            <a:ext cx="2390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Action Mismatch</a:t>
            </a:r>
          </a:p>
        </p:txBody>
      </p:sp>
      <p:sp>
        <p:nvSpPr>
          <p:cNvPr id="14" name="text-102">
            <a:extLst xmlns:a="http://schemas.openxmlformats.org/drawingml/2006/main">
              <a:ext uri="{FF2B5EF4-FFF2-40B4-BE49-F238E27FC236}">
                <a16:creationId xmlns:a16="http://schemas.microsoft.com/office/drawing/2014/main" id="{C4602EB3-8851-499C-878C-5B2F72933ADF}"/>
              </a:ext>
            </a:extLst>
          </p:cNvPr>
          <p:cNvSpPr>
            <a:spLocks xmlns:a="http://schemas.openxmlformats.org/drawingml/2006/main" noGrp="1"/>
          </p:cNvSpPr>
          <p:nvPr/>
        </p:nvSpPr>
        <p:spPr>
          <a:xfrm xmlns:a="http://schemas.openxmlformats.org/drawingml/2006/main">
            <a:off x="6210300" y="2847975"/>
            <a:ext cx="2609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567 products</a:t>
            </a:r>
          </a:p>
        </p:txBody>
      </p:sp>
      <p:sp>
        <p:nvSpPr>
          <p:cNvPr id="15" name="text-103">
            <a:extLst xmlns:a="http://schemas.openxmlformats.org/drawingml/2006/main">
              <a:ext uri="{FF2B5EF4-FFF2-40B4-BE49-F238E27FC236}">
                <a16:creationId xmlns:a16="http://schemas.microsoft.com/office/drawing/2014/main" id="{E53ED81A-9008-48F2-88B5-E250CDD1560A}"/>
              </a:ext>
            </a:extLst>
          </p:cNvPr>
          <p:cNvSpPr>
            <a:spLocks xmlns:a="http://schemas.openxmlformats.org/drawingml/2006/main" noGrp="1"/>
          </p:cNvSpPr>
          <p:nvPr/>
        </p:nvSpPr>
        <p:spPr>
          <a:xfrm xmlns:a="http://schemas.openxmlformats.org/drawingml/2006/main">
            <a:off x="6210300" y="3086100"/>
            <a:ext cx="2609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4B5563"/>
                </a:solidFill>
                <a:latin typeface="Arial"/>
                <a:ea typeface="Arial"/>
                <a:cs typeface="Arial"/>
              </a:defRPr>
            </a:pPr>
            <a:r>
              <a:rPr sz="1125" b="0">
                <a:solidFill>
                  <a:srgbClr val="4B5563"/>
                </a:solidFill>
                <a:latin typeface="Arial"/>
                <a:ea typeface="Arial"/>
                <a:cs typeface="Arial"/>
              </a:rPr>
              <a:t>Change the starting action</a:t>
            </a:r>
          </a:p>
        </p:txBody>
      </p:sp>
      <p:sp>
        <p:nvSpPr>
          <p:cNvPr id="16" name="surface-104">
            <a:extLst xmlns:a="http://schemas.openxmlformats.org/drawingml/2006/main">
              <a:ext uri="{FF2B5EF4-FFF2-40B4-BE49-F238E27FC236}">
                <a16:creationId xmlns:a16="http://schemas.microsoft.com/office/drawing/2014/main" id="{E7B27BC1-6440-471C-92EB-6A7BD3900714}"/>
              </a:ext>
            </a:extLst>
          </p:cNvPr>
          <p:cNvSpPr>
            <a:spLocks xmlns:a="http://schemas.openxmlformats.org/drawingml/2006/main" noGrp="1"/>
          </p:cNvSpPr>
          <p:nvPr/>
        </p:nvSpPr>
        <p:spPr>
          <a:xfrm xmlns:a="http://schemas.openxmlformats.org/drawingml/2006/main">
            <a:off x="9010650" y="2628900"/>
            <a:ext cx="95250" cy="95250"/>
          </a:xfrm>
          <a:prstGeom xmlns:a="http://schemas.openxmlformats.org/drawingml/2006/main" prst="roundRect">
            <a:avLst>
              <a:gd name="adj" fmla="val 10000"/>
            </a:avLst>
          </a:prstGeom>
          <a:solidFill xmlns:a="http://schemas.openxmlformats.org/drawingml/2006/main">
            <a:srgbClr val="7C3AED"/>
          </a:solidFill>
          <a:ln xmlns:a="http://schemas.openxmlformats.org/drawingml/2006/main" w="9525">
            <a:solidFill>
              <a:srgbClr val="7C3AED"/>
            </a:solidFill>
          </a:ln>
        </p:spPr>
      </p:sp>
      <p:sp>
        <p:nvSpPr>
          <p:cNvPr id="17" name="text-105">
            <a:extLst xmlns:a="http://schemas.openxmlformats.org/drawingml/2006/main">
              <a:ext uri="{FF2B5EF4-FFF2-40B4-BE49-F238E27FC236}">
                <a16:creationId xmlns:a16="http://schemas.microsoft.com/office/drawing/2014/main" id="{643CA943-0B7B-43A0-B687-EED59CD2E7D5}"/>
              </a:ext>
            </a:extLst>
          </p:cNvPr>
          <p:cNvSpPr>
            <a:spLocks xmlns:a="http://schemas.openxmlformats.org/drawingml/2006/main" noGrp="1"/>
          </p:cNvSpPr>
          <p:nvPr/>
        </p:nvSpPr>
        <p:spPr>
          <a:xfrm xmlns:a="http://schemas.openxmlformats.org/drawingml/2006/main">
            <a:off x="9182100" y="2571750"/>
            <a:ext cx="2390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Structural Ambiguity</a:t>
            </a:r>
          </a:p>
        </p:txBody>
      </p:sp>
      <p:sp>
        <p:nvSpPr>
          <p:cNvPr id="18" name="text-106">
            <a:extLst xmlns:a="http://schemas.openxmlformats.org/drawingml/2006/main">
              <a:ext uri="{FF2B5EF4-FFF2-40B4-BE49-F238E27FC236}">
                <a16:creationId xmlns:a16="http://schemas.microsoft.com/office/drawing/2014/main" id="{DDE8CB25-DB48-4590-A0F1-E13894974548}"/>
              </a:ext>
            </a:extLst>
          </p:cNvPr>
          <p:cNvSpPr>
            <a:spLocks xmlns:a="http://schemas.openxmlformats.org/drawingml/2006/main" noGrp="1"/>
          </p:cNvSpPr>
          <p:nvPr/>
        </p:nvSpPr>
        <p:spPr>
          <a:xfrm xmlns:a="http://schemas.openxmlformats.org/drawingml/2006/main">
            <a:off x="9010650" y="2847975"/>
            <a:ext cx="2609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39 products</a:t>
            </a:r>
          </a:p>
        </p:txBody>
      </p:sp>
      <p:sp>
        <p:nvSpPr>
          <p:cNvPr id="19" name="text-107">
            <a:extLst xmlns:a="http://schemas.openxmlformats.org/drawingml/2006/main">
              <a:ext uri="{FF2B5EF4-FFF2-40B4-BE49-F238E27FC236}">
                <a16:creationId xmlns:a16="http://schemas.microsoft.com/office/drawing/2014/main" id="{CBD3EE75-FC7E-474F-AE0E-13B0E93E3F3F}"/>
              </a:ext>
            </a:extLst>
          </p:cNvPr>
          <p:cNvSpPr>
            <a:spLocks xmlns:a="http://schemas.openxmlformats.org/drawingml/2006/main" noGrp="1"/>
          </p:cNvSpPr>
          <p:nvPr/>
        </p:nvSpPr>
        <p:spPr>
          <a:xfrm xmlns:a="http://schemas.openxmlformats.org/drawingml/2006/main">
            <a:off x="9010650" y="3086100"/>
            <a:ext cx="2609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4B5563"/>
                </a:solidFill>
                <a:latin typeface="Arial"/>
                <a:ea typeface="Arial"/>
                <a:cs typeface="Arial"/>
              </a:defRPr>
            </a:pPr>
            <a:r>
              <a:rPr sz="1125" b="0">
                <a:solidFill>
                  <a:srgbClr val="4B5563"/>
                </a:solidFill>
                <a:latin typeface="Arial"/>
                <a:ea typeface="Arial"/>
                <a:cs typeface="Arial"/>
              </a:rPr>
              <a:t>Review classification</a:t>
            </a:r>
          </a:p>
        </p:txBody>
      </p:sp>
      <p:graphicFrame>
        <p:nvGraphicFramePr>
          <p:cNvPr id="46" name="Chart"/>
          <p:cNvGraphicFramePr/>
          <p:nvPr/>
        </p:nvGraphicFramePr>
        <p:xfrm>
          <a:off xmlns:a="http://schemas.openxmlformats.org/drawingml/2006/main" x="609600" y="3343275"/>
          <a:ext xmlns:a="http://schemas.openxmlformats.org/drawingml/2006/main" cx="10963275" cy="1590675"/>
        </p:xfrm>
        <a:graphic xmlns:a="http://schemas.openxmlformats.org/drawingml/2006/main">
          <a:graphicData uri="http://schemas.openxmlformats.org/drawingml/2006/chart">
            <c:chart xmlns:r="http://schemas.openxmlformats.org/officeDocument/2006/relationships" xmlns:c="http://schemas.openxmlformats.org/drawingml/2006/chart" r:id="R9ac97d1e57fe4ac5"/>
          </a:graphicData>
        </a:graphic>
      </p:graphicFrame>
      <p:sp>
        <p:nvSpPr>
          <p:cNvPr id="21" name="text-108">
            <a:extLst xmlns:a="http://schemas.openxmlformats.org/drawingml/2006/main">
              <a:ext uri="{FF2B5EF4-FFF2-40B4-BE49-F238E27FC236}">
                <a16:creationId xmlns:a16="http://schemas.microsoft.com/office/drawing/2014/main" id="{F8767197-8231-4F2E-B0C1-E301D202A059}"/>
              </a:ext>
            </a:extLst>
          </p:cNvPr>
          <p:cNvSpPr>
            <a:spLocks xmlns:a="http://schemas.openxmlformats.org/drawingml/2006/main" noGrp="1"/>
          </p:cNvSpPr>
          <p:nvPr/>
        </p:nvSpPr>
        <p:spPr>
          <a:xfrm xmlns:a="http://schemas.openxmlformats.org/drawingml/2006/main">
            <a:off x="619125" y="495300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4B5563"/>
                </a:solidFill>
                <a:latin typeface="Arial"/>
                <a:ea typeface="Arial"/>
                <a:cs typeface="Arial"/>
              </a:defRPr>
            </a:pPr>
            <a:r>
              <a:rPr sz="1088" b="0">
                <a:solidFill>
                  <a:srgbClr val="4B5563"/>
                </a:solidFill>
                <a:latin typeface="Arial"/>
                <a:ea typeface="Arial"/>
                <a:cs typeface="Arial"/>
              </a:rPr>
              <a:t>Structural Ambiguity: 2.1% of products, 1.4% of net profit and 3.9% of realised loss.</a:t>
            </a:r>
          </a:p>
        </p:txBody>
      </p:sp>
      <p:sp>
        <p:nvSpPr>
          <p:cNvPr id="22" name="surface-109">
            <a:extLst xmlns:a="http://schemas.openxmlformats.org/drawingml/2006/main">
              <a:ext uri="{FF2B5EF4-FFF2-40B4-BE49-F238E27FC236}">
                <a16:creationId xmlns:a16="http://schemas.microsoft.com/office/drawing/2014/main" id="{9A02701B-BF43-4B87-A172-9F83EAC30777}"/>
              </a:ext>
            </a:extLst>
          </p:cNvPr>
          <p:cNvSpPr>
            <a:spLocks xmlns:a="http://schemas.openxmlformats.org/drawingml/2006/main" noGrp="1"/>
          </p:cNvSpPr>
          <p:nvPr/>
        </p:nvSpPr>
        <p:spPr>
          <a:xfrm xmlns:a="http://schemas.openxmlformats.org/drawingml/2006/main">
            <a:off x="609600" y="5248275"/>
            <a:ext cx="10963275" cy="638175"/>
          </a:xfrm>
          <a:prstGeom xmlns:a="http://schemas.openxmlformats.org/drawingml/2006/main" prst="roundRect">
            <a:avLst>
              <a:gd name="adj" fmla="val 13433"/>
            </a:avLst>
          </a:prstGeom>
          <a:solidFill xmlns:a="http://schemas.openxmlformats.org/drawingml/2006/main">
            <a:srgbClr val="172B45"/>
          </a:solidFill>
          <a:ln xmlns:a="http://schemas.openxmlformats.org/drawingml/2006/main" w="9525">
            <a:solidFill>
              <a:srgbClr val="172B45"/>
            </a:solidFill>
          </a:ln>
        </p:spPr>
      </p:sp>
      <p:sp>
        <p:nvSpPr>
          <p:cNvPr id="23" name="text-110">
            <a:extLst xmlns:a="http://schemas.openxmlformats.org/drawingml/2006/main">
              <a:ext uri="{FF2B5EF4-FFF2-40B4-BE49-F238E27FC236}">
                <a16:creationId xmlns:a16="http://schemas.microsoft.com/office/drawing/2014/main" id="{A5DE2A53-6E79-4763-A2DE-4AC9CA59B099}"/>
              </a:ext>
            </a:extLst>
          </p:cNvPr>
          <p:cNvSpPr>
            <a:spLocks xmlns:a="http://schemas.openxmlformats.org/drawingml/2006/main" noGrp="1"/>
          </p:cNvSpPr>
          <p:nvPr/>
        </p:nvSpPr>
        <p:spPr>
          <a:xfrm xmlns:a="http://schemas.openxmlformats.org/drawingml/2006/main">
            <a:off x="781050" y="5353050"/>
            <a:ext cx="106299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EFF6FF"/>
                </a:solidFill>
                <a:latin typeface="Arial"/>
                <a:ea typeface="Arial"/>
                <a:cs typeface="Arial"/>
              </a:defRPr>
            </a:pPr>
            <a:r>
              <a:rPr sz="1050" b="1">
                <a:solidFill>
                  <a:srgbClr val="EFF6FF"/>
                </a:solidFill>
                <a:latin typeface="Arial"/>
                <a:ea typeface="Arial"/>
                <a:cs typeface="Arial"/>
              </a:rPr>
              <a:t>HARD EXPOSURE = ACTION MISMATCH + STRUCTURAL AMBIGUITY</a:t>
            </a:r>
          </a:p>
        </p:txBody>
      </p:sp>
      <p:sp>
        <p:nvSpPr>
          <p:cNvPr id="24" name="text-111">
            <a:extLst xmlns:a="http://schemas.openxmlformats.org/drawingml/2006/main">
              <a:ext uri="{FF2B5EF4-FFF2-40B4-BE49-F238E27FC236}">
                <a16:creationId xmlns:a16="http://schemas.microsoft.com/office/drawing/2014/main" id="{86F35BD4-2F2A-4620-893D-FE31B0026095}"/>
              </a:ext>
            </a:extLst>
          </p:cNvPr>
          <p:cNvSpPr>
            <a:spLocks xmlns:a="http://schemas.openxmlformats.org/drawingml/2006/main" noGrp="1"/>
          </p:cNvSpPr>
          <p:nvPr/>
        </p:nvSpPr>
        <p:spPr>
          <a:xfrm xmlns:a="http://schemas.openxmlformats.org/drawingml/2006/main">
            <a:off x="781050" y="557212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606 products · 87.0% of realised loss</a:t>
            </a:r>
          </a:p>
        </p:txBody>
      </p:sp>
      <p:sp>
        <p:nvSpPr>
          <p:cNvPr id="25" name="text-112">
            <a:extLst xmlns:a="http://schemas.openxmlformats.org/drawingml/2006/main">
              <a:ext uri="{FF2B5EF4-FFF2-40B4-BE49-F238E27FC236}">
                <a16:creationId xmlns:a16="http://schemas.microsoft.com/office/drawing/2014/main" id="{29457504-2C81-43B0-9C00-50C134239C50}"/>
              </a:ext>
            </a:extLst>
          </p:cNvPr>
          <p:cNvSpPr>
            <a:spLocks xmlns:a="http://schemas.openxmlformats.org/drawingml/2006/main" noGrp="1"/>
          </p:cNvSpPr>
          <p:nvPr/>
        </p:nvSpPr>
        <p:spPr>
          <a:xfrm xmlns:a="http://schemas.openxmlformats.org/drawingml/2006/main">
            <a:off x="619125" y="5953125"/>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B4A6F"/>
                </a:solidFill>
                <a:latin typeface="Arial"/>
                <a:ea typeface="Arial"/>
                <a:cs typeface="Arial"/>
              </a:defRPr>
            </a:pPr>
            <a:r>
              <a:rPr sz="1200" b="1">
                <a:solidFill>
                  <a:srgbClr val="0B4A6F"/>
                </a:solidFill>
                <a:latin typeface="Arial"/>
                <a:ea typeface="Arial"/>
                <a:cs typeface="Arial"/>
              </a:rPr>
              <a:t>These products also carry 41.8% of net profit. Review the proposed route before taking commercial action.</a:t>
            </a:r>
          </a:p>
        </p:txBody>
      </p:sp>
      <p:sp>
        <p:nvSpPr>
          <p:cNvPr id="26" name="text-113">
            <a:extLst xmlns:a="http://schemas.openxmlformats.org/drawingml/2006/main">
              <a:ext uri="{FF2B5EF4-FFF2-40B4-BE49-F238E27FC236}">
                <a16:creationId xmlns:a16="http://schemas.microsoft.com/office/drawing/2014/main" id="{6F2409F0-BAE0-4FD5-896C-68DED11EE663}"/>
              </a:ext>
            </a:extLst>
          </p:cNvPr>
          <p:cNvSpPr>
            <a:spLocks xmlns:a="http://schemas.openxmlformats.org/drawingml/2006/main" noGrp="1"/>
          </p:cNvSpPr>
          <p:nvPr/>
        </p:nvSpPr>
        <p:spPr>
          <a:xfrm xmlns:a="http://schemas.openxmlformats.org/drawingml/2006/main">
            <a:off x="619125" y="61912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8" b="0">
                <a:solidFill>
                  <a:srgbClr val="718096"/>
                </a:solidFill>
                <a:latin typeface="Arial"/>
                <a:ea typeface="Arial"/>
                <a:cs typeface="Arial"/>
              </a:defRPr>
            </a:pPr>
            <a:r>
              <a:rPr sz="998" b="0">
                <a:solidFill>
                  <a:srgbClr val="718096"/>
                </a:solidFill>
                <a:latin typeface="Arial"/>
                <a:ea typeface="Arial"/>
                <a:cs typeface="Arial"/>
              </a:rPr>
              <a:t>Realised loss: absolute total profit of net-negative products (€77.1K). Action Mismatch concerns the model’s proposed route.</a:t>
            </a:r>
          </a:p>
        </p:txBody>
      </p:sp>
    </p:spTree>
    <p:extLst>
      <p:ext uri="{BB962C8B-B14F-4D97-AF65-F5344CB8AC3E}">
        <p14:creationId xmlns:p14="http://schemas.microsoft.com/office/powerpoint/2010/main" val="42412952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 name="text-114">
            <a:extLst xmlns:a="http://schemas.openxmlformats.org/drawingml/2006/main">
              <a:ext uri="{FF2B5EF4-FFF2-40B4-BE49-F238E27FC236}">
                <a16:creationId xmlns:a16="http://schemas.microsoft.com/office/drawing/2014/main" id="{22A33D9B-B34F-436B-9CB9-4A3553BAC0AC}"/>
              </a:ext>
            </a:extLst>
          </p:cNvPr>
          <p:cNvSpPr>
            <a:spLocks xmlns:a="http://schemas.openxmlformats.org/drawingml/2006/main" noGrp="1"/>
          </p:cNvSpPr>
          <p:nvPr/>
        </p:nvSpPr>
        <p:spPr>
          <a:xfrm xmlns:a="http://schemas.openxmlformats.org/drawingml/2006/main">
            <a:off x="609600" y="14192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PRIORITY QUEUES</a:t>
            </a:r>
          </a:p>
        </p:txBody>
      </p:sp>
      <p:sp>
        <p:nvSpPr>
          <p:cNvPr id="2" name="text-115">
            <a:extLst xmlns:a="http://schemas.openxmlformats.org/drawingml/2006/main">
              <a:ext uri="{FF2B5EF4-FFF2-40B4-BE49-F238E27FC236}">
                <a16:creationId xmlns:a16="http://schemas.microsoft.com/office/drawing/2014/main" id="{E276DA20-6295-4279-87F1-9673F104D723}"/>
              </a:ext>
            </a:extLst>
          </p:cNvPr>
          <p:cNvSpPr>
            <a:spLocks xmlns:a="http://schemas.openxmlformats.org/drawingml/2006/main" noGrp="1"/>
          </p:cNvSpPr>
          <p:nvPr/>
        </p:nvSpPr>
        <p:spPr>
          <a:xfrm xmlns:a="http://schemas.openxmlformats.org/drawingml/2006/main">
            <a:off x="609600" y="1647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13" b="1">
                <a:solidFill>
                  <a:srgbClr val="111827"/>
                </a:solidFill>
                <a:latin typeface="Arial"/>
                <a:ea typeface="Arial"/>
                <a:cs typeface="Arial"/>
              </a:defRPr>
            </a:pPr>
            <a:r>
              <a:rPr sz="2513" b="1">
                <a:solidFill>
                  <a:srgbClr val="111827"/>
                </a:solidFill>
                <a:latin typeface="Arial"/>
                <a:ea typeface="Arial"/>
                <a:cs typeface="Arial"/>
              </a:rPr>
              <a:t>401 Products Form the First Three Decision Queues.</a:t>
            </a:r>
          </a:p>
        </p:txBody>
      </p:sp>
      <p:sp>
        <p:nvSpPr>
          <p:cNvPr id="3" name="text-116">
            <a:extLst xmlns:a="http://schemas.openxmlformats.org/drawingml/2006/main">
              <a:ext uri="{FF2B5EF4-FFF2-40B4-BE49-F238E27FC236}">
                <a16:creationId xmlns:a16="http://schemas.microsoft.com/office/drawing/2014/main" id="{4C8290FA-A639-41B3-B7DB-B472A83E9A3C}"/>
              </a:ext>
            </a:extLst>
          </p:cNvPr>
          <p:cNvSpPr>
            <a:spLocks xmlns:a="http://schemas.openxmlformats.org/drawingml/2006/main" noGrp="1"/>
          </p:cNvSpPr>
          <p:nvPr/>
        </p:nvSpPr>
        <p:spPr>
          <a:xfrm xmlns:a="http://schemas.openxmlformats.org/drawingml/2006/main">
            <a:off x="609600" y="215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The first three queues contain 401 cases for immediate management review. Overall, 953 products are active priorities.</a:t>
            </a:r>
          </a:p>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The remaining 941 stay under routine governance.</a:t>
            </a:r>
          </a:p>
        </p:txBody>
      </p:sp>
      <p:sp>
        <p:nvSpPr>
          <p:cNvPr id="4" name="text-117">
            <a:extLst xmlns:a="http://schemas.openxmlformats.org/drawingml/2006/main">
              <a:ext uri="{FF2B5EF4-FFF2-40B4-BE49-F238E27FC236}">
                <a16:creationId xmlns:a16="http://schemas.microsoft.com/office/drawing/2014/main" id="{5C8E9985-D24D-43C0-9B00-6271EC755F11}"/>
              </a:ext>
            </a:extLst>
          </p:cNvPr>
          <p:cNvSpPr>
            <a:spLocks xmlns:a="http://schemas.openxmlformats.org/drawingml/2006/main" noGrp="1"/>
          </p:cNvSpPr>
          <p:nvPr/>
        </p:nvSpPr>
        <p:spPr>
          <a:xfrm xmlns:a="http://schemas.openxmlformats.org/drawingml/2006/main">
            <a:off x="609600" y="2705100"/>
            <a:ext cx="6000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FIRST WAVE: FIRST THREE ROWS</a:t>
            </a:r>
          </a:p>
        </p:txBody>
      </p:sp>
      <p:sp>
        <p:nvSpPr>
          <p:cNvPr id="5" name="text-118">
            <a:extLst xmlns:a="http://schemas.openxmlformats.org/drawingml/2006/main">
              <a:ext uri="{FF2B5EF4-FFF2-40B4-BE49-F238E27FC236}">
                <a16:creationId xmlns:a16="http://schemas.microsoft.com/office/drawing/2014/main" id="{734F143E-1B9A-4122-B213-0E3BDDDADAA5}"/>
              </a:ext>
            </a:extLst>
          </p:cNvPr>
          <p:cNvSpPr>
            <a:spLocks xmlns:a="http://schemas.openxmlformats.org/drawingml/2006/main" noGrp="1"/>
          </p:cNvSpPr>
          <p:nvPr/>
        </p:nvSpPr>
        <p:spPr>
          <a:xfrm xmlns:a="http://schemas.openxmlformats.org/drawingml/2006/main">
            <a:off x="6705600" y="2705100"/>
            <a:ext cx="4857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B4A6F"/>
                </a:solidFill>
                <a:latin typeface="Arial"/>
                <a:ea typeface="Arial"/>
                <a:cs typeface="Arial"/>
              </a:defRPr>
            </a:pPr>
            <a:r>
              <a:rPr sz="1200" b="1">
                <a:solidFill>
                  <a:srgbClr val="0B4A6F"/>
                </a:solidFill>
                <a:latin typeface="Arial"/>
                <a:ea typeface="Arial"/>
                <a:cs typeface="Arial"/>
              </a:rPr>
              <a:t>401 first-wave cases · 953 active total</a:t>
            </a:r>
          </a:p>
        </p:txBody>
      </p:sp>
      <p:graphicFrame>
        <p:nvGraphicFramePr>
          <p:cNvPr id="14" name="Chart"/>
          <p:cNvGraphicFramePr/>
          <p:nvPr/>
        </p:nvGraphicFramePr>
        <p:xfrm>
          <a:off xmlns:a="http://schemas.openxmlformats.org/drawingml/2006/main" x="609600" y="2990850"/>
          <a:ext xmlns:a="http://schemas.openxmlformats.org/drawingml/2006/main" cx="10963275" cy="276225"/>
        </p:xfrm>
        <a:graphic xmlns:a="http://schemas.openxmlformats.org/drawingml/2006/main">
          <a:graphicData uri="http://schemas.openxmlformats.org/drawingml/2006/chart">
            <c:chart xmlns:r="http://schemas.openxmlformats.org/officeDocument/2006/relationships" xmlns:c="http://schemas.openxmlformats.org/drawingml/2006/chart" r:id="R6f5b4835540c4d37"/>
          </a:graphicData>
        </a:graphic>
      </p:graphicFrame>
      <p:graphicFrame>
        <p:nvGraphicFramePr>
          <p:cNvPr id="15" name=""/>
          <p:cNvGraphicFramePr/>
          <p:nvPr/>
        </p:nvGraphicFramePr>
        <p:xfrm>
          <a:off xmlns:a="http://schemas.openxmlformats.org/drawingml/2006/main" x="609600" y="3400425"/>
          <a:ext xmlns:a="http://schemas.openxmlformats.org/drawingml/2006/main" cx="10963275" cy="2705100"/>
        </p:xfrm>
        <a:graphic xmlns:a="http://schemas.openxmlformats.org/drawingml/2006/main">
          <a:graphicData uri="http://schemas.openxmlformats.org/drawingml/2006/table">
            <a:tbl>
              <a:tblPr firstRow="0" firstCol="0" lastCol="0" bandRow="0"/>
              <a:tblGrid>
                <a:gridCol w="1895475"/>
                <a:gridCol w="838200"/>
                <a:gridCol w="1762125"/>
                <a:gridCol w="838200"/>
                <a:gridCol w="2981325"/>
                <a:gridCol w="2647950"/>
              </a:tblGrid>
              <a:tr h="323850">
                <a:tc>
                  <a:txBody>
                    <a:bodyPr lIns="95250" tIns="0" rIns="95250" bIns="0">
                      <a:noAutofit/>
                    </a:bodyPr>
                    <a:lstStyle/>
                    <a:p>
                      <a:pPr algn="l"/>
                      <a:r>
                        <a:rPr sz="1163" b="1">
                          <a:solidFill>
                            <a:srgbClr val="FFFFFF"/>
                          </a:solidFill>
                          <a:latin typeface="Arial"/>
                          <a:ea typeface="Arial"/>
                          <a:cs typeface="Arial"/>
                        </a:rPr>
                        <a:t>Queue</a:t>
                      </a:r>
                    </a:p>
                  </a:txBody>
                  <a:tcPr marL="95250" marR="95250" marT="28575" marB="28575" anchor="ctr">
                    <a:lnL w="7144">
                      <a:solidFill>
                        <a:srgbClr val="DDE3EA"/>
                      </a:solidFill>
                      <a:prstDash val="solid"/>
                    </a:lnL>
                    <a:lnT w="7144">
                      <a:solidFill>
                        <a:srgbClr val="DDE3EA"/>
                      </a:solidFill>
                      <a:prstDash val="solid"/>
                    </a:lnT>
                    <a:solidFill>
                      <a:srgbClr val="0B4A6F"/>
                    </a:solidFill>
                  </a:tcPr>
                </a:tc>
                <a:tc>
                  <a:txBody>
                    <a:bodyPr lIns="95250" tIns="0" rIns="95250" bIns="0">
                      <a:noAutofit/>
                    </a:bodyPr>
                    <a:lstStyle/>
                    <a:p>
                      <a:pPr algn="r"/>
                      <a:r>
                        <a:rPr sz="1163" b="1">
                          <a:solidFill>
                            <a:srgbClr val="FFFFFF"/>
                          </a:solidFill>
                          <a:latin typeface="Arial"/>
                          <a:ea typeface="Arial"/>
                          <a:cs typeface="Arial"/>
                        </a:rPr>
                        <a:t>Products</a:t>
                      </a:r>
                    </a:p>
                  </a:txBody>
                  <a:tcPr marL="95250" marR="95250" marT="28575" marB="28575" anchor="ctr">
                    <a:lnT w="7144">
                      <a:solidFill>
                        <a:srgbClr val="DDE3EA"/>
                      </a:solidFill>
                      <a:prstDash val="solid"/>
                    </a:lnT>
                    <a:solidFill>
                      <a:srgbClr val="0B4A6F"/>
                    </a:solidFill>
                  </a:tcPr>
                </a:tc>
                <a:tc>
                  <a:txBody>
                    <a:bodyPr lIns="95250" tIns="0" rIns="95250" bIns="0">
                      <a:noAutofit/>
                    </a:bodyPr>
                    <a:lstStyle/>
                    <a:p>
                      <a:pPr algn="r"/>
                      <a:r>
                        <a:rPr sz="1163" b="1">
                          <a:solidFill>
                            <a:srgbClr val="FFFFFF"/>
                          </a:solidFill>
                          <a:latin typeface="Arial"/>
                          <a:ea typeface="Arial"/>
                          <a:cs typeface="Arial"/>
                        </a:rPr>
                        <a:t>Net profit / share</a:t>
                      </a:r>
                    </a:p>
                  </a:txBody>
                  <a:tcPr marL="95250" marR="95250" marT="28575" marB="28575" anchor="ctr">
                    <a:lnT w="7144">
                      <a:solidFill>
                        <a:srgbClr val="DDE3EA"/>
                      </a:solidFill>
                      <a:prstDash val="solid"/>
                    </a:lnT>
                    <a:solidFill>
                      <a:srgbClr val="0B4A6F"/>
                    </a:solidFill>
                  </a:tcPr>
                </a:tc>
                <a:tc>
                  <a:txBody>
                    <a:bodyPr lIns="95250" tIns="0" rIns="95250" bIns="0">
                      <a:noAutofit/>
                    </a:bodyPr>
                    <a:lstStyle/>
                    <a:p>
                      <a:pPr algn="r"/>
                      <a:r>
                        <a:rPr sz="1163" b="1">
                          <a:solidFill>
                            <a:srgbClr val="FFFFFF"/>
                          </a:solidFill>
                          <a:latin typeface="Arial"/>
                          <a:ea typeface="Arial"/>
                          <a:cs typeface="Arial"/>
                        </a:rPr>
                        <a:t>Loss %</a:t>
                      </a:r>
                    </a:p>
                  </a:txBody>
                  <a:tcPr marL="95250" marR="95250" marT="28575" marB="28575" anchor="ctr">
                    <a:lnT w="7144">
                      <a:solidFill>
                        <a:srgbClr val="DDE3EA"/>
                      </a:solidFill>
                      <a:prstDash val="solid"/>
                    </a:lnT>
                    <a:solidFill>
                      <a:srgbClr val="0B4A6F"/>
                    </a:solidFill>
                  </a:tcPr>
                </a:tc>
                <a:tc>
                  <a:txBody>
                    <a:bodyPr lIns="95250" tIns="0" rIns="95250" bIns="0">
                      <a:noAutofit/>
                    </a:bodyPr>
                    <a:lstStyle/>
                    <a:p>
                      <a:pPr algn="l"/>
                      <a:r>
                        <a:rPr sz="1163" b="1">
                          <a:solidFill>
                            <a:srgbClr val="FFFFFF"/>
                          </a:solidFill>
                          <a:latin typeface="Arial"/>
                          <a:ea typeface="Arial"/>
                          <a:cs typeface="Arial"/>
                        </a:rPr>
                        <a:t>Why it is here</a:t>
                      </a:r>
                    </a:p>
                  </a:txBody>
                  <a:tcPr marL="95250" marR="95250" marT="28575" marB="28575" anchor="ctr">
                    <a:lnT w="7144">
                      <a:solidFill>
                        <a:srgbClr val="DDE3EA"/>
                      </a:solidFill>
                      <a:prstDash val="solid"/>
                    </a:lnT>
                    <a:solidFill>
                      <a:srgbClr val="0B4A6F"/>
                    </a:solidFill>
                  </a:tcPr>
                </a:tc>
                <a:tc>
                  <a:txBody>
                    <a:bodyPr lIns="95250" tIns="0" rIns="95250" bIns="0">
                      <a:noAutofit/>
                    </a:bodyPr>
                    <a:lstStyle/>
                    <a:p>
                      <a:pPr algn="l"/>
                      <a:r>
                        <a:rPr sz="1163" b="1">
                          <a:solidFill>
                            <a:srgbClr val="FFFFFF"/>
                          </a:solidFill>
                          <a:latin typeface="Arial"/>
                          <a:ea typeface="Arial"/>
                          <a:cs typeface="Arial"/>
                        </a:rPr>
                        <a:t>Management response</a:t>
                      </a:r>
                    </a:p>
                  </a:txBody>
                  <a:tcPr marL="95250" marR="95250" marT="28575" marB="28575" anchor="ctr">
                    <a:lnR w="7144">
                      <a:solidFill>
                        <a:srgbClr val="DDE3EA"/>
                      </a:solidFill>
                      <a:prstDash val="solid"/>
                    </a:lnR>
                    <a:lnT w="7144">
                      <a:solidFill>
                        <a:srgbClr val="DDE3EA"/>
                      </a:solidFill>
                      <a:prstDash val="solid"/>
                    </a:lnT>
                    <a:solidFill>
                      <a:srgbClr val="0B4A6F"/>
                    </a:solidFill>
                  </a:tcPr>
                </a:tc>
              </a:tr>
              <a:tr h="476250">
                <a:tc>
                  <a:txBody>
                    <a:bodyPr lIns="95250" tIns="0" rIns="95250" bIns="0">
                      <a:noAutofit/>
                    </a:bodyPr>
                    <a:lstStyle/>
                    <a:p>
                      <a:pPr algn="l"/>
                      <a:r>
                        <a:rPr sz="1200" b="1">
                          <a:solidFill>
                            <a:srgbClr val="1687A7"/>
                          </a:solidFill>
                          <a:latin typeface="Arial"/>
                          <a:ea typeface="Arial"/>
                          <a:cs typeface="Arial"/>
                        </a:rPr>
                        <a:t>Misaligned Upside</a:t>
                      </a:r>
                    </a:p>
                  </a:txBody>
                  <a:tcPr marL="95250" marR="95250" marT="28575" marB="28575" anchor="ctr">
                    <a:lnL w="7144">
                      <a:solidFill>
                        <a:srgbClr val="DDE3EA"/>
                      </a:solidFill>
                      <a:prstDash val="solid"/>
                    </a:lnL>
                    <a:solidFill>
                      <a:srgbClr val="EAF7FB"/>
                    </a:solidFill>
                  </a:tcPr>
                </a:tc>
                <a:tc>
                  <a:txBody>
                    <a:bodyPr lIns="95250" tIns="0" rIns="95250" bIns="0">
                      <a:noAutofit/>
                    </a:bodyPr>
                    <a:lstStyle/>
                    <a:p>
                      <a:pPr algn="r"/>
                      <a:r>
                        <a:rPr sz="1500" b="1">
                          <a:solidFill>
                            <a:srgbClr val="111827"/>
                          </a:solidFill>
                          <a:latin typeface="Arial"/>
                          <a:ea typeface="Arial"/>
                          <a:cs typeface="Arial"/>
                        </a:rPr>
                        <a:t>80</a:t>
                      </a:r>
                    </a:p>
                  </a:txBody>
                  <a:tcPr marL="95250" marR="95250" marT="28575" marB="28575" anchor="ctr">
                    <a:solidFill>
                      <a:srgbClr val="EAF7FB"/>
                    </a:solidFill>
                  </a:tcPr>
                </a:tc>
                <a:tc>
                  <a:txBody>
                    <a:bodyPr lIns="95250" tIns="0" rIns="95250" bIns="0">
                      <a:noAutofit/>
                    </a:bodyPr>
                    <a:lstStyle/>
                    <a:p>
                      <a:pPr algn="r"/>
                      <a:r>
                        <a:rPr sz="1200" b="0">
                          <a:solidFill>
                            <a:srgbClr val="111827"/>
                          </a:solidFill>
                          <a:latin typeface="Arial"/>
                          <a:ea typeface="Arial"/>
                          <a:cs typeface="Arial"/>
                        </a:rPr>
                        <a:t>€89.1K / 31.1%</a:t>
                      </a:r>
                    </a:p>
                  </a:txBody>
                  <a:tcPr marL="95250" marR="95250" marT="28575" marB="28575" anchor="ctr">
                    <a:solidFill>
                      <a:srgbClr val="EAF7FB"/>
                    </a:solidFill>
                  </a:tcPr>
                </a:tc>
                <a:tc>
                  <a:txBody>
                    <a:bodyPr lIns="95250" tIns="0" rIns="95250" bIns="0">
                      <a:noAutofit/>
                    </a:bodyPr>
                    <a:lstStyle/>
                    <a:p>
                      <a:pPr algn="r"/>
                      <a:r>
                        <a:rPr sz="1200" b="0">
                          <a:solidFill>
                            <a:srgbClr val="111827"/>
                          </a:solidFill>
                          <a:latin typeface="Arial"/>
                          <a:ea typeface="Arial"/>
                          <a:cs typeface="Arial"/>
                        </a:rPr>
                        <a:t>0.0%</a:t>
                      </a:r>
                    </a:p>
                  </a:txBody>
                  <a:tcPr marL="95250" marR="95250" marT="28575" marB="28575" anchor="ctr">
                    <a:solidFill>
                      <a:srgbClr val="EAF7FB"/>
                    </a:solidFill>
                  </a:tcPr>
                </a:tc>
                <a:tc>
                  <a:txBody>
                    <a:bodyPr lIns="95250" tIns="0" rIns="95250" bIns="0">
                      <a:noAutofit/>
                    </a:bodyPr>
                    <a:lstStyle/>
                    <a:p>
                      <a:pPr algn="l"/>
                      <a:r>
                        <a:rPr sz="1200" b="0">
                          <a:solidFill>
                            <a:srgbClr val="111827"/>
                          </a:solidFill>
                          <a:latin typeface="Arial"/>
                          <a:ea typeface="Arial"/>
                          <a:cs typeface="Arial"/>
                        </a:rPr>
                        <a:t>Outperforms peers, escalated,</a:t>
                      </a:r>
                    </a:p>
                    <a:p>
                      <a:pPr algn="l"/>
                      <a:r>
                        <a:rPr sz="1200" b="0">
                          <a:solidFill>
                            <a:srgbClr val="111827"/>
                          </a:solidFill>
                          <a:latin typeface="Arial"/>
                          <a:ea typeface="Arial"/>
                          <a:cs typeface="Arial"/>
                        </a:rPr>
                        <a:t>passes reliability checks</a:t>
                      </a:r>
                    </a:p>
                  </a:txBody>
                  <a:tcPr marL="95250" marR="95250" marT="28575" marB="28575" anchor="ctr">
                    <a:solidFill>
                      <a:srgbClr val="EAF7FB"/>
                    </a:solidFill>
                  </a:tcPr>
                </a:tc>
                <a:tc>
                  <a:txBody>
                    <a:bodyPr lIns="95250" tIns="0" rIns="95250" bIns="0">
                      <a:noAutofit/>
                    </a:bodyPr>
                    <a:lstStyle/>
                    <a:p>
                      <a:pPr algn="l"/>
                      <a:r>
                        <a:rPr sz="1200" b="0">
                          <a:solidFill>
                            <a:srgbClr val="111827"/>
                          </a:solidFill>
                          <a:latin typeface="Arial"/>
                          <a:ea typeface="Arial"/>
                          <a:cs typeface="Arial"/>
                        </a:rPr>
                        <a:t>Validate before expansion</a:t>
                      </a:r>
                    </a:p>
                  </a:txBody>
                  <a:tcPr marL="95250" marR="95250" marT="28575" marB="28575" anchor="ctr">
                    <a:lnR w="7144">
                      <a:solidFill>
                        <a:srgbClr val="DDE3EA"/>
                      </a:solidFill>
                      <a:prstDash val="solid"/>
                    </a:lnR>
                    <a:solidFill>
                      <a:srgbClr val="EAF7FB"/>
                    </a:solidFill>
                  </a:tcPr>
                </a:tc>
              </a:tr>
              <a:tr h="476250">
                <a:tc>
                  <a:txBody>
                    <a:bodyPr lIns="95250" tIns="0" rIns="95250" bIns="0">
                      <a:noAutofit/>
                    </a:bodyPr>
                    <a:lstStyle/>
                    <a:p>
                      <a:pPr algn="l"/>
                      <a:r>
                        <a:rPr sz="1200" b="1">
                          <a:solidFill>
                            <a:srgbClr val="A65D00"/>
                          </a:solidFill>
                          <a:latin typeface="Arial"/>
                          <a:ea typeface="Arial"/>
                          <a:cs typeface="Arial"/>
                        </a:rPr>
                        <a:t>Fragile Value</a:t>
                      </a:r>
                    </a:p>
                  </a:txBody>
                  <a:tcPr marL="95250" marR="95250" marT="28575" marB="28575" anchor="ctr">
                    <a:lnL w="7144">
                      <a:solidFill>
                        <a:srgbClr val="DDE3EA"/>
                      </a:solidFill>
                      <a:prstDash val="solid"/>
                    </a:lnL>
                    <a:solidFill>
                      <a:srgbClr val="FFF8E8"/>
                    </a:solidFill>
                  </a:tcPr>
                </a:tc>
                <a:tc>
                  <a:txBody>
                    <a:bodyPr lIns="95250" tIns="0" rIns="95250" bIns="0">
                      <a:noAutofit/>
                    </a:bodyPr>
                    <a:lstStyle/>
                    <a:p>
                      <a:pPr algn="r"/>
                      <a:r>
                        <a:rPr sz="1500" b="1">
                          <a:solidFill>
                            <a:srgbClr val="111827"/>
                          </a:solidFill>
                          <a:latin typeface="Arial"/>
                          <a:ea typeface="Arial"/>
                          <a:cs typeface="Arial"/>
                        </a:rPr>
                        <a:t>163</a:t>
                      </a:r>
                    </a:p>
                  </a:txBody>
                  <a:tcPr marL="95250" marR="95250" marT="28575" marB="28575" anchor="ctr">
                    <a:solidFill>
                      <a:srgbClr val="FFF8E8"/>
                    </a:solidFill>
                  </a:tcPr>
                </a:tc>
                <a:tc>
                  <a:txBody>
                    <a:bodyPr lIns="95250" tIns="0" rIns="95250" bIns="0">
                      <a:noAutofit/>
                    </a:bodyPr>
                    <a:lstStyle/>
                    <a:p>
                      <a:pPr algn="r"/>
                      <a:r>
                        <a:rPr sz="1200" b="0">
                          <a:solidFill>
                            <a:srgbClr val="111827"/>
                          </a:solidFill>
                          <a:latin typeface="Arial"/>
                          <a:ea typeface="Arial"/>
                          <a:cs typeface="Arial"/>
                        </a:rPr>
                        <a:t>€20.0K / 7.0%</a:t>
                      </a:r>
                    </a:p>
                  </a:txBody>
                  <a:tcPr marL="95250" marR="95250" marT="28575" marB="28575" anchor="ctr">
                    <a:solidFill>
                      <a:srgbClr val="FFF8E8"/>
                    </a:solidFill>
                  </a:tcPr>
                </a:tc>
                <a:tc>
                  <a:txBody>
                    <a:bodyPr lIns="95250" tIns="0" rIns="95250" bIns="0">
                      <a:noAutofit/>
                    </a:bodyPr>
                    <a:lstStyle/>
                    <a:p>
                      <a:pPr algn="r"/>
                      <a:r>
                        <a:rPr sz="1200" b="0">
                          <a:solidFill>
                            <a:srgbClr val="111827"/>
                          </a:solidFill>
                          <a:latin typeface="Arial"/>
                          <a:ea typeface="Arial"/>
                          <a:cs typeface="Arial"/>
                        </a:rPr>
                        <a:t>6.3%</a:t>
                      </a:r>
                    </a:p>
                  </a:txBody>
                  <a:tcPr marL="95250" marR="95250" marT="28575" marB="28575" anchor="ctr">
                    <a:solidFill>
                      <a:srgbClr val="FFF8E8"/>
                    </a:solidFill>
                  </a:tcPr>
                </a:tc>
                <a:tc>
                  <a:txBody>
                    <a:bodyPr lIns="95250" tIns="0" rIns="95250" bIns="0">
                      <a:noAutofit/>
                    </a:bodyPr>
                    <a:lstStyle/>
                    <a:p>
                      <a:pPr algn="l"/>
                      <a:r>
                        <a:rPr sz="1200" b="0">
                          <a:solidFill>
                            <a:srgbClr val="111827"/>
                          </a:solidFill>
                          <a:latin typeface="Arial"/>
                          <a:ea typeface="Arial"/>
                          <a:cs typeface="Arial"/>
                        </a:rPr>
                        <a:t>Outperforms peers, escalated,</a:t>
                      </a:r>
                    </a:p>
                    <a:p>
                      <a:pPr algn="l"/>
                      <a:r>
                        <a:rPr sz="1200" b="0">
                          <a:solidFill>
                            <a:srgbClr val="111827"/>
                          </a:solidFill>
                          <a:latin typeface="Arial"/>
                          <a:ea typeface="Arial"/>
                          <a:cs typeface="Arial"/>
                        </a:rPr>
                        <a:t>fails a reliability check</a:t>
                      </a:r>
                    </a:p>
                  </a:txBody>
                  <a:tcPr marL="95250" marR="95250" marT="28575" marB="28575" anchor="ctr">
                    <a:solidFill>
                      <a:srgbClr val="FFF8E8"/>
                    </a:solidFill>
                  </a:tcPr>
                </a:tc>
                <a:tc>
                  <a:txBody>
                    <a:bodyPr lIns="95250" tIns="0" rIns="95250" bIns="0">
                      <a:noAutofit/>
                    </a:bodyPr>
                    <a:lstStyle/>
                    <a:p>
                      <a:pPr algn="l"/>
                      <a:r>
                        <a:rPr sz="1200" b="0">
                          <a:solidFill>
                            <a:srgbClr val="111827"/>
                          </a:solidFill>
                          <a:latin typeface="Arial"/>
                          <a:ea typeface="Arial"/>
                          <a:cs typeface="Arial"/>
                        </a:rPr>
                        <a:t>Stabilise before scaling</a:t>
                      </a:r>
                    </a:p>
                  </a:txBody>
                  <a:tcPr marL="95250" marR="95250" marT="28575" marB="28575" anchor="ctr">
                    <a:lnR w="7144">
                      <a:solidFill>
                        <a:srgbClr val="DDE3EA"/>
                      </a:solidFill>
                      <a:prstDash val="solid"/>
                    </a:lnR>
                    <a:solidFill>
                      <a:srgbClr val="FFF8E8"/>
                    </a:solidFill>
                  </a:tcPr>
                </a:tc>
              </a:tr>
              <a:tr h="476250">
                <a:tc>
                  <a:txBody>
                    <a:bodyPr lIns="95250" tIns="0" rIns="95250" bIns="0">
                      <a:noAutofit/>
                    </a:bodyPr>
                    <a:lstStyle/>
                    <a:p>
                      <a:pPr algn="l"/>
                      <a:r>
                        <a:rPr sz="1200" b="1">
                          <a:solidFill>
                            <a:srgbClr val="D94A50"/>
                          </a:solidFill>
                          <a:latin typeface="Arial"/>
                          <a:ea typeface="Arial"/>
                          <a:cs typeface="Arial"/>
                        </a:rPr>
                        <a:t>Broken Value</a:t>
                      </a:r>
                    </a:p>
                  </a:txBody>
                  <a:tcPr marL="95250" marR="95250" marT="28575" marB="28575" anchor="ctr">
                    <a:lnL w="7144">
                      <a:solidFill>
                        <a:srgbClr val="DDE3EA"/>
                      </a:solidFill>
                      <a:prstDash val="solid"/>
                    </a:lnL>
                    <a:solidFill>
                      <a:srgbClr val="FFF1F2"/>
                    </a:solidFill>
                  </a:tcPr>
                </a:tc>
                <a:tc>
                  <a:txBody>
                    <a:bodyPr lIns="95250" tIns="0" rIns="95250" bIns="0">
                      <a:noAutofit/>
                    </a:bodyPr>
                    <a:lstStyle/>
                    <a:p>
                      <a:pPr algn="r"/>
                      <a:r>
                        <a:rPr sz="1500" b="1">
                          <a:solidFill>
                            <a:srgbClr val="111827"/>
                          </a:solidFill>
                          <a:latin typeface="Arial"/>
                          <a:ea typeface="Arial"/>
                          <a:cs typeface="Arial"/>
                        </a:rPr>
                        <a:t>158</a:t>
                      </a:r>
                    </a:p>
                  </a:txBody>
                  <a:tcPr marL="95250" marR="95250" marT="28575" marB="28575" anchor="ctr">
                    <a:solidFill>
                      <a:srgbClr val="FFF1F2"/>
                    </a:solidFill>
                  </a:tcPr>
                </a:tc>
                <a:tc>
                  <a:txBody>
                    <a:bodyPr lIns="95250" tIns="0" rIns="95250" bIns="0">
                      <a:noAutofit/>
                    </a:bodyPr>
                    <a:lstStyle/>
                    <a:p>
                      <a:pPr algn="r"/>
                      <a:r>
                        <a:rPr sz="1200" b="0">
                          <a:solidFill>
                            <a:srgbClr val="111827"/>
                          </a:solidFill>
                          <a:latin typeface="Arial"/>
                          <a:ea typeface="Arial"/>
                          <a:cs typeface="Arial"/>
                        </a:rPr>
                        <a:t>−€22.6K / −7.9%</a:t>
                      </a:r>
                    </a:p>
                  </a:txBody>
                  <a:tcPr marL="95250" marR="95250" marT="28575" marB="28575" anchor="ctr">
                    <a:solidFill>
                      <a:srgbClr val="FFF1F2"/>
                    </a:solidFill>
                  </a:tcPr>
                </a:tc>
                <a:tc>
                  <a:txBody>
                    <a:bodyPr lIns="95250" tIns="0" rIns="95250" bIns="0">
                      <a:noAutofit/>
                    </a:bodyPr>
                    <a:lstStyle/>
                    <a:p>
                      <a:pPr algn="r"/>
                      <a:r>
                        <a:rPr sz="1200" b="0">
                          <a:solidFill>
                            <a:srgbClr val="111827"/>
                          </a:solidFill>
                          <a:latin typeface="Arial"/>
                          <a:ea typeface="Arial"/>
                          <a:cs typeface="Arial"/>
                        </a:rPr>
                        <a:t>66.2%</a:t>
                      </a:r>
                    </a:p>
                  </a:txBody>
                  <a:tcPr marL="95250" marR="95250" marT="28575" marB="28575" anchor="ctr">
                    <a:solidFill>
                      <a:srgbClr val="FFF1F2"/>
                    </a:solidFill>
                  </a:tcPr>
                </a:tc>
                <a:tc>
                  <a:txBody>
                    <a:bodyPr lIns="95250" tIns="0" rIns="95250" bIns="0">
                      <a:noAutofit/>
                    </a:bodyPr>
                    <a:lstStyle/>
                    <a:p>
                      <a:pPr algn="l"/>
                      <a:r>
                        <a:rPr sz="1200" b="0">
                          <a:solidFill>
                            <a:srgbClr val="111827"/>
                          </a:solidFill>
                          <a:latin typeface="Arial"/>
                          <a:ea typeface="Arial"/>
                          <a:cs typeface="Arial"/>
                        </a:rPr>
                        <a:t>Underperforms peers and</a:t>
                      </a:r>
                    </a:p>
                    <a:p>
                      <a:pPr algn="l"/>
                      <a:r>
                        <a:rPr sz="1200" b="0">
                          <a:solidFill>
                            <a:srgbClr val="111827"/>
                          </a:solidFill>
                          <a:latin typeface="Arial"/>
                          <a:ea typeface="Arial"/>
                          <a:cs typeface="Arial"/>
                        </a:rPr>
                        <a:t>needs action / role review</a:t>
                      </a:r>
                    </a:p>
                  </a:txBody>
                  <a:tcPr marL="95250" marR="95250" marT="28575" marB="28575" anchor="ctr">
                    <a:solidFill>
                      <a:srgbClr val="FFF1F2"/>
                    </a:solidFill>
                  </a:tcPr>
                </a:tc>
                <a:tc>
                  <a:txBody>
                    <a:bodyPr lIns="95250" tIns="0" rIns="95250" bIns="0">
                      <a:noAutofit/>
                    </a:bodyPr>
                    <a:lstStyle/>
                    <a:p>
                      <a:pPr algn="l"/>
                      <a:r>
                        <a:rPr sz="1200" b="0">
                          <a:solidFill>
                            <a:srgbClr val="111827"/>
                          </a:solidFill>
                          <a:latin typeface="Arial"/>
                          <a:ea typeface="Arial"/>
                          <a:cs typeface="Arial"/>
                        </a:rPr>
                        <a:t>Correct · Restructure</a:t>
                      </a:r>
                    </a:p>
                    <a:p>
                      <a:pPr algn="l"/>
                      <a:r>
                        <a:rPr sz="1200" b="0">
                          <a:solidFill>
                            <a:srgbClr val="111827"/>
                          </a:solidFill>
                          <a:latin typeface="Arial"/>
                          <a:ea typeface="Arial"/>
                          <a:cs typeface="Arial"/>
                        </a:rPr>
                        <a:t>Review exit</a:t>
                      </a:r>
                    </a:p>
                  </a:txBody>
                  <a:tcPr marL="95250" marR="95250" marT="28575" marB="28575" anchor="ctr">
                    <a:lnR w="7144">
                      <a:solidFill>
                        <a:srgbClr val="DDE3EA"/>
                      </a:solidFill>
                      <a:prstDash val="solid"/>
                    </a:lnR>
                    <a:solidFill>
                      <a:srgbClr val="FFF1F2"/>
                    </a:solidFill>
                  </a:tcPr>
                </a:tc>
              </a:tr>
              <a:tr h="476250">
                <a:tc>
                  <a:txBody>
                    <a:bodyPr lIns="95250" tIns="0" rIns="95250" bIns="0">
                      <a:noAutofit/>
                    </a:bodyPr>
                    <a:lstStyle/>
                    <a:p>
                      <a:pPr algn="l"/>
                      <a:r>
                        <a:rPr sz="1200" b="1">
                          <a:solidFill>
                            <a:srgbClr val="3B9669"/>
                          </a:solidFill>
                          <a:latin typeface="Arial"/>
                          <a:ea typeface="Arial"/>
                          <a:cs typeface="Arial"/>
                        </a:rPr>
                        <a:t>Defendable Value</a:t>
                      </a:r>
                    </a:p>
                  </a:txBody>
                  <a:tcPr marL="95250" marR="95250" marT="28575" marB="28575" anchor="ctr">
                    <a:lnL w="7144">
                      <a:solidFill>
                        <a:srgbClr val="DDE3EA"/>
                      </a:solidFill>
                      <a:prstDash val="solid"/>
                    </a:lnL>
                    <a:solidFill>
                      <a:srgbClr val="EFF9F3"/>
                    </a:solidFill>
                  </a:tcPr>
                </a:tc>
                <a:tc>
                  <a:txBody>
                    <a:bodyPr lIns="95250" tIns="0" rIns="95250" bIns="0">
                      <a:noAutofit/>
                    </a:bodyPr>
                    <a:lstStyle/>
                    <a:p>
                      <a:pPr algn="r"/>
                      <a:r>
                        <a:rPr sz="1500" b="1">
                          <a:solidFill>
                            <a:srgbClr val="111827"/>
                          </a:solidFill>
                          <a:latin typeface="Arial"/>
                          <a:ea typeface="Arial"/>
                          <a:cs typeface="Arial"/>
                        </a:rPr>
                        <a:t>234</a:t>
                      </a:r>
                    </a:p>
                  </a:txBody>
                  <a:tcPr marL="95250" marR="95250" marT="28575" marB="28575" anchor="ctr">
                    <a:solidFill>
                      <a:srgbClr val="EFF9F3"/>
                    </a:solidFill>
                  </a:tcPr>
                </a:tc>
                <a:tc>
                  <a:txBody>
                    <a:bodyPr lIns="95250" tIns="0" rIns="95250" bIns="0">
                      <a:noAutofit/>
                    </a:bodyPr>
                    <a:lstStyle/>
                    <a:p>
                      <a:pPr algn="r"/>
                      <a:r>
                        <a:rPr sz="1200" b="0">
                          <a:solidFill>
                            <a:srgbClr val="111827"/>
                          </a:solidFill>
                          <a:latin typeface="Arial"/>
                          <a:ea typeface="Arial"/>
                          <a:cs typeface="Arial"/>
                        </a:rPr>
                        <a:t>€57.2K / 20.0%</a:t>
                      </a:r>
                    </a:p>
                  </a:txBody>
                  <a:tcPr marL="95250" marR="95250" marT="28575" marB="28575" anchor="ctr">
                    <a:solidFill>
                      <a:srgbClr val="EFF9F3"/>
                    </a:solidFill>
                  </a:tcPr>
                </a:tc>
                <a:tc>
                  <a:txBody>
                    <a:bodyPr lIns="95250" tIns="0" rIns="95250" bIns="0">
                      <a:noAutofit/>
                    </a:bodyPr>
                    <a:lstStyle/>
                    <a:p>
                      <a:pPr algn="r"/>
                      <a:r>
                        <a:rPr sz="1200" b="0">
                          <a:solidFill>
                            <a:srgbClr val="111827"/>
                          </a:solidFill>
                          <a:latin typeface="Arial"/>
                          <a:ea typeface="Arial"/>
                          <a:cs typeface="Arial"/>
                        </a:rPr>
                        <a:t>2.8%</a:t>
                      </a:r>
                    </a:p>
                  </a:txBody>
                  <a:tcPr marL="95250" marR="95250" marT="28575" marB="28575" anchor="ctr">
                    <a:solidFill>
                      <a:srgbClr val="EFF9F3"/>
                    </a:solidFill>
                  </a:tcPr>
                </a:tc>
                <a:tc>
                  <a:txBody>
                    <a:bodyPr lIns="95250" tIns="0" rIns="95250" bIns="0">
                      <a:noAutofit/>
                    </a:bodyPr>
                    <a:lstStyle/>
                    <a:p>
                      <a:pPr algn="l"/>
                      <a:r>
                        <a:rPr sz="1200" b="0">
                          <a:solidFill>
                            <a:srgbClr val="111827"/>
                          </a:solidFill>
                          <a:latin typeface="Arial"/>
                          <a:ea typeface="Arial"/>
                          <a:cs typeface="Arial"/>
                        </a:rPr>
                        <a:t>Outperforms peers with</a:t>
                      </a:r>
                    </a:p>
                    <a:p>
                      <a:pPr algn="l"/>
                      <a:r>
                        <a:rPr sz="1200" b="0">
                          <a:solidFill>
                            <a:srgbClr val="111827"/>
                          </a:solidFill>
                          <a:latin typeface="Arial"/>
                          <a:ea typeface="Arial"/>
                          <a:cs typeface="Arial"/>
                        </a:rPr>
                        <a:t>no governance escalation</a:t>
                      </a:r>
                    </a:p>
                  </a:txBody>
                  <a:tcPr marL="95250" marR="95250" marT="28575" marB="28575" anchor="ctr">
                    <a:solidFill>
                      <a:srgbClr val="EFF9F3"/>
                    </a:solidFill>
                  </a:tcPr>
                </a:tc>
                <a:tc>
                  <a:txBody>
                    <a:bodyPr lIns="95250" tIns="0" rIns="95250" bIns="0">
                      <a:noAutofit/>
                    </a:bodyPr>
                    <a:lstStyle/>
                    <a:p>
                      <a:pPr algn="l"/>
                      <a:r>
                        <a:rPr sz="1200" b="0">
                          <a:solidFill>
                            <a:srgbClr val="111827"/>
                          </a:solidFill>
                          <a:latin typeface="Arial"/>
                          <a:ea typeface="Arial"/>
                          <a:cs typeface="Arial"/>
                        </a:rPr>
                        <a:t>Protect / maintain</a:t>
                      </a:r>
                    </a:p>
                  </a:txBody>
                  <a:tcPr marL="95250" marR="95250" marT="28575" marB="28575" anchor="ctr">
                    <a:lnR w="7144">
                      <a:solidFill>
                        <a:srgbClr val="DDE3EA"/>
                      </a:solidFill>
                      <a:prstDash val="solid"/>
                    </a:lnR>
                    <a:solidFill>
                      <a:srgbClr val="EFF9F3"/>
                    </a:solidFill>
                  </a:tcPr>
                </a:tc>
              </a:tr>
              <a:tr h="476250">
                <a:tc>
                  <a:txBody>
                    <a:bodyPr lIns="95250" tIns="0" rIns="95250" bIns="0">
                      <a:noAutofit/>
                    </a:bodyPr>
                    <a:lstStyle/>
                    <a:p>
                      <a:pPr algn="l"/>
                      <a:r>
                        <a:rPr sz="1200" b="1">
                          <a:solidFill>
                            <a:srgbClr val="718096"/>
                          </a:solidFill>
                          <a:latin typeface="Arial"/>
                          <a:ea typeface="Arial"/>
                          <a:cs typeface="Arial"/>
                        </a:rPr>
                        <a:t>Watchlist / Unresolved</a:t>
                      </a:r>
                    </a:p>
                  </a:txBody>
                  <a:tcPr marL="95250" marR="95250" marT="28575" marB="28575" anchor="ctr">
                    <a:lnL w="7144">
                      <a:solidFill>
                        <a:srgbClr val="DDE3EA"/>
                      </a:solidFill>
                      <a:prstDash val="solid"/>
                    </a:lnL>
                    <a:lnB w="7144">
                      <a:solidFill>
                        <a:srgbClr val="DDE3EA"/>
                      </a:solidFill>
                      <a:prstDash val="solid"/>
                    </a:lnB>
                    <a:solidFill>
                      <a:srgbClr val="F8FAFC"/>
                    </a:solidFill>
                  </a:tcPr>
                </a:tc>
                <a:tc>
                  <a:txBody>
                    <a:bodyPr lIns="95250" tIns="0" rIns="95250" bIns="0">
                      <a:noAutofit/>
                    </a:bodyPr>
                    <a:lstStyle/>
                    <a:p>
                      <a:pPr algn="r"/>
                      <a:r>
                        <a:rPr sz="1500" b="1">
                          <a:solidFill>
                            <a:srgbClr val="111827"/>
                          </a:solidFill>
                          <a:latin typeface="Arial"/>
                          <a:ea typeface="Arial"/>
                          <a:cs typeface="Arial"/>
                        </a:rPr>
                        <a:t>318</a:t>
                      </a:r>
                    </a:p>
                  </a:txBody>
                  <a:tcPr marL="95250" marR="95250" marT="28575" marB="28575" anchor="ctr">
                    <a:lnB w="7144">
                      <a:solidFill>
                        <a:srgbClr val="DDE3EA"/>
                      </a:solidFill>
                      <a:prstDash val="solid"/>
                    </a:lnB>
                    <a:solidFill>
                      <a:srgbClr val="F8FAFC"/>
                    </a:solidFill>
                  </a:tcPr>
                </a:tc>
                <a:tc>
                  <a:txBody>
                    <a:bodyPr lIns="95250" tIns="0" rIns="95250" bIns="0">
                      <a:noAutofit/>
                    </a:bodyPr>
                    <a:lstStyle/>
                    <a:p>
                      <a:pPr algn="r"/>
                      <a:r>
                        <a:rPr sz="1200" b="0">
                          <a:solidFill>
                            <a:srgbClr val="111827"/>
                          </a:solidFill>
                          <a:latin typeface="Arial"/>
                          <a:ea typeface="Arial"/>
                          <a:cs typeface="Arial"/>
                        </a:rPr>
                        <a:t>€15.6K / 5.4%</a:t>
                      </a:r>
                    </a:p>
                  </a:txBody>
                  <a:tcPr marL="95250" marR="95250" marT="28575" marB="28575" anchor="ctr">
                    <a:lnB w="7144">
                      <a:solidFill>
                        <a:srgbClr val="DDE3EA"/>
                      </a:solidFill>
                      <a:prstDash val="solid"/>
                    </a:lnB>
                    <a:solidFill>
                      <a:srgbClr val="F8FAFC"/>
                    </a:solidFill>
                  </a:tcPr>
                </a:tc>
                <a:tc>
                  <a:txBody>
                    <a:bodyPr lIns="95250" tIns="0" rIns="95250" bIns="0">
                      <a:noAutofit/>
                    </a:bodyPr>
                    <a:lstStyle/>
                    <a:p>
                      <a:pPr algn="r"/>
                      <a:r>
                        <a:rPr sz="1200" b="0">
                          <a:solidFill>
                            <a:srgbClr val="111827"/>
                          </a:solidFill>
                          <a:latin typeface="Arial"/>
                          <a:ea typeface="Arial"/>
                          <a:cs typeface="Arial"/>
                        </a:rPr>
                        <a:t>5.0%</a:t>
                      </a:r>
                    </a:p>
                  </a:txBody>
                  <a:tcPr marL="95250" marR="95250" marT="28575" marB="28575" anchor="ctr">
                    <a:lnB w="7144">
                      <a:solidFill>
                        <a:srgbClr val="DDE3EA"/>
                      </a:solidFill>
                      <a:prstDash val="solid"/>
                    </a:lnB>
                    <a:solidFill>
                      <a:srgbClr val="F8FAFC"/>
                    </a:solidFill>
                  </a:tcPr>
                </a:tc>
                <a:tc>
                  <a:txBody>
                    <a:bodyPr lIns="95250" tIns="0" rIns="95250" bIns="0">
                      <a:noAutofit/>
                    </a:bodyPr>
                    <a:lstStyle/>
                    <a:p>
                      <a:pPr algn="l"/>
                      <a:r>
                        <a:rPr sz="1200" b="0">
                          <a:solidFill>
                            <a:srgbClr val="111827"/>
                          </a:solidFill>
                          <a:latin typeface="Arial"/>
                          <a:ea typeface="Arial"/>
                          <a:cs typeface="Arial"/>
                        </a:rPr>
                        <a:t>Underperforms peers, but</a:t>
                      </a:r>
                    </a:p>
                    <a:p>
                      <a:pPr algn="l"/>
                      <a:r>
                        <a:rPr sz="1200" b="0">
                          <a:solidFill>
                            <a:srgbClr val="111827"/>
                          </a:solidFill>
                          <a:latin typeface="Arial"/>
                          <a:ea typeface="Arial"/>
                          <a:cs typeface="Arial"/>
                        </a:rPr>
                        <a:t>route remains acceptable</a:t>
                      </a:r>
                    </a:p>
                  </a:txBody>
                  <a:tcPr marL="95250" marR="95250" marT="28575" marB="28575" anchor="ctr">
                    <a:lnB w="7144">
                      <a:solidFill>
                        <a:srgbClr val="DDE3EA"/>
                      </a:solidFill>
                      <a:prstDash val="solid"/>
                    </a:lnB>
                    <a:solidFill>
                      <a:srgbClr val="F8FAFC"/>
                    </a:solidFill>
                  </a:tcPr>
                </a:tc>
                <a:tc>
                  <a:txBody>
                    <a:bodyPr lIns="95250" tIns="0" rIns="95250" bIns="0">
                      <a:noAutofit/>
                    </a:bodyPr>
                    <a:lstStyle/>
                    <a:p>
                      <a:pPr algn="l"/>
                      <a:r>
                        <a:rPr sz="1200" b="0">
                          <a:solidFill>
                            <a:srgbClr val="111827"/>
                          </a:solidFill>
                          <a:latin typeface="Arial"/>
                          <a:ea typeface="Arial"/>
                          <a:cs typeface="Arial"/>
                        </a:rPr>
                        <a:t>Diagnose / monitor</a:t>
                      </a:r>
                    </a:p>
                  </a:txBody>
                  <a:tcPr marL="95250" marR="95250" marT="28575" marB="28575" anchor="ctr">
                    <a:lnR w="7144">
                      <a:solidFill>
                        <a:srgbClr val="DDE3EA"/>
                      </a:solidFill>
                      <a:prstDash val="solid"/>
                    </a:lnR>
                    <a:lnB w="7144">
                      <a:solidFill>
                        <a:srgbClr val="DDE3EA"/>
                      </a:solidFill>
                      <a:prstDash val="solid"/>
                    </a:lnB>
                    <a:solidFill>
                      <a:srgbClr val="F8FAFC"/>
                    </a:solidFill>
                  </a:tcPr>
                </a:tc>
              </a:tr>
            </a:tbl>
          </a:graphicData>
        </a:graphic>
      </p:graphicFrame>
      <p:sp>
        <p:nvSpPr>
          <p:cNvPr id="8" name="text-119">
            <a:extLst xmlns:a="http://schemas.openxmlformats.org/drawingml/2006/main">
              <a:ext uri="{FF2B5EF4-FFF2-40B4-BE49-F238E27FC236}">
                <a16:creationId xmlns:a16="http://schemas.microsoft.com/office/drawing/2014/main" id="{02B51E38-BB80-4659-89C7-874AE6751D91}"/>
              </a:ext>
            </a:extLst>
          </p:cNvPr>
          <p:cNvSpPr>
            <a:spLocks xmlns:a="http://schemas.openxmlformats.org/drawingml/2006/main" noGrp="1"/>
          </p:cNvSpPr>
          <p:nvPr/>
        </p:nvSpPr>
        <p:spPr>
          <a:xfrm xmlns:a="http://schemas.openxmlformats.org/drawingml/2006/main">
            <a:off x="619125" y="617220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8" b="0">
                <a:solidFill>
                  <a:srgbClr val="718096"/>
                </a:solidFill>
                <a:latin typeface="Arial"/>
                <a:ea typeface="Arial"/>
                <a:cs typeface="Arial"/>
              </a:defRPr>
            </a:pPr>
            <a:r>
              <a:rPr sz="998" b="0">
                <a:solidFill>
                  <a:srgbClr val="718096"/>
                </a:solidFill>
                <a:latin typeface="Arial"/>
                <a:ea typeface="Arial"/>
                <a:cs typeface="Arial"/>
              </a:rPr>
              <a:t>Shares use €286.4K net profit and €77.1K realised loss. Peer performance compares each product with its own analytical role.</a:t>
            </a:r>
          </a:p>
        </p:txBody>
      </p:sp>
    </p:spTree>
    <p:extLst>
      <p:ext uri="{BB962C8B-B14F-4D97-AF65-F5344CB8AC3E}">
        <p14:creationId xmlns:p14="http://schemas.microsoft.com/office/powerpoint/2010/main" val="16561027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4" name="text-120">
            <a:extLst xmlns:a="http://schemas.openxmlformats.org/drawingml/2006/main">
              <a:ext uri="{FF2B5EF4-FFF2-40B4-BE49-F238E27FC236}">
                <a16:creationId xmlns:a16="http://schemas.microsoft.com/office/drawing/2014/main" id="{D1BECEA7-2C64-46E4-AF53-26ED48F24FB4}"/>
              </a:ext>
            </a:extLst>
          </p:cNvPr>
          <p:cNvSpPr>
            <a:spLocks xmlns:a="http://schemas.openxmlformats.org/drawingml/2006/main" noGrp="1"/>
          </p:cNvSpPr>
          <p:nvPr/>
        </p:nvSpPr>
        <p:spPr>
          <a:xfrm xmlns:a="http://schemas.openxmlformats.org/drawingml/2006/main">
            <a:off x="609600" y="14192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ACTION PLAN</a:t>
            </a:r>
          </a:p>
        </p:txBody>
      </p:sp>
      <p:sp>
        <p:nvSpPr>
          <p:cNvPr id="2" name="text-121">
            <a:extLst xmlns:a="http://schemas.openxmlformats.org/drawingml/2006/main">
              <a:ext uri="{FF2B5EF4-FFF2-40B4-BE49-F238E27FC236}">
                <a16:creationId xmlns:a16="http://schemas.microsoft.com/office/drawing/2014/main" id="{05B5C19D-0922-45D0-95E5-03992BAE5F66}"/>
              </a:ext>
            </a:extLst>
          </p:cNvPr>
          <p:cNvSpPr>
            <a:spLocks xmlns:a="http://schemas.openxmlformats.org/drawingml/2006/main" noGrp="1"/>
          </p:cNvSpPr>
          <p:nvPr/>
        </p:nvSpPr>
        <p:spPr>
          <a:xfrm xmlns:a="http://schemas.openxmlformats.org/drawingml/2006/main">
            <a:off x="609600" y="1647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11827"/>
                </a:solidFill>
                <a:latin typeface="Arial"/>
                <a:ea typeface="Arial"/>
                <a:cs typeface="Arial"/>
              </a:defRPr>
            </a:pPr>
            <a:r>
              <a:rPr sz="2550" b="1">
                <a:solidFill>
                  <a:srgbClr val="111827"/>
                </a:solidFill>
                <a:latin typeface="Arial"/>
                <a:ea typeface="Arial"/>
                <a:cs typeface="Arial"/>
              </a:rPr>
              <a:t>Three Sprints: Validate, Correct, Stabilise.</a:t>
            </a:r>
          </a:p>
        </p:txBody>
      </p:sp>
      <p:sp>
        <p:nvSpPr>
          <p:cNvPr id="3" name="text-122">
            <a:extLst xmlns:a="http://schemas.openxmlformats.org/drawingml/2006/main">
              <a:ext uri="{FF2B5EF4-FFF2-40B4-BE49-F238E27FC236}">
                <a16:creationId xmlns:a16="http://schemas.microsoft.com/office/drawing/2014/main" id="{16A89AC1-7C3C-4B95-B123-B76A118D96AA}"/>
              </a:ext>
            </a:extLst>
          </p:cNvPr>
          <p:cNvSpPr>
            <a:spLocks xmlns:a="http://schemas.openxmlformats.org/drawingml/2006/main" noGrp="1"/>
          </p:cNvSpPr>
          <p:nvPr/>
        </p:nvSpPr>
        <p:spPr>
          <a:xfrm xmlns:a="http://schemas.openxmlformats.org/drawingml/2006/main">
            <a:off x="609600" y="215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Each queue needs a different evidence package and a documented decision. Finance and Commercial lead the pilot.</a:t>
            </a:r>
          </a:p>
        </p:txBody>
      </p:sp>
      <p:sp>
        <p:nvSpPr>
          <p:cNvPr id="4" name="surface-123">
            <a:extLst xmlns:a="http://schemas.openxmlformats.org/drawingml/2006/main">
              <a:ext uri="{FF2B5EF4-FFF2-40B4-BE49-F238E27FC236}">
                <a16:creationId xmlns:a16="http://schemas.microsoft.com/office/drawing/2014/main" id="{001F17C7-5644-48E7-B371-9396871FA1EE}"/>
              </a:ext>
            </a:extLst>
          </p:cNvPr>
          <p:cNvSpPr>
            <a:spLocks xmlns:a="http://schemas.openxmlformats.org/drawingml/2006/main" noGrp="1"/>
          </p:cNvSpPr>
          <p:nvPr/>
        </p:nvSpPr>
        <p:spPr>
          <a:xfrm xmlns:a="http://schemas.openxmlformats.org/drawingml/2006/main">
            <a:off x="609600" y="2667000"/>
            <a:ext cx="3476625" cy="2305050"/>
          </a:xfrm>
          <a:prstGeom xmlns:a="http://schemas.openxmlformats.org/drawingml/2006/main" prst="roundRect">
            <a:avLst>
              <a:gd name="adj" fmla="val 4545"/>
            </a:avLst>
          </a:prstGeom>
          <a:solidFill xmlns:a="http://schemas.openxmlformats.org/drawingml/2006/main">
            <a:srgbClr val="EAF7FB"/>
          </a:solidFill>
          <a:ln xmlns:a="http://schemas.openxmlformats.org/drawingml/2006/main" w="9525">
            <a:solidFill>
              <a:srgbClr val="DDE3EA"/>
            </a:solidFill>
          </a:ln>
        </p:spPr>
      </p:sp>
      <p:sp>
        <p:nvSpPr>
          <p:cNvPr id="5" name="text-124">
            <a:extLst xmlns:a="http://schemas.openxmlformats.org/drawingml/2006/main">
              <a:ext uri="{FF2B5EF4-FFF2-40B4-BE49-F238E27FC236}">
                <a16:creationId xmlns:a16="http://schemas.microsoft.com/office/drawing/2014/main" id="{73B11E48-CF95-41D4-BC49-0E608A72B37D}"/>
              </a:ext>
            </a:extLst>
          </p:cNvPr>
          <p:cNvSpPr>
            <a:spLocks xmlns:a="http://schemas.openxmlformats.org/drawingml/2006/main" noGrp="1"/>
          </p:cNvSpPr>
          <p:nvPr/>
        </p:nvSpPr>
        <p:spPr>
          <a:xfrm xmlns:a="http://schemas.openxmlformats.org/drawingml/2006/main">
            <a:off x="781050" y="2819400"/>
            <a:ext cx="313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687A7"/>
                </a:solidFill>
                <a:latin typeface="Arial"/>
                <a:ea typeface="Arial"/>
                <a:cs typeface="Arial"/>
              </a:defRPr>
            </a:pPr>
            <a:r>
              <a:rPr sz="1725" b="1">
                <a:solidFill>
                  <a:srgbClr val="1687A7"/>
                </a:solidFill>
                <a:latin typeface="Arial"/>
                <a:ea typeface="Arial"/>
                <a:cs typeface="Arial"/>
              </a:rPr>
              <a:t>1  VALIDATE 80</a:t>
            </a:r>
          </a:p>
        </p:txBody>
      </p:sp>
      <p:sp>
        <p:nvSpPr>
          <p:cNvPr id="6" name="rule-125">
            <a:extLst xmlns:a="http://schemas.openxmlformats.org/drawingml/2006/main">
              <a:ext uri="{FF2B5EF4-FFF2-40B4-BE49-F238E27FC236}">
                <a16:creationId xmlns:a16="http://schemas.microsoft.com/office/drawing/2014/main" id="{573E5291-7DD0-47E5-8FE3-4B701DEA965E}"/>
              </a:ext>
            </a:extLst>
          </p:cNvPr>
          <p:cNvSpPr>
            <a:spLocks xmlns:a="http://schemas.openxmlformats.org/drawingml/2006/main" noGrp="1"/>
          </p:cNvSpPr>
          <p:nvPr/>
        </p:nvSpPr>
        <p:spPr>
          <a:xfrm xmlns:a="http://schemas.openxmlformats.org/drawingml/2006/main">
            <a:off x="781050" y="3190875"/>
            <a:ext cx="3133725" cy="0"/>
          </a:xfrm>
          <a:prstGeom xmlns:a="http://schemas.openxmlformats.org/drawingml/2006/main" prst="line">
            <a:avLst/>
          </a:prstGeom>
          <a:noFill xmlns:a="http://schemas.openxmlformats.org/drawingml/2006/main"/>
          <a:ln xmlns:a="http://schemas.openxmlformats.org/drawingml/2006/main" w="11430">
            <a:solidFill>
              <a:srgbClr val="1687A7"/>
            </a:solidFill>
          </a:ln>
        </p:spPr>
      </p:sp>
      <p:sp>
        <p:nvSpPr>
          <p:cNvPr id="7" name="text-126">
            <a:extLst xmlns:a="http://schemas.openxmlformats.org/drawingml/2006/main">
              <a:ext uri="{FF2B5EF4-FFF2-40B4-BE49-F238E27FC236}">
                <a16:creationId xmlns:a16="http://schemas.microsoft.com/office/drawing/2014/main" id="{36BAE00E-255B-41D9-A124-A624C5A446CB}"/>
              </a:ext>
            </a:extLst>
          </p:cNvPr>
          <p:cNvSpPr>
            <a:spLocks xmlns:a="http://schemas.openxmlformats.org/drawingml/2006/main" noGrp="1"/>
          </p:cNvSpPr>
          <p:nvPr/>
        </p:nvSpPr>
        <p:spPr>
          <a:xfrm xmlns:a="http://schemas.openxmlformats.org/drawingml/2006/main">
            <a:off x="781050" y="3295650"/>
            <a:ext cx="31337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1687A7"/>
                </a:solidFill>
                <a:latin typeface="Arial"/>
                <a:ea typeface="Arial"/>
                <a:cs typeface="Arial"/>
              </a:defRPr>
            </a:pPr>
            <a:r>
              <a:rPr sz="1013" b="1">
                <a:solidFill>
                  <a:srgbClr val="1687A7"/>
                </a:solidFill>
                <a:latin typeface="Arial"/>
                <a:ea typeface="Arial"/>
                <a:cs typeface="Arial"/>
              </a:rPr>
              <a:t>EVIDENCE</a:t>
            </a:r>
          </a:p>
        </p:txBody>
      </p:sp>
      <p:sp>
        <p:nvSpPr>
          <p:cNvPr id="8" name="text-127">
            <a:extLst xmlns:a="http://schemas.openxmlformats.org/drawingml/2006/main">
              <a:ext uri="{FF2B5EF4-FFF2-40B4-BE49-F238E27FC236}">
                <a16:creationId xmlns:a16="http://schemas.microsoft.com/office/drawing/2014/main" id="{A28549EF-04EA-44BF-AA70-8953450A6C49}"/>
              </a:ext>
            </a:extLst>
          </p:cNvPr>
          <p:cNvSpPr>
            <a:spLocks xmlns:a="http://schemas.openxmlformats.org/drawingml/2006/main" noGrp="1"/>
          </p:cNvSpPr>
          <p:nvPr/>
        </p:nvSpPr>
        <p:spPr>
          <a:xfrm xmlns:a="http://schemas.openxmlformats.org/drawingml/2006/main">
            <a:off x="781050" y="3524250"/>
            <a:ext cx="3133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Confirm demand, margin durability</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and concentration dependency.</a:t>
            </a:r>
          </a:p>
        </p:txBody>
      </p:sp>
      <p:sp>
        <p:nvSpPr>
          <p:cNvPr id="9" name="text-128">
            <a:extLst xmlns:a="http://schemas.openxmlformats.org/drawingml/2006/main">
              <a:ext uri="{FF2B5EF4-FFF2-40B4-BE49-F238E27FC236}">
                <a16:creationId xmlns:a16="http://schemas.microsoft.com/office/drawing/2014/main" id="{6A4A0374-6AC2-425C-A67D-798AEC12839F}"/>
              </a:ext>
            </a:extLst>
          </p:cNvPr>
          <p:cNvSpPr>
            <a:spLocks xmlns:a="http://schemas.openxmlformats.org/drawingml/2006/main" noGrp="1"/>
          </p:cNvSpPr>
          <p:nvPr/>
        </p:nvSpPr>
        <p:spPr>
          <a:xfrm xmlns:a="http://schemas.openxmlformats.org/drawingml/2006/main">
            <a:off x="781050" y="4038600"/>
            <a:ext cx="31337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1687A7"/>
                </a:solidFill>
                <a:latin typeface="Arial"/>
                <a:ea typeface="Arial"/>
                <a:cs typeface="Arial"/>
              </a:defRPr>
            </a:pPr>
            <a:r>
              <a:rPr sz="1013" b="1">
                <a:solidFill>
                  <a:srgbClr val="1687A7"/>
                </a:solidFill>
                <a:latin typeface="Arial"/>
                <a:ea typeface="Arial"/>
                <a:cs typeface="Arial"/>
              </a:rPr>
              <a:t>DECISION</a:t>
            </a:r>
          </a:p>
        </p:txBody>
      </p:sp>
      <p:sp>
        <p:nvSpPr>
          <p:cNvPr id="10" name="text-129">
            <a:extLst xmlns:a="http://schemas.openxmlformats.org/drawingml/2006/main">
              <a:ext uri="{FF2B5EF4-FFF2-40B4-BE49-F238E27FC236}">
                <a16:creationId xmlns:a16="http://schemas.microsoft.com/office/drawing/2014/main" id="{5C14A253-36BD-4E61-8A93-2F7881AFC25D}"/>
              </a:ext>
            </a:extLst>
          </p:cNvPr>
          <p:cNvSpPr>
            <a:spLocks xmlns:a="http://schemas.openxmlformats.org/drawingml/2006/main" noGrp="1"/>
          </p:cNvSpPr>
          <p:nvPr/>
        </p:nvSpPr>
        <p:spPr>
          <a:xfrm xmlns:a="http://schemas.openxmlformats.org/drawingml/2006/main">
            <a:off x="781050" y="4257675"/>
            <a:ext cx="3133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Retain or reclassify the route.</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Approve expansion only after validation.</a:t>
            </a:r>
          </a:p>
        </p:txBody>
      </p:sp>
      <p:sp>
        <p:nvSpPr>
          <p:cNvPr id="11" name="text-130">
            <a:extLst xmlns:a="http://schemas.openxmlformats.org/drawingml/2006/main">
              <a:ext uri="{FF2B5EF4-FFF2-40B4-BE49-F238E27FC236}">
                <a16:creationId xmlns:a16="http://schemas.microsoft.com/office/drawing/2014/main" id="{9147F8A6-EC6B-4F66-A981-800A961EC20B}"/>
              </a:ext>
            </a:extLst>
          </p:cNvPr>
          <p:cNvSpPr>
            <a:spLocks xmlns:a="http://schemas.openxmlformats.org/drawingml/2006/main" noGrp="1"/>
          </p:cNvSpPr>
          <p:nvPr/>
        </p:nvSpPr>
        <p:spPr>
          <a:xfrm xmlns:a="http://schemas.openxmlformats.org/drawingml/2006/main">
            <a:off x="781050" y="4733925"/>
            <a:ext cx="31337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1">
                <a:solidFill>
                  <a:srgbClr val="1687A7"/>
                </a:solidFill>
                <a:latin typeface="Arial"/>
                <a:ea typeface="Arial"/>
                <a:cs typeface="Arial"/>
              </a:defRPr>
            </a:pPr>
            <a:r>
              <a:rPr sz="1088" b="1">
                <a:solidFill>
                  <a:srgbClr val="1687A7"/>
                </a:solidFill>
                <a:latin typeface="Arial"/>
                <a:ea typeface="Arial"/>
                <a:cs typeface="Arial"/>
              </a:rPr>
              <a:t>Evidence-backed opportunity decision</a:t>
            </a:r>
          </a:p>
        </p:txBody>
      </p:sp>
      <p:sp>
        <p:nvSpPr>
          <p:cNvPr id="12" name="surface-131">
            <a:extLst xmlns:a="http://schemas.openxmlformats.org/drawingml/2006/main">
              <a:ext uri="{FF2B5EF4-FFF2-40B4-BE49-F238E27FC236}">
                <a16:creationId xmlns:a16="http://schemas.microsoft.com/office/drawing/2014/main" id="{CFBC5352-2808-4254-A9E6-402D2CFD1B8E}"/>
              </a:ext>
            </a:extLst>
          </p:cNvPr>
          <p:cNvSpPr>
            <a:spLocks xmlns:a="http://schemas.openxmlformats.org/drawingml/2006/main" noGrp="1"/>
          </p:cNvSpPr>
          <p:nvPr/>
        </p:nvSpPr>
        <p:spPr>
          <a:xfrm xmlns:a="http://schemas.openxmlformats.org/drawingml/2006/main">
            <a:off x="4352925" y="2667000"/>
            <a:ext cx="3476625" cy="2305050"/>
          </a:xfrm>
          <a:prstGeom xmlns:a="http://schemas.openxmlformats.org/drawingml/2006/main" prst="roundRect">
            <a:avLst>
              <a:gd name="adj" fmla="val 4545"/>
            </a:avLst>
          </a:prstGeom>
          <a:solidFill xmlns:a="http://schemas.openxmlformats.org/drawingml/2006/main">
            <a:srgbClr val="FFF1F2"/>
          </a:solidFill>
          <a:ln xmlns:a="http://schemas.openxmlformats.org/drawingml/2006/main" w="9525">
            <a:solidFill>
              <a:srgbClr val="DDE3EA"/>
            </a:solidFill>
          </a:ln>
        </p:spPr>
      </p:sp>
      <p:sp>
        <p:nvSpPr>
          <p:cNvPr id="13" name="text-132">
            <a:extLst xmlns:a="http://schemas.openxmlformats.org/drawingml/2006/main">
              <a:ext uri="{FF2B5EF4-FFF2-40B4-BE49-F238E27FC236}">
                <a16:creationId xmlns:a16="http://schemas.microsoft.com/office/drawing/2014/main" id="{9C2DE437-9008-4AC1-B3FF-B3DFA85E8616}"/>
              </a:ext>
            </a:extLst>
          </p:cNvPr>
          <p:cNvSpPr>
            <a:spLocks xmlns:a="http://schemas.openxmlformats.org/drawingml/2006/main" noGrp="1"/>
          </p:cNvSpPr>
          <p:nvPr/>
        </p:nvSpPr>
        <p:spPr>
          <a:xfrm xmlns:a="http://schemas.openxmlformats.org/drawingml/2006/main">
            <a:off x="4524375" y="2819400"/>
            <a:ext cx="313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D94A50"/>
                </a:solidFill>
                <a:latin typeface="Arial"/>
                <a:ea typeface="Arial"/>
                <a:cs typeface="Arial"/>
              </a:defRPr>
            </a:pPr>
            <a:r>
              <a:rPr sz="1725" b="1">
                <a:solidFill>
                  <a:srgbClr val="D94A50"/>
                </a:solidFill>
                <a:latin typeface="Arial"/>
                <a:ea typeface="Arial"/>
                <a:cs typeface="Arial"/>
              </a:rPr>
              <a:t>2  CORRECT 158</a:t>
            </a:r>
          </a:p>
        </p:txBody>
      </p:sp>
      <p:sp>
        <p:nvSpPr>
          <p:cNvPr id="14" name="rule-133">
            <a:extLst xmlns:a="http://schemas.openxmlformats.org/drawingml/2006/main">
              <a:ext uri="{FF2B5EF4-FFF2-40B4-BE49-F238E27FC236}">
                <a16:creationId xmlns:a16="http://schemas.microsoft.com/office/drawing/2014/main" id="{7B58FEAF-DA18-4A24-AD4D-00C22E9522F3}"/>
              </a:ext>
            </a:extLst>
          </p:cNvPr>
          <p:cNvSpPr>
            <a:spLocks xmlns:a="http://schemas.openxmlformats.org/drawingml/2006/main" noGrp="1"/>
          </p:cNvSpPr>
          <p:nvPr/>
        </p:nvSpPr>
        <p:spPr>
          <a:xfrm xmlns:a="http://schemas.openxmlformats.org/drawingml/2006/main">
            <a:off x="4524375" y="3190875"/>
            <a:ext cx="3133725" cy="0"/>
          </a:xfrm>
          <a:prstGeom xmlns:a="http://schemas.openxmlformats.org/drawingml/2006/main" prst="line">
            <a:avLst/>
          </a:prstGeom>
          <a:noFill xmlns:a="http://schemas.openxmlformats.org/drawingml/2006/main"/>
          <a:ln xmlns:a="http://schemas.openxmlformats.org/drawingml/2006/main" w="11430">
            <a:solidFill>
              <a:srgbClr val="D94A50"/>
            </a:solidFill>
          </a:ln>
        </p:spPr>
      </p:sp>
      <p:sp>
        <p:nvSpPr>
          <p:cNvPr id="15" name="text-134">
            <a:extLst xmlns:a="http://schemas.openxmlformats.org/drawingml/2006/main">
              <a:ext uri="{FF2B5EF4-FFF2-40B4-BE49-F238E27FC236}">
                <a16:creationId xmlns:a16="http://schemas.microsoft.com/office/drawing/2014/main" id="{A3D98D7B-B1C5-4BFA-A762-6F6A3757E9CC}"/>
              </a:ext>
            </a:extLst>
          </p:cNvPr>
          <p:cNvSpPr>
            <a:spLocks xmlns:a="http://schemas.openxmlformats.org/drawingml/2006/main" noGrp="1"/>
          </p:cNvSpPr>
          <p:nvPr/>
        </p:nvSpPr>
        <p:spPr>
          <a:xfrm xmlns:a="http://schemas.openxmlformats.org/drawingml/2006/main">
            <a:off x="4524375" y="3295650"/>
            <a:ext cx="31337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D94A50"/>
                </a:solidFill>
                <a:latin typeface="Arial"/>
                <a:ea typeface="Arial"/>
                <a:cs typeface="Arial"/>
              </a:defRPr>
            </a:pPr>
            <a:r>
              <a:rPr sz="1013" b="1">
                <a:solidFill>
                  <a:srgbClr val="D94A50"/>
                </a:solidFill>
                <a:latin typeface="Arial"/>
                <a:ea typeface="Arial"/>
                <a:cs typeface="Arial"/>
              </a:rPr>
              <a:t>EVIDENCE</a:t>
            </a:r>
          </a:p>
        </p:txBody>
      </p:sp>
      <p:sp>
        <p:nvSpPr>
          <p:cNvPr id="16" name="text-135">
            <a:extLst xmlns:a="http://schemas.openxmlformats.org/drawingml/2006/main">
              <a:ext uri="{FF2B5EF4-FFF2-40B4-BE49-F238E27FC236}">
                <a16:creationId xmlns:a16="http://schemas.microsoft.com/office/drawing/2014/main" id="{4259F768-9D45-47F6-8EE6-51DCF30871FD}"/>
              </a:ext>
            </a:extLst>
          </p:cNvPr>
          <p:cNvSpPr>
            <a:spLocks xmlns:a="http://schemas.openxmlformats.org/drawingml/2006/main" noGrp="1"/>
          </p:cNvSpPr>
          <p:nvPr/>
        </p:nvSpPr>
        <p:spPr>
          <a:xfrm xmlns:a="http://schemas.openxmlformats.org/drawingml/2006/main">
            <a:off x="4524375" y="3524250"/>
            <a:ext cx="3133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Review pricing, discounts and cost</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drivers with the commercial owner.</a:t>
            </a:r>
          </a:p>
        </p:txBody>
      </p:sp>
      <p:sp>
        <p:nvSpPr>
          <p:cNvPr id="17" name="text-136">
            <a:extLst xmlns:a="http://schemas.openxmlformats.org/drawingml/2006/main">
              <a:ext uri="{FF2B5EF4-FFF2-40B4-BE49-F238E27FC236}">
                <a16:creationId xmlns:a16="http://schemas.microsoft.com/office/drawing/2014/main" id="{35A1389B-1C34-4A73-977E-9A6F04359C66}"/>
              </a:ext>
            </a:extLst>
          </p:cNvPr>
          <p:cNvSpPr>
            <a:spLocks xmlns:a="http://schemas.openxmlformats.org/drawingml/2006/main" noGrp="1"/>
          </p:cNvSpPr>
          <p:nvPr/>
        </p:nvSpPr>
        <p:spPr>
          <a:xfrm xmlns:a="http://schemas.openxmlformats.org/drawingml/2006/main">
            <a:off x="4524375" y="4038600"/>
            <a:ext cx="31337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D94A50"/>
                </a:solidFill>
                <a:latin typeface="Arial"/>
                <a:ea typeface="Arial"/>
                <a:cs typeface="Arial"/>
              </a:defRPr>
            </a:pPr>
            <a:r>
              <a:rPr sz="1013" b="1">
                <a:solidFill>
                  <a:srgbClr val="D94A50"/>
                </a:solidFill>
                <a:latin typeface="Arial"/>
                <a:ea typeface="Arial"/>
                <a:cs typeface="Arial"/>
              </a:rPr>
              <a:t>DECISION</a:t>
            </a:r>
          </a:p>
        </p:txBody>
      </p:sp>
      <p:sp>
        <p:nvSpPr>
          <p:cNvPr id="18" name="text-137">
            <a:extLst xmlns:a="http://schemas.openxmlformats.org/drawingml/2006/main">
              <a:ext uri="{FF2B5EF4-FFF2-40B4-BE49-F238E27FC236}">
                <a16:creationId xmlns:a16="http://schemas.microsoft.com/office/drawing/2014/main" id="{95CC317F-465A-48D6-B593-B053C1727AB9}"/>
              </a:ext>
            </a:extLst>
          </p:cNvPr>
          <p:cNvSpPr>
            <a:spLocks xmlns:a="http://schemas.openxmlformats.org/drawingml/2006/main" noGrp="1"/>
          </p:cNvSpPr>
          <p:nvPr/>
        </p:nvSpPr>
        <p:spPr>
          <a:xfrm xmlns:a="http://schemas.openxmlformats.org/drawingml/2006/main">
            <a:off x="4524375" y="4257675"/>
            <a:ext cx="3133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Approve a correction or restructuring.</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Review exit when recovery is unviable.</a:t>
            </a:r>
          </a:p>
        </p:txBody>
      </p:sp>
      <p:sp>
        <p:nvSpPr>
          <p:cNvPr id="19" name="text-138">
            <a:extLst xmlns:a="http://schemas.openxmlformats.org/drawingml/2006/main">
              <a:ext uri="{FF2B5EF4-FFF2-40B4-BE49-F238E27FC236}">
                <a16:creationId xmlns:a16="http://schemas.microsoft.com/office/drawing/2014/main" id="{28914185-1316-4B78-8061-E3E54268F354}"/>
              </a:ext>
            </a:extLst>
          </p:cNvPr>
          <p:cNvSpPr>
            <a:spLocks xmlns:a="http://schemas.openxmlformats.org/drawingml/2006/main" noGrp="1"/>
          </p:cNvSpPr>
          <p:nvPr/>
        </p:nvSpPr>
        <p:spPr>
          <a:xfrm xmlns:a="http://schemas.openxmlformats.org/drawingml/2006/main">
            <a:off x="4524375" y="4733925"/>
            <a:ext cx="31337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1">
                <a:solidFill>
                  <a:srgbClr val="D94A50"/>
                </a:solidFill>
                <a:latin typeface="Arial"/>
                <a:ea typeface="Arial"/>
                <a:cs typeface="Arial"/>
              </a:defRPr>
            </a:pPr>
            <a:r>
              <a:rPr sz="1088" b="1">
                <a:solidFill>
                  <a:srgbClr val="D94A50"/>
                </a:solidFill>
                <a:latin typeface="Arial"/>
                <a:ea typeface="Arial"/>
                <a:cs typeface="Arial"/>
              </a:rPr>
              <a:t>Corrective action with an owner</a:t>
            </a:r>
          </a:p>
        </p:txBody>
      </p:sp>
      <p:sp>
        <p:nvSpPr>
          <p:cNvPr id="20" name="surface-139">
            <a:extLst xmlns:a="http://schemas.openxmlformats.org/drawingml/2006/main">
              <a:ext uri="{FF2B5EF4-FFF2-40B4-BE49-F238E27FC236}">
                <a16:creationId xmlns:a16="http://schemas.microsoft.com/office/drawing/2014/main" id="{4718EACA-7356-4439-997A-EFD68B3F0A97}"/>
              </a:ext>
            </a:extLst>
          </p:cNvPr>
          <p:cNvSpPr>
            <a:spLocks xmlns:a="http://schemas.openxmlformats.org/drawingml/2006/main" noGrp="1"/>
          </p:cNvSpPr>
          <p:nvPr/>
        </p:nvSpPr>
        <p:spPr>
          <a:xfrm xmlns:a="http://schemas.openxmlformats.org/drawingml/2006/main">
            <a:off x="8096250" y="2667000"/>
            <a:ext cx="3476625" cy="2305050"/>
          </a:xfrm>
          <a:prstGeom xmlns:a="http://schemas.openxmlformats.org/drawingml/2006/main" prst="roundRect">
            <a:avLst>
              <a:gd name="adj" fmla="val 4545"/>
            </a:avLst>
          </a:prstGeom>
          <a:solidFill xmlns:a="http://schemas.openxmlformats.org/drawingml/2006/main">
            <a:srgbClr val="FFF8E8"/>
          </a:solidFill>
          <a:ln xmlns:a="http://schemas.openxmlformats.org/drawingml/2006/main" w="9525">
            <a:solidFill>
              <a:srgbClr val="DDE3EA"/>
            </a:solidFill>
          </a:ln>
        </p:spPr>
      </p:sp>
      <p:sp>
        <p:nvSpPr>
          <p:cNvPr id="21" name="text-140">
            <a:extLst xmlns:a="http://schemas.openxmlformats.org/drawingml/2006/main">
              <a:ext uri="{FF2B5EF4-FFF2-40B4-BE49-F238E27FC236}">
                <a16:creationId xmlns:a16="http://schemas.microsoft.com/office/drawing/2014/main" id="{8D5537CF-D6C6-425C-901F-3C4559C481E4}"/>
              </a:ext>
            </a:extLst>
          </p:cNvPr>
          <p:cNvSpPr>
            <a:spLocks xmlns:a="http://schemas.openxmlformats.org/drawingml/2006/main" noGrp="1"/>
          </p:cNvSpPr>
          <p:nvPr/>
        </p:nvSpPr>
        <p:spPr>
          <a:xfrm xmlns:a="http://schemas.openxmlformats.org/drawingml/2006/main">
            <a:off x="8267700" y="2819400"/>
            <a:ext cx="313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A65D00"/>
                </a:solidFill>
                <a:latin typeface="Arial"/>
                <a:ea typeface="Arial"/>
                <a:cs typeface="Arial"/>
              </a:defRPr>
            </a:pPr>
            <a:r>
              <a:rPr sz="1725" b="1">
                <a:solidFill>
                  <a:srgbClr val="A65D00"/>
                </a:solidFill>
                <a:latin typeface="Arial"/>
                <a:ea typeface="Arial"/>
                <a:cs typeface="Arial"/>
              </a:rPr>
              <a:t>3  STABILISE 163</a:t>
            </a:r>
          </a:p>
        </p:txBody>
      </p:sp>
      <p:sp>
        <p:nvSpPr>
          <p:cNvPr id="22" name="rule-141">
            <a:extLst xmlns:a="http://schemas.openxmlformats.org/drawingml/2006/main">
              <a:ext uri="{FF2B5EF4-FFF2-40B4-BE49-F238E27FC236}">
                <a16:creationId xmlns:a16="http://schemas.microsoft.com/office/drawing/2014/main" id="{80DDD144-16D4-4117-8000-060151B92DD8}"/>
              </a:ext>
            </a:extLst>
          </p:cNvPr>
          <p:cNvSpPr>
            <a:spLocks xmlns:a="http://schemas.openxmlformats.org/drawingml/2006/main" noGrp="1"/>
          </p:cNvSpPr>
          <p:nvPr/>
        </p:nvSpPr>
        <p:spPr>
          <a:xfrm xmlns:a="http://schemas.openxmlformats.org/drawingml/2006/main">
            <a:off x="8267700" y="3190875"/>
            <a:ext cx="3133725" cy="0"/>
          </a:xfrm>
          <a:prstGeom xmlns:a="http://schemas.openxmlformats.org/drawingml/2006/main" prst="line">
            <a:avLst/>
          </a:prstGeom>
          <a:noFill xmlns:a="http://schemas.openxmlformats.org/drawingml/2006/main"/>
          <a:ln xmlns:a="http://schemas.openxmlformats.org/drawingml/2006/main" w="11430">
            <a:solidFill>
              <a:srgbClr val="A65D00"/>
            </a:solidFill>
          </a:ln>
        </p:spPr>
      </p:sp>
      <p:sp>
        <p:nvSpPr>
          <p:cNvPr id="23" name="text-142">
            <a:extLst xmlns:a="http://schemas.openxmlformats.org/drawingml/2006/main">
              <a:ext uri="{FF2B5EF4-FFF2-40B4-BE49-F238E27FC236}">
                <a16:creationId xmlns:a16="http://schemas.microsoft.com/office/drawing/2014/main" id="{531CD539-453F-4F3F-BEA4-FFA9CFF86F25}"/>
              </a:ext>
            </a:extLst>
          </p:cNvPr>
          <p:cNvSpPr>
            <a:spLocks xmlns:a="http://schemas.openxmlformats.org/drawingml/2006/main" noGrp="1"/>
          </p:cNvSpPr>
          <p:nvPr/>
        </p:nvSpPr>
        <p:spPr>
          <a:xfrm xmlns:a="http://schemas.openxmlformats.org/drawingml/2006/main">
            <a:off x="8267700" y="3295650"/>
            <a:ext cx="31337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A65D00"/>
                </a:solidFill>
                <a:latin typeface="Arial"/>
                <a:ea typeface="Arial"/>
                <a:cs typeface="Arial"/>
              </a:defRPr>
            </a:pPr>
            <a:r>
              <a:rPr sz="1013" b="1">
                <a:solidFill>
                  <a:srgbClr val="A65D00"/>
                </a:solidFill>
                <a:latin typeface="Arial"/>
                <a:ea typeface="Arial"/>
                <a:cs typeface="Arial"/>
              </a:rPr>
              <a:t>EVIDENCE</a:t>
            </a:r>
          </a:p>
        </p:txBody>
      </p:sp>
      <p:sp>
        <p:nvSpPr>
          <p:cNvPr id="24" name="text-143">
            <a:extLst xmlns:a="http://schemas.openxmlformats.org/drawingml/2006/main">
              <a:ext uri="{FF2B5EF4-FFF2-40B4-BE49-F238E27FC236}">
                <a16:creationId xmlns:a16="http://schemas.microsoft.com/office/drawing/2014/main" id="{9E46E7A8-5D81-4275-B210-AA54616D32D9}"/>
              </a:ext>
            </a:extLst>
          </p:cNvPr>
          <p:cNvSpPr>
            <a:spLocks xmlns:a="http://schemas.openxmlformats.org/drawingml/2006/main" noGrp="1"/>
          </p:cNvSpPr>
          <p:nvPr/>
        </p:nvSpPr>
        <p:spPr>
          <a:xfrm xmlns:a="http://schemas.openxmlformats.org/drawingml/2006/main">
            <a:off x="8267700" y="3524250"/>
            <a:ext cx="3133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Locate the sources of profit variation</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and repeated loss-making orders.</a:t>
            </a:r>
          </a:p>
        </p:txBody>
      </p:sp>
      <p:sp>
        <p:nvSpPr>
          <p:cNvPr id="25" name="text-144">
            <a:extLst xmlns:a="http://schemas.openxmlformats.org/drawingml/2006/main">
              <a:ext uri="{FF2B5EF4-FFF2-40B4-BE49-F238E27FC236}">
                <a16:creationId xmlns:a16="http://schemas.microsoft.com/office/drawing/2014/main" id="{D36D288D-E2BC-4C27-B0A3-7563535C6FF0}"/>
              </a:ext>
            </a:extLst>
          </p:cNvPr>
          <p:cNvSpPr>
            <a:spLocks xmlns:a="http://schemas.openxmlformats.org/drawingml/2006/main" noGrp="1"/>
          </p:cNvSpPr>
          <p:nvPr/>
        </p:nvSpPr>
        <p:spPr>
          <a:xfrm xmlns:a="http://schemas.openxmlformats.org/drawingml/2006/main">
            <a:off x="8267700" y="4038600"/>
            <a:ext cx="31337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A65D00"/>
                </a:solidFill>
                <a:latin typeface="Arial"/>
                <a:ea typeface="Arial"/>
                <a:cs typeface="Arial"/>
              </a:defRPr>
            </a:pPr>
            <a:r>
              <a:rPr sz="1013" b="1">
                <a:solidFill>
                  <a:srgbClr val="A65D00"/>
                </a:solidFill>
                <a:latin typeface="Arial"/>
                <a:ea typeface="Arial"/>
                <a:cs typeface="Arial"/>
              </a:rPr>
              <a:t>DECISION</a:t>
            </a:r>
          </a:p>
        </p:txBody>
      </p:sp>
      <p:sp>
        <p:nvSpPr>
          <p:cNvPr id="26" name="text-145">
            <a:extLst xmlns:a="http://schemas.openxmlformats.org/drawingml/2006/main">
              <a:ext uri="{FF2B5EF4-FFF2-40B4-BE49-F238E27FC236}">
                <a16:creationId xmlns:a16="http://schemas.microsoft.com/office/drawing/2014/main" id="{3D9A4FB5-EF50-43D9-848C-37DB60DE6CA8}"/>
              </a:ext>
            </a:extLst>
          </p:cNvPr>
          <p:cNvSpPr>
            <a:spLocks xmlns:a="http://schemas.openxmlformats.org/drawingml/2006/main" noGrp="1"/>
          </p:cNvSpPr>
          <p:nvPr/>
        </p:nvSpPr>
        <p:spPr>
          <a:xfrm xmlns:a="http://schemas.openxmlformats.org/drawingml/2006/main">
            <a:off x="8267700" y="4257675"/>
            <a:ext cx="3133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Set volatility and loss-rate guardrails.</a:t>
            </a:r>
          </a:p>
          <a:p xmlns:a="http://schemas.openxmlformats.org/drawingml/2006/main">
            <a:pPr algn="l">
              <a:defRPr sz="1275" b="0">
                <a:solidFill>
                  <a:srgbClr val="111827"/>
                </a:solidFill>
                <a:latin typeface="Arial"/>
                <a:ea typeface="Arial"/>
                <a:cs typeface="Arial"/>
              </a:defRPr>
            </a:pPr>
            <a:r>
              <a:rPr sz="1275" b="0">
                <a:solidFill>
                  <a:srgbClr val="111827"/>
                </a:solidFill>
                <a:latin typeface="Arial"/>
                <a:ea typeface="Arial"/>
                <a:cs typeface="Arial"/>
              </a:rPr>
              <a:t>Require evidence before scaling.</a:t>
            </a:r>
          </a:p>
        </p:txBody>
      </p:sp>
      <p:sp>
        <p:nvSpPr>
          <p:cNvPr id="27" name="text-146">
            <a:extLst xmlns:a="http://schemas.openxmlformats.org/drawingml/2006/main">
              <a:ext uri="{FF2B5EF4-FFF2-40B4-BE49-F238E27FC236}">
                <a16:creationId xmlns:a16="http://schemas.microsoft.com/office/drawing/2014/main" id="{F6B316C3-529F-4884-8715-9C851522CA39}"/>
              </a:ext>
            </a:extLst>
          </p:cNvPr>
          <p:cNvSpPr>
            <a:spLocks xmlns:a="http://schemas.openxmlformats.org/drawingml/2006/main" noGrp="1"/>
          </p:cNvSpPr>
          <p:nvPr/>
        </p:nvSpPr>
        <p:spPr>
          <a:xfrm xmlns:a="http://schemas.openxmlformats.org/drawingml/2006/main">
            <a:off x="8267700" y="4733925"/>
            <a:ext cx="31337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1">
                <a:solidFill>
                  <a:srgbClr val="A65D00"/>
                </a:solidFill>
                <a:latin typeface="Arial"/>
                <a:ea typeface="Arial"/>
                <a:cs typeface="Arial"/>
              </a:defRPr>
            </a:pPr>
            <a:r>
              <a:rPr sz="1088" b="1">
                <a:solidFill>
                  <a:srgbClr val="A65D00"/>
                </a:solidFill>
                <a:latin typeface="Arial"/>
                <a:ea typeface="Arial"/>
                <a:cs typeface="Arial"/>
              </a:rPr>
              <a:t>Guardrails and a review date</a:t>
            </a:r>
          </a:p>
        </p:txBody>
      </p:sp>
      <p:sp>
        <p:nvSpPr>
          <p:cNvPr id="28" name="text-147">
            <a:extLst xmlns:a="http://schemas.openxmlformats.org/drawingml/2006/main">
              <a:ext uri="{FF2B5EF4-FFF2-40B4-BE49-F238E27FC236}">
                <a16:creationId xmlns:a16="http://schemas.microsoft.com/office/drawing/2014/main" id="{48103632-8FF4-4B0E-B032-3C4FE6553C52}"/>
              </a:ext>
            </a:extLst>
          </p:cNvPr>
          <p:cNvSpPr>
            <a:spLocks xmlns:a="http://schemas.openxmlformats.org/drawingml/2006/main" noGrp="1"/>
          </p:cNvSpPr>
          <p:nvPr/>
        </p:nvSpPr>
        <p:spPr>
          <a:xfrm xmlns:a="http://schemas.openxmlformats.org/drawingml/2006/main">
            <a:off x="609600" y="5143500"/>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PROPOSED WEEKLY DECISION CADENCE</a:t>
            </a:r>
          </a:p>
        </p:txBody>
      </p:sp>
      <p:sp>
        <p:nvSpPr>
          <p:cNvPr id="29" name="surface-148">
            <a:extLst xmlns:a="http://schemas.openxmlformats.org/drawingml/2006/main">
              <a:ext uri="{FF2B5EF4-FFF2-40B4-BE49-F238E27FC236}">
                <a16:creationId xmlns:a16="http://schemas.microsoft.com/office/drawing/2014/main" id="{8C93DBCA-5633-43D1-B4AF-24ECCA54D9BC}"/>
              </a:ext>
            </a:extLst>
          </p:cNvPr>
          <p:cNvSpPr>
            <a:spLocks xmlns:a="http://schemas.openxmlformats.org/drawingml/2006/main" noGrp="1"/>
          </p:cNvSpPr>
          <p:nvPr/>
        </p:nvSpPr>
        <p:spPr>
          <a:xfrm xmlns:a="http://schemas.openxmlformats.org/drawingml/2006/main">
            <a:off x="609600" y="5438775"/>
            <a:ext cx="3476625"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DE3EA"/>
            </a:solidFill>
          </a:ln>
        </p:spPr>
      </p:sp>
      <p:sp>
        <p:nvSpPr>
          <p:cNvPr id="30" name="text-149">
            <a:extLst xmlns:a="http://schemas.openxmlformats.org/drawingml/2006/main">
              <a:ext uri="{FF2B5EF4-FFF2-40B4-BE49-F238E27FC236}">
                <a16:creationId xmlns:a16="http://schemas.microsoft.com/office/drawing/2014/main" id="{49BBA96E-D6C6-4116-BDF2-B74C18B6DC5F}"/>
              </a:ext>
            </a:extLst>
          </p:cNvPr>
          <p:cNvSpPr>
            <a:spLocks xmlns:a="http://schemas.openxmlformats.org/drawingml/2006/main" noGrp="1"/>
          </p:cNvSpPr>
          <p:nvPr/>
        </p:nvSpPr>
        <p:spPr>
          <a:xfrm xmlns:a="http://schemas.openxmlformats.org/drawingml/2006/main">
            <a:off x="752475" y="5514975"/>
            <a:ext cx="3190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MONDAY</a:t>
            </a:r>
          </a:p>
        </p:txBody>
      </p:sp>
      <p:sp>
        <p:nvSpPr>
          <p:cNvPr id="31" name="text-150">
            <a:extLst xmlns:a="http://schemas.openxmlformats.org/drawingml/2006/main">
              <a:ext uri="{FF2B5EF4-FFF2-40B4-BE49-F238E27FC236}">
                <a16:creationId xmlns:a16="http://schemas.microsoft.com/office/drawing/2014/main" id="{5354C734-D540-4391-9760-C68BC595B3A0}"/>
              </a:ext>
            </a:extLst>
          </p:cNvPr>
          <p:cNvSpPr>
            <a:spLocks xmlns:a="http://schemas.openxmlformats.org/drawingml/2006/main" noGrp="1"/>
          </p:cNvSpPr>
          <p:nvPr/>
        </p:nvSpPr>
        <p:spPr>
          <a:xfrm xmlns:a="http://schemas.openxmlformats.org/drawingml/2006/main">
            <a:off x="752475" y="5724525"/>
            <a:ext cx="3190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11827"/>
                </a:solidFill>
                <a:latin typeface="Arial"/>
                <a:ea typeface="Arial"/>
                <a:cs typeface="Arial"/>
              </a:defRPr>
            </a:pPr>
            <a:r>
              <a:rPr sz="1200" b="1">
                <a:solidFill>
                  <a:srgbClr val="111827"/>
                </a:solidFill>
                <a:latin typeface="Arial"/>
                <a:ea typeface="Arial"/>
                <a:cs typeface="Arial"/>
              </a:rPr>
              <a:t>Assign owners and evidence needs</a:t>
            </a:r>
          </a:p>
        </p:txBody>
      </p:sp>
      <p:sp>
        <p:nvSpPr>
          <p:cNvPr id="32" name="text-151">
            <a:extLst xmlns:a="http://schemas.openxmlformats.org/drawingml/2006/main">
              <a:ext uri="{FF2B5EF4-FFF2-40B4-BE49-F238E27FC236}">
                <a16:creationId xmlns:a16="http://schemas.microsoft.com/office/drawing/2014/main" id="{754EF5BD-686E-417A-9F93-0544A76FAEC3}"/>
              </a:ext>
            </a:extLst>
          </p:cNvPr>
          <p:cNvSpPr>
            <a:spLocks xmlns:a="http://schemas.openxmlformats.org/drawingml/2006/main" noGrp="1"/>
          </p:cNvSpPr>
          <p:nvPr/>
        </p:nvSpPr>
        <p:spPr>
          <a:xfrm xmlns:a="http://schemas.openxmlformats.org/drawingml/2006/main">
            <a:off x="752475" y="5953125"/>
            <a:ext cx="3190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4B5563"/>
                </a:solidFill>
                <a:latin typeface="Arial"/>
                <a:ea typeface="Arial"/>
                <a:cs typeface="Arial"/>
              </a:defRPr>
            </a:pPr>
            <a:r>
              <a:rPr sz="1088" b="0">
                <a:solidFill>
                  <a:srgbClr val="4B5563"/>
                </a:solidFill>
                <a:latin typeface="Arial"/>
                <a:ea typeface="Arial"/>
                <a:cs typeface="Arial"/>
              </a:rPr>
              <a:t>Finance + Commercial lead</a:t>
            </a:r>
          </a:p>
        </p:txBody>
      </p:sp>
      <p:sp>
        <p:nvSpPr>
          <p:cNvPr id="33" name="surface-152">
            <a:extLst xmlns:a="http://schemas.openxmlformats.org/drawingml/2006/main">
              <a:ext uri="{FF2B5EF4-FFF2-40B4-BE49-F238E27FC236}">
                <a16:creationId xmlns:a16="http://schemas.microsoft.com/office/drawing/2014/main" id="{83B2D42F-F6E0-48AB-A4C3-EF6DEB946CDD}"/>
              </a:ext>
            </a:extLst>
          </p:cNvPr>
          <p:cNvSpPr>
            <a:spLocks xmlns:a="http://schemas.openxmlformats.org/drawingml/2006/main" noGrp="1"/>
          </p:cNvSpPr>
          <p:nvPr/>
        </p:nvSpPr>
        <p:spPr>
          <a:xfrm xmlns:a="http://schemas.openxmlformats.org/drawingml/2006/main">
            <a:off x="4352925" y="5438775"/>
            <a:ext cx="3476625"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DE3EA"/>
            </a:solidFill>
          </a:ln>
        </p:spPr>
      </p:sp>
      <p:sp>
        <p:nvSpPr>
          <p:cNvPr id="34" name="text-153">
            <a:extLst xmlns:a="http://schemas.openxmlformats.org/drawingml/2006/main">
              <a:ext uri="{FF2B5EF4-FFF2-40B4-BE49-F238E27FC236}">
                <a16:creationId xmlns:a16="http://schemas.microsoft.com/office/drawing/2014/main" id="{A8DFBDD4-45AE-464C-9B2A-F23E819BB1D9}"/>
              </a:ext>
            </a:extLst>
          </p:cNvPr>
          <p:cNvSpPr>
            <a:spLocks xmlns:a="http://schemas.openxmlformats.org/drawingml/2006/main" noGrp="1"/>
          </p:cNvSpPr>
          <p:nvPr/>
        </p:nvSpPr>
        <p:spPr>
          <a:xfrm xmlns:a="http://schemas.openxmlformats.org/drawingml/2006/main">
            <a:off x="4495800" y="5514975"/>
            <a:ext cx="3190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A65D00"/>
                </a:solidFill>
                <a:latin typeface="Arial"/>
                <a:ea typeface="Arial"/>
                <a:cs typeface="Arial"/>
              </a:defRPr>
            </a:pPr>
            <a:r>
              <a:rPr sz="975" b="1">
                <a:solidFill>
                  <a:srgbClr val="A65D00"/>
                </a:solidFill>
                <a:latin typeface="Arial"/>
                <a:ea typeface="Arial"/>
                <a:cs typeface="Arial"/>
              </a:rPr>
              <a:t>WEDNESDAY</a:t>
            </a:r>
          </a:p>
        </p:txBody>
      </p:sp>
      <p:sp>
        <p:nvSpPr>
          <p:cNvPr id="35" name="text-154">
            <a:extLst xmlns:a="http://schemas.openxmlformats.org/drawingml/2006/main">
              <a:ext uri="{FF2B5EF4-FFF2-40B4-BE49-F238E27FC236}">
                <a16:creationId xmlns:a16="http://schemas.microsoft.com/office/drawing/2014/main" id="{D9E97BFF-8171-41AC-B27B-1731BDFAE0EC}"/>
              </a:ext>
            </a:extLst>
          </p:cNvPr>
          <p:cNvSpPr>
            <a:spLocks xmlns:a="http://schemas.openxmlformats.org/drawingml/2006/main" noGrp="1"/>
          </p:cNvSpPr>
          <p:nvPr/>
        </p:nvSpPr>
        <p:spPr>
          <a:xfrm xmlns:a="http://schemas.openxmlformats.org/drawingml/2006/main">
            <a:off x="4495800" y="5724525"/>
            <a:ext cx="3190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11827"/>
                </a:solidFill>
                <a:latin typeface="Arial"/>
                <a:ea typeface="Arial"/>
                <a:cs typeface="Arial"/>
              </a:defRPr>
            </a:pPr>
            <a:r>
              <a:rPr sz="1200" b="1">
                <a:solidFill>
                  <a:srgbClr val="111827"/>
                </a:solidFill>
                <a:latin typeface="Arial"/>
                <a:ea typeface="Arial"/>
                <a:cs typeface="Arial"/>
              </a:rPr>
              <a:t>Review evidence and recommendation</a:t>
            </a:r>
          </a:p>
        </p:txBody>
      </p:sp>
      <p:sp>
        <p:nvSpPr>
          <p:cNvPr id="36" name="text-155">
            <a:extLst xmlns:a="http://schemas.openxmlformats.org/drawingml/2006/main">
              <a:ext uri="{FF2B5EF4-FFF2-40B4-BE49-F238E27FC236}">
                <a16:creationId xmlns:a16="http://schemas.microsoft.com/office/drawing/2014/main" id="{A2F83ADF-BCB9-4523-A2F4-8D53A6E4B5CB}"/>
              </a:ext>
            </a:extLst>
          </p:cNvPr>
          <p:cNvSpPr>
            <a:spLocks xmlns:a="http://schemas.openxmlformats.org/drawingml/2006/main" noGrp="1"/>
          </p:cNvSpPr>
          <p:nvPr/>
        </p:nvSpPr>
        <p:spPr>
          <a:xfrm xmlns:a="http://schemas.openxmlformats.org/drawingml/2006/main">
            <a:off x="4495800" y="5953125"/>
            <a:ext cx="3190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4B5563"/>
                </a:solidFill>
                <a:latin typeface="Arial"/>
                <a:ea typeface="Arial"/>
                <a:cs typeface="Arial"/>
              </a:defRPr>
            </a:pPr>
            <a:r>
              <a:rPr sz="1088" b="0">
                <a:solidFill>
                  <a:srgbClr val="4B5563"/>
                </a:solidFill>
                <a:latin typeface="Arial"/>
                <a:ea typeface="Arial"/>
                <a:cs typeface="Arial"/>
              </a:rPr>
              <a:t>Finance + Commercial challenge</a:t>
            </a:r>
          </a:p>
        </p:txBody>
      </p:sp>
      <p:sp>
        <p:nvSpPr>
          <p:cNvPr id="37" name="surface-156">
            <a:extLst xmlns:a="http://schemas.openxmlformats.org/drawingml/2006/main">
              <a:ext uri="{FF2B5EF4-FFF2-40B4-BE49-F238E27FC236}">
                <a16:creationId xmlns:a16="http://schemas.microsoft.com/office/drawing/2014/main" id="{87CA40CF-66C3-442B-96A5-C88CE0F14A01}"/>
              </a:ext>
            </a:extLst>
          </p:cNvPr>
          <p:cNvSpPr>
            <a:spLocks xmlns:a="http://schemas.openxmlformats.org/drawingml/2006/main" noGrp="1"/>
          </p:cNvSpPr>
          <p:nvPr/>
        </p:nvSpPr>
        <p:spPr>
          <a:xfrm xmlns:a="http://schemas.openxmlformats.org/drawingml/2006/main">
            <a:off x="8096250" y="5438775"/>
            <a:ext cx="3476625"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DE3EA"/>
            </a:solidFill>
          </a:ln>
        </p:spPr>
      </p:sp>
      <p:sp>
        <p:nvSpPr>
          <p:cNvPr id="38" name="text-157">
            <a:extLst xmlns:a="http://schemas.openxmlformats.org/drawingml/2006/main">
              <a:ext uri="{FF2B5EF4-FFF2-40B4-BE49-F238E27FC236}">
                <a16:creationId xmlns:a16="http://schemas.microsoft.com/office/drawing/2014/main" id="{AF920D61-9AB4-4427-B76B-1CCE0E402838}"/>
              </a:ext>
            </a:extLst>
          </p:cNvPr>
          <p:cNvSpPr>
            <a:spLocks xmlns:a="http://schemas.openxmlformats.org/drawingml/2006/main" noGrp="1"/>
          </p:cNvSpPr>
          <p:nvPr/>
        </p:nvSpPr>
        <p:spPr>
          <a:xfrm xmlns:a="http://schemas.openxmlformats.org/drawingml/2006/main">
            <a:off x="8239125" y="5514975"/>
            <a:ext cx="3190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687A7"/>
                </a:solidFill>
                <a:latin typeface="Arial"/>
                <a:ea typeface="Arial"/>
                <a:cs typeface="Arial"/>
              </a:defRPr>
            </a:pPr>
            <a:r>
              <a:rPr sz="975" b="1">
                <a:solidFill>
                  <a:srgbClr val="1687A7"/>
                </a:solidFill>
                <a:latin typeface="Arial"/>
                <a:ea typeface="Arial"/>
                <a:cs typeface="Arial"/>
              </a:rPr>
              <a:t>FRIDAY</a:t>
            </a:r>
          </a:p>
        </p:txBody>
      </p:sp>
      <p:sp>
        <p:nvSpPr>
          <p:cNvPr id="39" name="text-158">
            <a:extLst xmlns:a="http://schemas.openxmlformats.org/drawingml/2006/main">
              <a:ext uri="{FF2B5EF4-FFF2-40B4-BE49-F238E27FC236}">
                <a16:creationId xmlns:a16="http://schemas.microsoft.com/office/drawing/2014/main" id="{7F00052F-B9C4-43BE-8910-AFDAF181BAFA}"/>
              </a:ext>
            </a:extLst>
          </p:cNvPr>
          <p:cNvSpPr>
            <a:spLocks xmlns:a="http://schemas.openxmlformats.org/drawingml/2006/main" noGrp="1"/>
          </p:cNvSpPr>
          <p:nvPr/>
        </p:nvSpPr>
        <p:spPr>
          <a:xfrm xmlns:a="http://schemas.openxmlformats.org/drawingml/2006/main">
            <a:off x="8239125" y="5724525"/>
            <a:ext cx="3190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11827"/>
                </a:solidFill>
                <a:latin typeface="Arial"/>
                <a:ea typeface="Arial"/>
                <a:cs typeface="Arial"/>
              </a:defRPr>
            </a:pPr>
            <a:r>
              <a:rPr sz="1200" b="1">
                <a:solidFill>
                  <a:srgbClr val="111827"/>
                </a:solidFill>
                <a:latin typeface="Arial"/>
                <a:ea typeface="Arial"/>
                <a:cs typeface="Arial"/>
              </a:rPr>
              <a:t>Approve and record the decision</a:t>
            </a:r>
          </a:p>
        </p:txBody>
      </p:sp>
      <p:sp>
        <p:nvSpPr>
          <p:cNvPr id="40" name="text-159">
            <a:extLst xmlns:a="http://schemas.openxmlformats.org/drawingml/2006/main">
              <a:ext uri="{FF2B5EF4-FFF2-40B4-BE49-F238E27FC236}">
                <a16:creationId xmlns:a16="http://schemas.microsoft.com/office/drawing/2014/main" id="{8C84E682-8ACD-4803-A72F-059C630700A0}"/>
              </a:ext>
            </a:extLst>
          </p:cNvPr>
          <p:cNvSpPr>
            <a:spLocks xmlns:a="http://schemas.openxmlformats.org/drawingml/2006/main" noGrp="1"/>
          </p:cNvSpPr>
          <p:nvPr/>
        </p:nvSpPr>
        <p:spPr>
          <a:xfrm xmlns:a="http://schemas.openxmlformats.org/drawingml/2006/main">
            <a:off x="8239125" y="5953125"/>
            <a:ext cx="3190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4B5563"/>
                </a:solidFill>
                <a:latin typeface="Arial"/>
                <a:ea typeface="Arial"/>
                <a:cs typeface="Arial"/>
              </a:defRPr>
            </a:pPr>
            <a:r>
              <a:rPr sz="1088" b="0">
                <a:solidFill>
                  <a:srgbClr val="4B5563"/>
                </a:solidFill>
                <a:latin typeface="Arial"/>
                <a:ea typeface="Arial"/>
                <a:cs typeface="Arial"/>
              </a:rPr>
              <a:t>Named owner + authorised approver</a:t>
            </a:r>
          </a:p>
        </p:txBody>
      </p:sp>
      <p:cxnSp>
        <p:nvCxnSpPr>
          <p:cNvPr id="84" name=""/>
          <p:cNvCxnSpPr>
            <a:stCxn xmlns:a="http://schemas.openxmlformats.org/drawingml/2006/main" id="29" idx="3"/>
            <a:endCxn xmlns:a="http://schemas.openxmlformats.org/drawingml/2006/main" id="33" idx="1"/>
          </p:cNvCxnSpPr>
          <p:nvPr/>
        </p:nvCxnSpPr>
        <p:spPr>
          <a:xfrm xmlns:a="http://schemas.openxmlformats.org/drawingml/2006/main">
            <a:off x="4086225" y="5791200"/>
            <a:ext cx="266700" cy="0"/>
          </a:xfrm>
          <a:prstGeom xmlns:a="http://schemas.openxmlformats.org/drawingml/2006/main" prst="straightConnector1">
            <a:avLst/>
          </a:prstGeom>
          <a:ln xmlns:a="http://schemas.openxmlformats.org/drawingml/2006/main" w="13335">
            <a:solidFill>
              <a:srgbClr val="718096"/>
            </a:solidFill>
            <a:tailEnd type="triangle" w="sm" len="sm"/>
          </a:ln>
        </p:spPr>
      </p:cxnSp>
      <p:cxnSp>
        <p:nvCxnSpPr>
          <p:cNvPr id="85" name=""/>
          <p:cNvCxnSpPr>
            <a:stCxn xmlns:a="http://schemas.openxmlformats.org/drawingml/2006/main" id="33" idx="3"/>
            <a:endCxn xmlns:a="http://schemas.openxmlformats.org/drawingml/2006/main" id="37" idx="1"/>
          </p:cNvCxnSpPr>
          <p:nvPr/>
        </p:nvCxnSpPr>
        <p:spPr>
          <a:xfrm xmlns:a="http://schemas.openxmlformats.org/drawingml/2006/main">
            <a:off x="7829550" y="5791200"/>
            <a:ext cx="266700" cy="0"/>
          </a:xfrm>
          <a:prstGeom xmlns:a="http://schemas.openxmlformats.org/drawingml/2006/main" prst="straightConnector1">
            <a:avLst/>
          </a:prstGeom>
          <a:ln xmlns:a="http://schemas.openxmlformats.org/drawingml/2006/main" w="13335">
            <a:solidFill>
              <a:srgbClr val="718096"/>
            </a:solidFill>
            <a:tailEnd type="triangle" w="sm" len="sm"/>
          </a:ln>
        </p:spPr>
      </p:cxnSp>
      <p:sp>
        <p:nvSpPr>
          <p:cNvPr id="43" name="text-160">
            <a:extLst xmlns:a="http://schemas.openxmlformats.org/drawingml/2006/main">
              <a:ext uri="{FF2B5EF4-FFF2-40B4-BE49-F238E27FC236}">
                <a16:creationId xmlns:a16="http://schemas.microsoft.com/office/drawing/2014/main" id="{180AB172-5F8A-47B3-AC93-52C631293A39}"/>
              </a:ext>
            </a:extLst>
          </p:cNvPr>
          <p:cNvSpPr>
            <a:spLocks xmlns:a="http://schemas.openxmlformats.org/drawingml/2006/main" noGrp="1"/>
          </p:cNvSpPr>
          <p:nvPr/>
        </p:nvSpPr>
        <p:spPr>
          <a:xfrm xmlns:a="http://schemas.openxmlformats.org/drawingml/2006/main">
            <a:off x="619125" y="620077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8" b="0">
                <a:solidFill>
                  <a:srgbClr val="718096"/>
                </a:solidFill>
                <a:latin typeface="Arial"/>
                <a:ea typeface="Arial"/>
                <a:cs typeface="Arial"/>
              </a:defRPr>
            </a:pPr>
            <a:r>
              <a:rPr sz="998" b="0">
                <a:solidFill>
                  <a:srgbClr val="718096"/>
                </a:solidFill>
                <a:latin typeface="Arial"/>
                <a:ea typeface="Arial"/>
                <a:cs typeface="Arial"/>
              </a:rPr>
              <a:t>Week 1: confirm data, capacity and owners. Weeks 2–3: review and implement approved actions. Week 4: evaluate the pilot.</a:t>
            </a:r>
          </a:p>
        </p:txBody>
      </p:sp>
    </p:spTree>
    <p:extLst>
      <p:ext uri="{BB962C8B-B14F-4D97-AF65-F5344CB8AC3E}">
        <p14:creationId xmlns:p14="http://schemas.microsoft.com/office/powerpoint/2010/main" val="107674367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2" name="text-161">
            <a:extLst xmlns:a="http://schemas.openxmlformats.org/drawingml/2006/main">
              <a:ext uri="{FF2B5EF4-FFF2-40B4-BE49-F238E27FC236}">
                <a16:creationId xmlns:a16="http://schemas.microsoft.com/office/drawing/2014/main" id="{257EF732-9B9B-4134-8221-413261BFF603}"/>
              </a:ext>
            </a:extLst>
          </p:cNvPr>
          <p:cNvSpPr>
            <a:spLocks xmlns:a="http://schemas.openxmlformats.org/drawingml/2006/main" noGrp="1"/>
          </p:cNvSpPr>
          <p:nvPr/>
        </p:nvSpPr>
        <p:spPr>
          <a:xfrm xmlns:a="http://schemas.openxmlformats.org/drawingml/2006/main">
            <a:off x="609600" y="14192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DECISION REQUESTED</a:t>
            </a:r>
          </a:p>
        </p:txBody>
      </p:sp>
      <p:sp>
        <p:nvSpPr>
          <p:cNvPr id="2" name="text-162">
            <a:extLst xmlns:a="http://schemas.openxmlformats.org/drawingml/2006/main">
              <a:ext uri="{FF2B5EF4-FFF2-40B4-BE49-F238E27FC236}">
                <a16:creationId xmlns:a16="http://schemas.microsoft.com/office/drawing/2014/main" id="{CEAF2CC4-2DF6-4D5E-B317-20C9C00523C4}"/>
              </a:ext>
            </a:extLst>
          </p:cNvPr>
          <p:cNvSpPr>
            <a:spLocks xmlns:a="http://schemas.openxmlformats.org/drawingml/2006/main" noGrp="1"/>
          </p:cNvSpPr>
          <p:nvPr/>
        </p:nvSpPr>
        <p:spPr>
          <a:xfrm xmlns:a="http://schemas.openxmlformats.org/drawingml/2006/main">
            <a:off x="609600" y="1647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11827"/>
                </a:solidFill>
                <a:latin typeface="Arial"/>
                <a:ea typeface="Arial"/>
                <a:cs typeface="Arial"/>
              </a:defRPr>
            </a:pPr>
            <a:r>
              <a:rPr sz="2550" b="1">
                <a:solidFill>
                  <a:srgbClr val="111827"/>
                </a:solidFill>
                <a:latin typeface="Arial"/>
                <a:ea typeface="Arial"/>
                <a:cs typeface="Arial"/>
              </a:rPr>
              <a:t>Approve a Four-Week Portfolio-Control Pilot.</a:t>
            </a:r>
          </a:p>
        </p:txBody>
      </p:sp>
      <p:sp>
        <p:nvSpPr>
          <p:cNvPr id="3" name="text-163">
            <a:extLst xmlns:a="http://schemas.openxmlformats.org/drawingml/2006/main">
              <a:ext uri="{FF2B5EF4-FFF2-40B4-BE49-F238E27FC236}">
                <a16:creationId xmlns:a16="http://schemas.microsoft.com/office/drawing/2014/main" id="{155EE71C-7432-4E74-8F8B-5D3B7E8CBD41}"/>
              </a:ext>
            </a:extLst>
          </p:cNvPr>
          <p:cNvSpPr>
            <a:spLocks xmlns:a="http://schemas.openxmlformats.org/drawingml/2006/main" noGrp="1"/>
          </p:cNvSpPr>
          <p:nvPr/>
        </p:nvSpPr>
        <p:spPr>
          <a:xfrm xmlns:a="http://schemas.openxmlformats.org/drawingml/2006/main">
            <a:off x="609600" y="215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563"/>
                </a:solidFill>
                <a:latin typeface="Arial"/>
                <a:ea typeface="Arial"/>
                <a:cs typeface="Arial"/>
              </a:defRPr>
            </a:pPr>
            <a:r>
              <a:rPr sz="1425" b="0">
                <a:solidFill>
                  <a:srgbClr val="4B5563"/>
                </a:solidFill>
                <a:latin typeface="Arial"/>
                <a:ea typeface="Arial"/>
                <a:cs typeface="Arial"/>
              </a:rPr>
              <a:t>Approve a defined review scope, accountable owners and success gates. Confirm delivery capacity before launch.</a:t>
            </a:r>
          </a:p>
        </p:txBody>
      </p:sp>
      <p:sp>
        <p:nvSpPr>
          <p:cNvPr id="4" name="surface-164">
            <a:extLst xmlns:a="http://schemas.openxmlformats.org/drawingml/2006/main">
              <a:ext uri="{FF2B5EF4-FFF2-40B4-BE49-F238E27FC236}">
                <a16:creationId xmlns:a16="http://schemas.microsoft.com/office/drawing/2014/main" id="{9786A7B7-CDB4-45F7-8829-C76374322CDC}"/>
              </a:ext>
            </a:extLst>
          </p:cNvPr>
          <p:cNvSpPr>
            <a:spLocks xmlns:a="http://schemas.openxmlformats.org/drawingml/2006/main" noGrp="1"/>
          </p:cNvSpPr>
          <p:nvPr/>
        </p:nvSpPr>
        <p:spPr>
          <a:xfrm xmlns:a="http://schemas.openxmlformats.org/drawingml/2006/main">
            <a:off x="609600" y="2647950"/>
            <a:ext cx="5105400" cy="2752725"/>
          </a:xfrm>
          <a:prstGeom xmlns:a="http://schemas.openxmlformats.org/drawingml/2006/main" prst="roundRect">
            <a:avLst>
              <a:gd name="adj" fmla="val 3806"/>
            </a:avLst>
          </a:prstGeom>
          <a:solidFill xmlns:a="http://schemas.openxmlformats.org/drawingml/2006/main">
            <a:srgbClr val="EFF9F3"/>
          </a:solidFill>
          <a:ln xmlns:a="http://schemas.openxmlformats.org/drawingml/2006/main" w="9525">
            <a:solidFill>
              <a:srgbClr val="B4DCC5"/>
            </a:solidFill>
          </a:ln>
        </p:spPr>
      </p:sp>
      <p:sp>
        <p:nvSpPr>
          <p:cNvPr id="5" name="text-165">
            <a:extLst xmlns:a="http://schemas.openxmlformats.org/drawingml/2006/main">
              <a:ext uri="{FF2B5EF4-FFF2-40B4-BE49-F238E27FC236}">
                <a16:creationId xmlns:a16="http://schemas.microsoft.com/office/drawing/2014/main" id="{44EC260C-305D-4B98-AE17-518C6AF83E3D}"/>
              </a:ext>
            </a:extLst>
          </p:cNvPr>
          <p:cNvSpPr>
            <a:spLocks xmlns:a="http://schemas.openxmlformats.org/drawingml/2006/main" noGrp="1"/>
          </p:cNvSpPr>
          <p:nvPr/>
        </p:nvSpPr>
        <p:spPr>
          <a:xfrm xmlns:a="http://schemas.openxmlformats.org/drawingml/2006/main">
            <a:off x="781050" y="2800350"/>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46547"/>
                </a:solidFill>
                <a:latin typeface="Arial"/>
                <a:ea typeface="Arial"/>
                <a:cs typeface="Arial"/>
              </a:defRPr>
            </a:pPr>
            <a:r>
              <a:rPr sz="1725" b="1">
                <a:solidFill>
                  <a:srgbClr val="146547"/>
                </a:solidFill>
                <a:latin typeface="Arial"/>
                <a:ea typeface="Arial"/>
                <a:cs typeface="Arial"/>
              </a:rPr>
              <a:t>FOUR WEEKS · 401 PRIORITY CASES</a:t>
            </a:r>
          </a:p>
        </p:txBody>
      </p:sp>
      <p:sp>
        <p:nvSpPr>
          <p:cNvPr id="6" name="text-166">
            <a:extLst xmlns:a="http://schemas.openxmlformats.org/drawingml/2006/main">
              <a:ext uri="{FF2B5EF4-FFF2-40B4-BE49-F238E27FC236}">
                <a16:creationId xmlns:a16="http://schemas.microsoft.com/office/drawing/2014/main" id="{EA6AF513-9B6A-4CFC-99D2-CED07C290DA3}"/>
              </a:ext>
            </a:extLst>
          </p:cNvPr>
          <p:cNvSpPr>
            <a:spLocks xmlns:a="http://schemas.openxmlformats.org/drawingml/2006/main" noGrp="1"/>
          </p:cNvSpPr>
          <p:nvPr/>
        </p:nvSpPr>
        <p:spPr>
          <a:xfrm xmlns:a="http://schemas.openxmlformats.org/drawingml/2006/main">
            <a:off x="790575" y="32099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B4A6F"/>
                </a:solidFill>
                <a:latin typeface="Arial"/>
                <a:ea typeface="Arial"/>
                <a:cs typeface="Arial"/>
              </a:defRPr>
            </a:pPr>
            <a:r>
              <a:rPr sz="1200" b="1">
                <a:solidFill>
                  <a:srgbClr val="0B4A6F"/>
                </a:solidFill>
                <a:latin typeface="Arial"/>
                <a:ea typeface="Arial"/>
                <a:cs typeface="Arial"/>
              </a:rPr>
              <a:t>Owners</a:t>
            </a:r>
          </a:p>
        </p:txBody>
      </p:sp>
      <p:sp>
        <p:nvSpPr>
          <p:cNvPr id="7" name="text-167">
            <a:extLst xmlns:a="http://schemas.openxmlformats.org/drawingml/2006/main">
              <a:ext uri="{FF2B5EF4-FFF2-40B4-BE49-F238E27FC236}">
                <a16:creationId xmlns:a16="http://schemas.microsoft.com/office/drawing/2014/main" id="{1B377C58-0A70-4BCD-AB81-8775292F1938}"/>
              </a:ext>
            </a:extLst>
          </p:cNvPr>
          <p:cNvSpPr>
            <a:spLocks xmlns:a="http://schemas.openxmlformats.org/drawingml/2006/main" noGrp="1"/>
          </p:cNvSpPr>
          <p:nvPr/>
        </p:nvSpPr>
        <p:spPr>
          <a:xfrm xmlns:a="http://schemas.openxmlformats.org/drawingml/2006/main">
            <a:off x="1781175" y="3209925"/>
            <a:ext cx="3743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Finance + Commercial</a:t>
            </a:r>
          </a:p>
        </p:txBody>
      </p:sp>
      <p:sp>
        <p:nvSpPr>
          <p:cNvPr id="8" name="text-168">
            <a:extLst xmlns:a="http://schemas.openxmlformats.org/drawingml/2006/main">
              <a:ext uri="{FF2B5EF4-FFF2-40B4-BE49-F238E27FC236}">
                <a16:creationId xmlns:a16="http://schemas.microsoft.com/office/drawing/2014/main" id="{0E22CCAF-2728-4275-A91C-C16CE57B17A0}"/>
              </a:ext>
            </a:extLst>
          </p:cNvPr>
          <p:cNvSpPr>
            <a:spLocks xmlns:a="http://schemas.openxmlformats.org/drawingml/2006/main" noGrp="1"/>
          </p:cNvSpPr>
          <p:nvPr/>
        </p:nvSpPr>
        <p:spPr>
          <a:xfrm xmlns:a="http://schemas.openxmlformats.org/drawingml/2006/main">
            <a:off x="790575" y="354330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B4A6F"/>
                </a:solidFill>
                <a:latin typeface="Arial"/>
                <a:ea typeface="Arial"/>
                <a:cs typeface="Arial"/>
              </a:defRPr>
            </a:pPr>
            <a:r>
              <a:rPr sz="1200" b="1">
                <a:solidFill>
                  <a:srgbClr val="0B4A6F"/>
                </a:solidFill>
                <a:latin typeface="Arial"/>
                <a:ea typeface="Arial"/>
                <a:cs typeface="Arial"/>
              </a:rPr>
              <a:t>Scope</a:t>
            </a:r>
          </a:p>
        </p:txBody>
      </p:sp>
      <p:sp>
        <p:nvSpPr>
          <p:cNvPr id="9" name="text-169">
            <a:extLst xmlns:a="http://schemas.openxmlformats.org/drawingml/2006/main">
              <a:ext uri="{FF2B5EF4-FFF2-40B4-BE49-F238E27FC236}">
                <a16:creationId xmlns:a16="http://schemas.microsoft.com/office/drawing/2014/main" id="{CDF86DA2-5086-4CAE-B20F-5129A0662359}"/>
              </a:ext>
            </a:extLst>
          </p:cNvPr>
          <p:cNvSpPr>
            <a:spLocks xmlns:a="http://schemas.openxmlformats.org/drawingml/2006/main" noGrp="1"/>
          </p:cNvSpPr>
          <p:nvPr/>
        </p:nvSpPr>
        <p:spPr>
          <a:xfrm xmlns:a="http://schemas.openxmlformats.org/drawingml/2006/main">
            <a:off x="1781175" y="3543300"/>
            <a:ext cx="3743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Validate 80 · Correct 158 · Stabilise 163</a:t>
            </a:r>
          </a:p>
        </p:txBody>
      </p:sp>
      <p:sp>
        <p:nvSpPr>
          <p:cNvPr id="10" name="text-170">
            <a:extLst xmlns:a="http://schemas.openxmlformats.org/drawingml/2006/main">
              <a:ext uri="{FF2B5EF4-FFF2-40B4-BE49-F238E27FC236}">
                <a16:creationId xmlns:a16="http://schemas.microsoft.com/office/drawing/2014/main" id="{90A9B634-AD36-4F4D-8F5B-70CDD227CCA4}"/>
              </a:ext>
            </a:extLst>
          </p:cNvPr>
          <p:cNvSpPr>
            <a:spLocks xmlns:a="http://schemas.openxmlformats.org/drawingml/2006/main" noGrp="1"/>
          </p:cNvSpPr>
          <p:nvPr/>
        </p:nvSpPr>
        <p:spPr>
          <a:xfrm xmlns:a="http://schemas.openxmlformats.org/drawingml/2006/main">
            <a:off x="790575" y="387667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B4A6F"/>
                </a:solidFill>
                <a:latin typeface="Arial"/>
                <a:ea typeface="Arial"/>
                <a:cs typeface="Arial"/>
              </a:defRPr>
            </a:pPr>
            <a:r>
              <a:rPr sz="1200" b="1">
                <a:solidFill>
                  <a:srgbClr val="0B4A6F"/>
                </a:solidFill>
                <a:latin typeface="Arial"/>
                <a:ea typeface="Arial"/>
                <a:cs typeface="Arial"/>
              </a:rPr>
              <a:t>Resources</a:t>
            </a:r>
          </a:p>
        </p:txBody>
      </p:sp>
      <p:sp>
        <p:nvSpPr>
          <p:cNvPr id="11" name="text-171">
            <a:extLst xmlns:a="http://schemas.openxmlformats.org/drawingml/2006/main">
              <a:ext uri="{FF2B5EF4-FFF2-40B4-BE49-F238E27FC236}">
                <a16:creationId xmlns:a16="http://schemas.microsoft.com/office/drawing/2014/main" id="{3DCAD632-ADD3-4FFB-928D-09C44ED272B1}"/>
              </a:ext>
            </a:extLst>
          </p:cNvPr>
          <p:cNvSpPr>
            <a:spLocks xmlns:a="http://schemas.openxmlformats.org/drawingml/2006/main" noGrp="1"/>
          </p:cNvSpPr>
          <p:nvPr/>
        </p:nvSpPr>
        <p:spPr>
          <a:xfrm xmlns:a="http://schemas.openxmlformats.org/drawingml/2006/main">
            <a:off x="1781175" y="3876675"/>
            <a:ext cx="3743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Existing analyst time. No new headcount requested.</a:t>
            </a:r>
          </a:p>
        </p:txBody>
      </p:sp>
      <p:sp>
        <p:nvSpPr>
          <p:cNvPr id="12" name="text-172">
            <a:extLst xmlns:a="http://schemas.openxmlformats.org/drawingml/2006/main">
              <a:ext uri="{FF2B5EF4-FFF2-40B4-BE49-F238E27FC236}">
                <a16:creationId xmlns:a16="http://schemas.microsoft.com/office/drawing/2014/main" id="{F6402B52-AB86-43E8-B85A-BD07530F0F2B}"/>
              </a:ext>
            </a:extLst>
          </p:cNvPr>
          <p:cNvSpPr>
            <a:spLocks xmlns:a="http://schemas.openxmlformats.org/drawingml/2006/main" noGrp="1"/>
          </p:cNvSpPr>
          <p:nvPr/>
        </p:nvSpPr>
        <p:spPr>
          <a:xfrm xmlns:a="http://schemas.openxmlformats.org/drawingml/2006/main">
            <a:off x="790575" y="421005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B4A6F"/>
                </a:solidFill>
                <a:latin typeface="Arial"/>
                <a:ea typeface="Arial"/>
                <a:cs typeface="Arial"/>
              </a:defRPr>
            </a:pPr>
            <a:r>
              <a:rPr sz="1200" b="1">
                <a:solidFill>
                  <a:srgbClr val="0B4A6F"/>
                </a:solidFill>
                <a:latin typeface="Arial"/>
                <a:ea typeface="Arial"/>
                <a:cs typeface="Arial"/>
              </a:rPr>
              <a:t>Launch gate</a:t>
            </a:r>
          </a:p>
        </p:txBody>
      </p:sp>
      <p:sp>
        <p:nvSpPr>
          <p:cNvPr id="13" name="text-173">
            <a:extLst xmlns:a="http://schemas.openxmlformats.org/drawingml/2006/main">
              <a:ext uri="{FF2B5EF4-FFF2-40B4-BE49-F238E27FC236}">
                <a16:creationId xmlns:a16="http://schemas.microsoft.com/office/drawing/2014/main" id="{DF56A4C0-2EAD-417B-BE44-BA0EAF6C5A0C}"/>
              </a:ext>
            </a:extLst>
          </p:cNvPr>
          <p:cNvSpPr>
            <a:spLocks xmlns:a="http://schemas.openxmlformats.org/drawingml/2006/main" noGrp="1"/>
          </p:cNvSpPr>
          <p:nvPr/>
        </p:nvSpPr>
        <p:spPr>
          <a:xfrm xmlns:a="http://schemas.openxmlformats.org/drawingml/2006/main">
            <a:off x="1781175" y="4210050"/>
            <a:ext cx="3743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Confirm hours, capacity and effort cost.</a:t>
            </a:r>
          </a:p>
        </p:txBody>
      </p:sp>
      <p:sp>
        <p:nvSpPr>
          <p:cNvPr id="14" name="text-174">
            <a:extLst xmlns:a="http://schemas.openxmlformats.org/drawingml/2006/main">
              <a:ext uri="{FF2B5EF4-FFF2-40B4-BE49-F238E27FC236}">
                <a16:creationId xmlns:a16="http://schemas.microsoft.com/office/drawing/2014/main" id="{1D9877E2-4C23-4055-B340-6633412C6980}"/>
              </a:ext>
            </a:extLst>
          </p:cNvPr>
          <p:cNvSpPr>
            <a:spLocks xmlns:a="http://schemas.openxmlformats.org/drawingml/2006/main" noGrp="1"/>
          </p:cNvSpPr>
          <p:nvPr/>
        </p:nvSpPr>
        <p:spPr>
          <a:xfrm xmlns:a="http://schemas.openxmlformats.org/drawingml/2006/main">
            <a:off x="790575" y="45434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B4A6F"/>
                </a:solidFill>
                <a:latin typeface="Arial"/>
                <a:ea typeface="Arial"/>
                <a:cs typeface="Arial"/>
              </a:defRPr>
            </a:pPr>
            <a:r>
              <a:rPr sz="1200" b="1">
                <a:solidFill>
                  <a:srgbClr val="0B4A6F"/>
                </a:solidFill>
                <a:latin typeface="Arial"/>
                <a:ea typeface="Arial"/>
                <a:cs typeface="Arial"/>
              </a:rPr>
              <a:t>Protection</a:t>
            </a:r>
          </a:p>
        </p:txBody>
      </p:sp>
      <p:sp>
        <p:nvSpPr>
          <p:cNvPr id="15" name="text-175">
            <a:extLst xmlns:a="http://schemas.openxmlformats.org/drawingml/2006/main">
              <a:ext uri="{FF2B5EF4-FFF2-40B4-BE49-F238E27FC236}">
                <a16:creationId xmlns:a16="http://schemas.microsoft.com/office/drawing/2014/main" id="{3678ECF5-5CE2-4B87-9613-AAAB74CB23E9}"/>
              </a:ext>
            </a:extLst>
          </p:cNvPr>
          <p:cNvSpPr>
            <a:spLocks xmlns:a="http://schemas.openxmlformats.org/drawingml/2006/main" noGrp="1"/>
          </p:cNvSpPr>
          <p:nvPr/>
        </p:nvSpPr>
        <p:spPr>
          <a:xfrm xmlns:a="http://schemas.openxmlformats.org/drawingml/2006/main">
            <a:off x="1781175" y="4543425"/>
            <a:ext cx="3743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Safeguard the 150-product value engine.</a:t>
            </a:r>
          </a:p>
        </p:txBody>
      </p:sp>
      <p:sp>
        <p:nvSpPr>
          <p:cNvPr id="16" name="text-176">
            <a:extLst xmlns:a="http://schemas.openxmlformats.org/drawingml/2006/main">
              <a:ext uri="{FF2B5EF4-FFF2-40B4-BE49-F238E27FC236}">
                <a16:creationId xmlns:a16="http://schemas.microsoft.com/office/drawing/2014/main" id="{DB6A1EA1-29C9-4427-82C3-9A6D06470CD6}"/>
              </a:ext>
            </a:extLst>
          </p:cNvPr>
          <p:cNvSpPr>
            <a:spLocks xmlns:a="http://schemas.openxmlformats.org/drawingml/2006/main" noGrp="1"/>
          </p:cNvSpPr>
          <p:nvPr/>
        </p:nvSpPr>
        <p:spPr>
          <a:xfrm xmlns:a="http://schemas.openxmlformats.org/drawingml/2006/main">
            <a:off x="790575" y="487680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B4A6F"/>
                </a:solidFill>
                <a:latin typeface="Arial"/>
                <a:ea typeface="Arial"/>
                <a:cs typeface="Arial"/>
              </a:defRPr>
            </a:pPr>
            <a:r>
              <a:rPr sz="1200" b="1">
                <a:solidFill>
                  <a:srgbClr val="0B4A6F"/>
                </a:solidFill>
                <a:latin typeface="Arial"/>
                <a:ea typeface="Arial"/>
                <a:cs typeface="Arial"/>
              </a:rPr>
              <a:t>Authority</a:t>
            </a:r>
          </a:p>
        </p:txBody>
      </p:sp>
      <p:sp>
        <p:nvSpPr>
          <p:cNvPr id="17" name="text-177">
            <a:extLst xmlns:a="http://schemas.openxmlformats.org/drawingml/2006/main">
              <a:ext uri="{FF2B5EF4-FFF2-40B4-BE49-F238E27FC236}">
                <a16:creationId xmlns:a16="http://schemas.microsoft.com/office/drawing/2014/main" id="{E3BE5904-9DDD-4159-9176-2FCBC5CB535C}"/>
              </a:ext>
            </a:extLst>
          </p:cNvPr>
          <p:cNvSpPr>
            <a:spLocks xmlns:a="http://schemas.openxmlformats.org/drawingml/2006/main" noGrp="1"/>
          </p:cNvSpPr>
          <p:nvPr/>
        </p:nvSpPr>
        <p:spPr>
          <a:xfrm xmlns:a="http://schemas.openxmlformats.org/drawingml/2006/main">
            <a:off x="1781175" y="4876800"/>
            <a:ext cx="3743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New spend and product exits need explicit approval.</a:t>
            </a:r>
          </a:p>
        </p:txBody>
      </p:sp>
      <p:sp>
        <p:nvSpPr>
          <p:cNvPr id="18" name="text-178">
            <a:extLst xmlns:a="http://schemas.openxmlformats.org/drawingml/2006/main">
              <a:ext uri="{FF2B5EF4-FFF2-40B4-BE49-F238E27FC236}">
                <a16:creationId xmlns:a16="http://schemas.microsoft.com/office/drawing/2014/main" id="{0596F270-D863-4CE9-A67F-B3593B732D9C}"/>
              </a:ext>
            </a:extLst>
          </p:cNvPr>
          <p:cNvSpPr>
            <a:spLocks xmlns:a="http://schemas.openxmlformats.org/drawingml/2006/main" noGrp="1"/>
          </p:cNvSpPr>
          <p:nvPr/>
        </p:nvSpPr>
        <p:spPr>
          <a:xfrm xmlns:a="http://schemas.openxmlformats.org/drawingml/2006/main">
            <a:off x="5981700" y="2638425"/>
            <a:ext cx="55911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PROPOSED SUCCESS GATES</a:t>
            </a:r>
          </a:p>
        </p:txBody>
      </p:sp>
      <p:sp>
        <p:nvSpPr>
          <p:cNvPr id="19" name="surface-179">
            <a:extLst xmlns:a="http://schemas.openxmlformats.org/drawingml/2006/main">
              <a:ext uri="{FF2B5EF4-FFF2-40B4-BE49-F238E27FC236}">
                <a16:creationId xmlns:a16="http://schemas.microsoft.com/office/drawing/2014/main" id="{41728610-82D1-41D0-9D3D-E4C5FD7BB428}"/>
              </a:ext>
            </a:extLst>
          </p:cNvPr>
          <p:cNvSpPr>
            <a:spLocks xmlns:a="http://schemas.openxmlformats.org/drawingml/2006/main" noGrp="1"/>
          </p:cNvSpPr>
          <p:nvPr/>
        </p:nvSpPr>
        <p:spPr>
          <a:xfrm xmlns:a="http://schemas.openxmlformats.org/drawingml/2006/main">
            <a:off x="5981700" y="2943225"/>
            <a:ext cx="5591175" cy="723900"/>
          </a:xfrm>
          <a:prstGeom xmlns:a="http://schemas.openxmlformats.org/drawingml/2006/main" prst="roundRect">
            <a:avLst>
              <a:gd name="adj" fmla="val 10526"/>
            </a:avLst>
          </a:prstGeom>
          <a:solidFill xmlns:a="http://schemas.openxmlformats.org/drawingml/2006/main">
            <a:srgbClr val="EFF6FF"/>
          </a:solidFill>
          <a:ln xmlns:a="http://schemas.openxmlformats.org/drawingml/2006/main" w="9525">
            <a:solidFill>
              <a:srgbClr val="DDE3EA"/>
            </a:solidFill>
          </a:ln>
        </p:spPr>
      </p:sp>
      <p:sp>
        <p:nvSpPr>
          <p:cNvPr id="20" name="text-180">
            <a:extLst xmlns:a="http://schemas.openxmlformats.org/drawingml/2006/main">
              <a:ext uri="{FF2B5EF4-FFF2-40B4-BE49-F238E27FC236}">
                <a16:creationId xmlns:a16="http://schemas.microsoft.com/office/drawing/2014/main" id="{DEA4A51A-813D-4176-BD47-D499578F2775}"/>
              </a:ext>
            </a:extLst>
          </p:cNvPr>
          <p:cNvSpPr>
            <a:spLocks xmlns:a="http://schemas.openxmlformats.org/drawingml/2006/main" noGrp="1"/>
          </p:cNvSpPr>
          <p:nvPr/>
        </p:nvSpPr>
        <p:spPr>
          <a:xfrm xmlns:a="http://schemas.openxmlformats.org/drawingml/2006/main">
            <a:off x="6134100" y="3028950"/>
            <a:ext cx="528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563EB"/>
                </a:solidFill>
                <a:latin typeface="Arial"/>
                <a:ea typeface="Arial"/>
                <a:cs typeface="Arial"/>
              </a:defRPr>
            </a:pPr>
            <a:r>
              <a:rPr sz="1013" b="1">
                <a:solidFill>
                  <a:srgbClr val="2563EB"/>
                </a:solidFill>
                <a:latin typeface="Arial"/>
                <a:ea typeface="Arial"/>
                <a:cs typeface="Arial"/>
              </a:rPr>
              <a:t>DECISIONS COMPLETED</a:t>
            </a:r>
          </a:p>
        </p:txBody>
      </p:sp>
      <p:sp>
        <p:nvSpPr>
          <p:cNvPr id="21" name="text-181">
            <a:extLst xmlns:a="http://schemas.openxmlformats.org/drawingml/2006/main">
              <a:ext uri="{FF2B5EF4-FFF2-40B4-BE49-F238E27FC236}">
                <a16:creationId xmlns:a16="http://schemas.microsoft.com/office/drawing/2014/main" id="{D07A8848-1A34-4BC5-B55E-8A96D4749295}"/>
              </a:ext>
            </a:extLst>
          </p:cNvPr>
          <p:cNvSpPr>
            <a:spLocks xmlns:a="http://schemas.openxmlformats.org/drawingml/2006/main" noGrp="1"/>
          </p:cNvSpPr>
          <p:nvPr/>
        </p:nvSpPr>
        <p:spPr>
          <a:xfrm xmlns:a="http://schemas.openxmlformats.org/drawingml/2006/main">
            <a:off x="6134100" y="32575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≥80% of 401 cases: at least 321 documented decisions.</a:t>
            </a:r>
          </a:p>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Record an owner, rationale and approved next step.</a:t>
            </a:r>
          </a:p>
        </p:txBody>
      </p:sp>
      <p:sp>
        <p:nvSpPr>
          <p:cNvPr id="22" name="surface-182">
            <a:extLst xmlns:a="http://schemas.openxmlformats.org/drawingml/2006/main">
              <a:ext uri="{FF2B5EF4-FFF2-40B4-BE49-F238E27FC236}">
                <a16:creationId xmlns:a16="http://schemas.microsoft.com/office/drawing/2014/main" id="{1F0B5ECC-3529-48F2-8F68-8570E258E15D}"/>
              </a:ext>
            </a:extLst>
          </p:cNvPr>
          <p:cNvSpPr>
            <a:spLocks xmlns:a="http://schemas.openxmlformats.org/drawingml/2006/main" noGrp="1"/>
          </p:cNvSpPr>
          <p:nvPr/>
        </p:nvSpPr>
        <p:spPr>
          <a:xfrm xmlns:a="http://schemas.openxmlformats.org/drawingml/2006/main">
            <a:off x="5981700" y="3781425"/>
            <a:ext cx="5591175" cy="723900"/>
          </a:xfrm>
          <a:prstGeom xmlns:a="http://schemas.openxmlformats.org/drawingml/2006/main" prst="roundRect">
            <a:avLst>
              <a:gd name="adj" fmla="val 10526"/>
            </a:avLst>
          </a:prstGeom>
          <a:solidFill xmlns:a="http://schemas.openxmlformats.org/drawingml/2006/main">
            <a:srgbClr val="EFF9F3"/>
          </a:solidFill>
          <a:ln xmlns:a="http://schemas.openxmlformats.org/drawingml/2006/main" w="9525">
            <a:solidFill>
              <a:srgbClr val="DDE3EA"/>
            </a:solidFill>
          </a:ln>
        </p:spPr>
      </p:sp>
      <p:sp>
        <p:nvSpPr>
          <p:cNvPr id="23" name="text-183">
            <a:extLst xmlns:a="http://schemas.openxmlformats.org/drawingml/2006/main">
              <a:ext uri="{FF2B5EF4-FFF2-40B4-BE49-F238E27FC236}">
                <a16:creationId xmlns:a16="http://schemas.microsoft.com/office/drawing/2014/main" id="{0398A6AA-2957-4016-9F76-1AF88CA03B7A}"/>
              </a:ext>
            </a:extLst>
          </p:cNvPr>
          <p:cNvSpPr>
            <a:spLocks xmlns:a="http://schemas.openxmlformats.org/drawingml/2006/main" noGrp="1"/>
          </p:cNvSpPr>
          <p:nvPr/>
        </p:nvSpPr>
        <p:spPr>
          <a:xfrm xmlns:a="http://schemas.openxmlformats.org/drawingml/2006/main">
            <a:off x="6134100" y="3867150"/>
            <a:ext cx="528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3B9669"/>
                </a:solidFill>
                <a:latin typeface="Arial"/>
                <a:ea typeface="Arial"/>
                <a:cs typeface="Arial"/>
              </a:defRPr>
            </a:pPr>
            <a:r>
              <a:rPr sz="1013" b="1">
                <a:solidFill>
                  <a:srgbClr val="3B9669"/>
                </a:solidFill>
                <a:latin typeface="Arial"/>
                <a:ea typeface="Arial"/>
                <a:cs typeface="Arial"/>
              </a:rPr>
              <a:t>ECONOMIC MOVEMENT</a:t>
            </a:r>
          </a:p>
        </p:txBody>
      </p:sp>
      <p:sp>
        <p:nvSpPr>
          <p:cNvPr id="24" name="text-184">
            <a:extLst xmlns:a="http://schemas.openxmlformats.org/drawingml/2006/main">
              <a:ext uri="{FF2B5EF4-FFF2-40B4-BE49-F238E27FC236}">
                <a16:creationId xmlns:a16="http://schemas.microsoft.com/office/drawing/2014/main" id="{3A9C3A1C-B0E0-41DA-B355-9805D9384DD1}"/>
              </a:ext>
            </a:extLst>
          </p:cNvPr>
          <p:cNvSpPr>
            <a:spLocks xmlns:a="http://schemas.openxmlformats.org/drawingml/2006/main" noGrp="1"/>
          </p:cNvSpPr>
          <p:nvPr/>
        </p:nvSpPr>
        <p:spPr>
          <a:xfrm xmlns:a="http://schemas.openxmlformats.org/drawingml/2006/main">
            <a:off x="6134100" y="40957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Lower realised loss with profit stable or higher.</a:t>
            </a:r>
          </a:p>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Compare equivalent periods and disclose volume / mix changes.</a:t>
            </a:r>
          </a:p>
        </p:txBody>
      </p:sp>
      <p:sp>
        <p:nvSpPr>
          <p:cNvPr id="25" name="surface-185">
            <a:extLst xmlns:a="http://schemas.openxmlformats.org/drawingml/2006/main">
              <a:ext uri="{FF2B5EF4-FFF2-40B4-BE49-F238E27FC236}">
                <a16:creationId xmlns:a16="http://schemas.microsoft.com/office/drawing/2014/main" id="{1EB6678D-1F05-4BA4-B8DD-51DC7B8CB12E}"/>
              </a:ext>
            </a:extLst>
          </p:cNvPr>
          <p:cNvSpPr>
            <a:spLocks xmlns:a="http://schemas.openxmlformats.org/drawingml/2006/main" noGrp="1"/>
          </p:cNvSpPr>
          <p:nvPr/>
        </p:nvSpPr>
        <p:spPr>
          <a:xfrm xmlns:a="http://schemas.openxmlformats.org/drawingml/2006/main">
            <a:off x="5981700" y="4619625"/>
            <a:ext cx="5591175" cy="723900"/>
          </a:xfrm>
          <a:prstGeom xmlns:a="http://schemas.openxmlformats.org/drawingml/2006/main" prst="roundRect">
            <a:avLst>
              <a:gd name="adj" fmla="val 10526"/>
            </a:avLst>
          </a:prstGeom>
          <a:solidFill xmlns:a="http://schemas.openxmlformats.org/drawingml/2006/main">
            <a:srgbClr val="FFF8E8"/>
          </a:solidFill>
          <a:ln xmlns:a="http://schemas.openxmlformats.org/drawingml/2006/main" w="9525">
            <a:solidFill>
              <a:srgbClr val="DDE3EA"/>
            </a:solidFill>
          </a:ln>
        </p:spPr>
      </p:sp>
      <p:sp>
        <p:nvSpPr>
          <p:cNvPr id="26" name="text-186">
            <a:extLst xmlns:a="http://schemas.openxmlformats.org/drawingml/2006/main">
              <a:ext uri="{FF2B5EF4-FFF2-40B4-BE49-F238E27FC236}">
                <a16:creationId xmlns:a16="http://schemas.microsoft.com/office/drawing/2014/main" id="{6AD99664-12A6-49FE-BEA2-DEDD1C20100F}"/>
              </a:ext>
            </a:extLst>
          </p:cNvPr>
          <p:cNvSpPr>
            <a:spLocks xmlns:a="http://schemas.openxmlformats.org/drawingml/2006/main" noGrp="1"/>
          </p:cNvSpPr>
          <p:nvPr/>
        </p:nvSpPr>
        <p:spPr>
          <a:xfrm xmlns:a="http://schemas.openxmlformats.org/drawingml/2006/main">
            <a:off x="6134100" y="4705350"/>
            <a:ext cx="528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A65D00"/>
                </a:solidFill>
                <a:latin typeface="Arial"/>
                <a:ea typeface="Arial"/>
                <a:cs typeface="Arial"/>
              </a:defRPr>
            </a:pPr>
            <a:r>
              <a:rPr sz="1013" b="1">
                <a:solidFill>
                  <a:srgbClr val="A65D00"/>
                </a:solidFill>
                <a:latin typeface="Arial"/>
                <a:ea typeface="Arial"/>
                <a:cs typeface="Arial"/>
              </a:rPr>
              <a:t>BROKEN VALUE RESOLUTION</a:t>
            </a:r>
          </a:p>
        </p:txBody>
      </p:sp>
      <p:sp>
        <p:nvSpPr>
          <p:cNvPr id="27" name="text-187">
            <a:extLst xmlns:a="http://schemas.openxmlformats.org/drawingml/2006/main">
              <a:ext uri="{FF2B5EF4-FFF2-40B4-BE49-F238E27FC236}">
                <a16:creationId xmlns:a16="http://schemas.microsoft.com/office/drawing/2014/main" id="{8989BDFC-46F3-46FF-BDE1-8EFE2BF93C09}"/>
              </a:ext>
            </a:extLst>
          </p:cNvPr>
          <p:cNvSpPr>
            <a:spLocks xmlns:a="http://schemas.openxmlformats.org/drawingml/2006/main" noGrp="1"/>
          </p:cNvSpPr>
          <p:nvPr/>
        </p:nvSpPr>
        <p:spPr>
          <a:xfrm xmlns:a="http://schemas.openxmlformats.org/drawingml/2006/main">
            <a:off x="6134100" y="49339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≥30% of 158 cases: at least 48 resolved or exited.</a:t>
            </a:r>
          </a:p>
          <a:p xmlns:a="http://schemas.openxmlformats.org/drawingml/2006/main">
            <a:pPr algn="l">
              <a:defRPr sz="1200" b="0">
                <a:solidFill>
                  <a:srgbClr val="111827"/>
                </a:solidFill>
                <a:latin typeface="Arial"/>
                <a:ea typeface="Arial"/>
                <a:cs typeface="Arial"/>
              </a:defRPr>
            </a:pPr>
            <a:r>
              <a:rPr sz="1200" b="0">
                <a:solidFill>
                  <a:srgbClr val="111827"/>
                </a:solidFill>
                <a:latin typeface="Arial"/>
                <a:ea typeface="Arial"/>
                <a:cs typeface="Arial"/>
              </a:rPr>
              <a:t>Count evidence of resolution, not a label change alone.</a:t>
            </a:r>
          </a:p>
        </p:txBody>
      </p:sp>
      <p:sp>
        <p:nvSpPr>
          <p:cNvPr id="28" name="text-188">
            <a:extLst xmlns:a="http://schemas.openxmlformats.org/drawingml/2006/main">
              <a:ext uri="{FF2B5EF4-FFF2-40B4-BE49-F238E27FC236}">
                <a16:creationId xmlns:a16="http://schemas.microsoft.com/office/drawing/2014/main" id="{B8A72735-7603-4632-85F6-3A70E589857E}"/>
              </a:ext>
            </a:extLst>
          </p:cNvPr>
          <p:cNvSpPr>
            <a:spLocks xmlns:a="http://schemas.openxmlformats.org/drawingml/2006/main" noGrp="1"/>
          </p:cNvSpPr>
          <p:nvPr/>
        </p:nvSpPr>
        <p:spPr>
          <a:xfrm xmlns:a="http://schemas.openxmlformats.org/drawingml/2006/main">
            <a:off x="619125" y="550545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1">
                <a:solidFill>
                  <a:srgbClr val="0B4A6F"/>
                </a:solidFill>
                <a:latin typeface="Arial"/>
                <a:ea typeface="Arial"/>
                <a:cs typeface="Arial"/>
              </a:defRPr>
            </a:pPr>
            <a:r>
              <a:rPr sz="1163" b="1">
                <a:solidFill>
                  <a:srgbClr val="0B4A6F"/>
                </a:solidFill>
                <a:latin typeface="Arial"/>
                <a:ea typeface="Arial"/>
                <a:cs typeface="Arial"/>
              </a:rPr>
              <a:t>Audit trail: KPIs, role, signals, escalation and intervention. Add owner, approved decision and review date.</a:t>
            </a:r>
          </a:p>
        </p:txBody>
      </p:sp>
      <p:sp>
        <p:nvSpPr>
          <p:cNvPr id="29" name="text-189">
            <a:extLst xmlns:a="http://schemas.openxmlformats.org/drawingml/2006/main">
              <a:ext uri="{FF2B5EF4-FFF2-40B4-BE49-F238E27FC236}">
                <a16:creationId xmlns:a16="http://schemas.microsoft.com/office/drawing/2014/main" id="{0A371728-DD27-4501-B241-9746CD24DCEA}"/>
              </a:ext>
            </a:extLst>
          </p:cNvPr>
          <p:cNvSpPr>
            <a:spLocks xmlns:a="http://schemas.openxmlformats.org/drawingml/2006/main" noGrp="1"/>
          </p:cNvSpPr>
          <p:nvPr/>
        </p:nvSpPr>
        <p:spPr>
          <a:xfrm xmlns:a="http://schemas.openxmlformats.org/drawingml/2006/main">
            <a:off x="619125" y="575310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4B5563"/>
                </a:solidFill>
                <a:latin typeface="Arial"/>
                <a:ea typeface="Arial"/>
                <a:cs typeface="Arial"/>
              </a:defRPr>
            </a:pPr>
            <a:r>
              <a:rPr sz="1088" b="0">
                <a:solidFill>
                  <a:srgbClr val="4B5563"/>
                </a:solidFill>
                <a:latin typeface="Arial"/>
                <a:ea typeface="Arial"/>
                <a:cs typeface="Arial"/>
              </a:rPr>
              <a:t>Week 4 reviews decisions and available economic evidence. Financial effects may need a longer observation window.</a:t>
            </a:r>
          </a:p>
        </p:txBody>
      </p:sp>
      <p:sp>
        <p:nvSpPr>
          <p:cNvPr id="30" name="surface-190">
            <a:extLst xmlns:a="http://schemas.openxmlformats.org/drawingml/2006/main">
              <a:ext uri="{FF2B5EF4-FFF2-40B4-BE49-F238E27FC236}">
                <a16:creationId xmlns:a16="http://schemas.microsoft.com/office/drawing/2014/main" id="{9836853B-DA0A-42F4-837C-FBFAF37BFFB0}"/>
              </a:ext>
            </a:extLst>
          </p:cNvPr>
          <p:cNvSpPr>
            <a:spLocks xmlns:a="http://schemas.openxmlformats.org/drawingml/2006/main" noGrp="1"/>
          </p:cNvSpPr>
          <p:nvPr/>
        </p:nvSpPr>
        <p:spPr>
          <a:xfrm xmlns:a="http://schemas.openxmlformats.org/drawingml/2006/main">
            <a:off x="609600" y="6019800"/>
            <a:ext cx="10963275" cy="304800"/>
          </a:xfrm>
          <a:prstGeom xmlns:a="http://schemas.openxmlformats.org/drawingml/2006/main" prst="roundRect">
            <a:avLst>
              <a:gd name="adj" fmla="val 18750"/>
            </a:avLst>
          </a:prstGeom>
          <a:solidFill xmlns:a="http://schemas.openxmlformats.org/drawingml/2006/main">
            <a:srgbClr val="172B45"/>
          </a:solidFill>
          <a:ln xmlns:a="http://schemas.openxmlformats.org/drawingml/2006/main" w="9525">
            <a:solidFill>
              <a:srgbClr val="172B45"/>
            </a:solidFill>
          </a:ln>
        </p:spPr>
      </p:sp>
      <p:sp>
        <p:nvSpPr>
          <p:cNvPr id="31" name="text-191">
            <a:extLst xmlns:a="http://schemas.openxmlformats.org/drawingml/2006/main">
              <a:ext uri="{FF2B5EF4-FFF2-40B4-BE49-F238E27FC236}">
                <a16:creationId xmlns:a16="http://schemas.microsoft.com/office/drawing/2014/main" id="{A60E7EA2-5F1B-47D8-93DF-DAC933D582D6}"/>
              </a:ext>
            </a:extLst>
          </p:cNvPr>
          <p:cNvSpPr>
            <a:spLocks xmlns:a="http://schemas.openxmlformats.org/drawingml/2006/main" noGrp="1"/>
          </p:cNvSpPr>
          <p:nvPr/>
        </p:nvSpPr>
        <p:spPr>
          <a:xfrm xmlns:a="http://schemas.openxmlformats.org/drawingml/2006/main">
            <a:off x="742950" y="6076950"/>
            <a:ext cx="10696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Approve the 401-case pilot. Protect the 150-product value engine. Report back at week 4.</a:t>
            </a:r>
          </a:p>
        </p:txBody>
      </p:sp>
    </p:spTree>
    <p:extLst>
      <p:ext uri="{BB962C8B-B14F-4D97-AF65-F5344CB8AC3E}">
        <p14:creationId xmlns:p14="http://schemas.microsoft.com/office/powerpoint/2010/main" val="67584948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2026-09-19T10:13:20.9370000Z</dcterms:created>
  <dcterms:modified xsi:type="dcterms:W3CDTF">2026-09-19T10:13:20.9370000Z</dcterms:modified>
</coreProperties>
</file>